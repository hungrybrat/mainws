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 id="2147483900" r:id="rId2"/>
    <p:sldMasterId id="2147483923" r:id="rId3"/>
    <p:sldMasterId id="2147483962" r:id="rId4"/>
    <p:sldMasterId id="2147483976" r:id="rId5"/>
  </p:sldMasterIdLst>
  <p:notesMasterIdLst>
    <p:notesMasterId r:id="rId45"/>
  </p:notesMasterIdLst>
  <p:sldIdLst>
    <p:sldId id="689" r:id="rId6"/>
    <p:sldId id="690" r:id="rId7"/>
    <p:sldId id="393" r:id="rId8"/>
    <p:sldId id="655" r:id="rId9"/>
    <p:sldId id="642" r:id="rId10"/>
    <p:sldId id="656" r:id="rId11"/>
    <p:sldId id="654" r:id="rId12"/>
    <p:sldId id="653" r:id="rId13"/>
    <p:sldId id="652" r:id="rId14"/>
    <p:sldId id="651" r:id="rId15"/>
    <p:sldId id="650" r:id="rId16"/>
    <p:sldId id="648" r:id="rId17"/>
    <p:sldId id="646" r:id="rId18"/>
    <p:sldId id="645" r:id="rId19"/>
    <p:sldId id="644" r:id="rId20"/>
    <p:sldId id="659" r:id="rId21"/>
    <p:sldId id="643" r:id="rId22"/>
    <p:sldId id="660" r:id="rId23"/>
    <p:sldId id="658" r:id="rId24"/>
    <p:sldId id="657" r:id="rId25"/>
    <p:sldId id="661" r:id="rId26"/>
    <p:sldId id="662" r:id="rId27"/>
    <p:sldId id="663" r:id="rId28"/>
    <p:sldId id="664" r:id="rId29"/>
    <p:sldId id="668" r:id="rId30"/>
    <p:sldId id="667" r:id="rId31"/>
    <p:sldId id="666" r:id="rId32"/>
    <p:sldId id="665" r:id="rId33"/>
    <p:sldId id="669" r:id="rId34"/>
    <p:sldId id="672" r:id="rId35"/>
    <p:sldId id="673" r:id="rId36"/>
    <p:sldId id="671" r:id="rId37"/>
    <p:sldId id="670" r:id="rId38"/>
    <p:sldId id="675" r:id="rId39"/>
    <p:sldId id="676" r:id="rId40"/>
    <p:sldId id="680" r:id="rId41"/>
    <p:sldId id="674" r:id="rId42"/>
    <p:sldId id="679" r:id="rId43"/>
    <p:sldId id="678" r:id="rId44"/>
  </p:sldIdLst>
  <p:sldSz cx="9144000" cy="6858000" type="screen4x3"/>
  <p:notesSz cx="6858000" cy="9144000"/>
  <p:custDataLst>
    <p:tags r:id="rId46"/>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7DBB"/>
    <a:srgbClr val="153357"/>
    <a:srgbClr val="F47024"/>
    <a:srgbClr val="FF6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50" autoAdjust="0"/>
    <p:restoredTop sz="76471" autoAdjust="0"/>
  </p:normalViewPr>
  <p:slideViewPr>
    <p:cSldViewPr>
      <p:cViewPr varScale="1">
        <p:scale>
          <a:sx n="50" d="100"/>
          <a:sy n="50" d="100"/>
        </p:scale>
        <p:origin x="810" y="54"/>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D5E809C-9095-4892-AEFB-C32EEF913A8B}" type="datetimeFigureOut">
              <a:rPr lang="en-US"/>
              <a:pPr>
                <a:defRPr/>
              </a:pPr>
              <a:t>4/9/2025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A21DD36-6CB4-4725-9091-4B23A9F47920}" type="slidenum">
              <a:rPr lang="en-US"/>
              <a:pPr>
                <a:defRPr/>
              </a:pPr>
              <a:t>‹#›</a:t>
            </a:fld>
            <a:endParaRPr lang="en-US" dirty="0"/>
          </a:p>
        </p:txBody>
      </p:sp>
    </p:spTree>
    <p:extLst>
      <p:ext uri="{BB962C8B-B14F-4D97-AF65-F5344CB8AC3E}">
        <p14:creationId xmlns:p14="http://schemas.microsoft.com/office/powerpoint/2010/main" val="31935639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mn-lt"/>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mn-lt"/>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mn-lt"/>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a:lstStyle/>
          <a:p>
            <a:pPr eaLnBrk="1" hangingPunct="1"/>
            <a:r>
              <a:rPr lang="en-US" dirty="0" smtClean="0">
                <a:cs typeface="Arial" charset="0"/>
              </a:rPr>
              <a:t>Let’s begin by clarifying who leaders are and what leadership is. Our definition of a </a:t>
            </a:r>
            <a:r>
              <a:rPr lang="en-US" b="1" dirty="0" smtClean="0">
                <a:cs typeface="Arial" charset="0"/>
              </a:rPr>
              <a:t>leader </a:t>
            </a:r>
            <a:r>
              <a:rPr lang="en-US" dirty="0" smtClean="0">
                <a:cs typeface="Arial" charset="0"/>
              </a:rPr>
              <a:t>is someone who can influence others and who has managerial authority. </a:t>
            </a:r>
            <a:r>
              <a:rPr lang="en-US" b="1" dirty="0" smtClean="0">
                <a:cs typeface="Arial" charset="0"/>
              </a:rPr>
              <a:t>Leadership </a:t>
            </a:r>
            <a:r>
              <a:rPr lang="en-US" dirty="0" smtClean="0">
                <a:cs typeface="Arial" charset="0"/>
              </a:rPr>
              <a:t>is a process of leading a group and influencing that group to achieve its goals. It’s what leaders do.</a:t>
            </a:r>
            <a:r>
              <a:rPr lang="en-US" baseline="0" dirty="0" smtClean="0">
                <a:cs typeface="Arial" charset="0"/>
              </a:rPr>
              <a:t>  </a:t>
            </a:r>
            <a:r>
              <a:rPr lang="en-US" dirty="0" smtClean="0">
                <a:cs typeface="Arial" charset="0"/>
              </a:rPr>
              <a:t>Are all managers leaders? Because leading is one of the four management functions, yes, ideally, all managers </a:t>
            </a:r>
            <a:r>
              <a:rPr lang="en-US" i="1" dirty="0" smtClean="0">
                <a:cs typeface="Arial" charset="0"/>
              </a:rPr>
              <a:t>should </a:t>
            </a:r>
            <a:r>
              <a:rPr lang="en-US" dirty="0" smtClean="0">
                <a:cs typeface="Arial" charset="0"/>
              </a:rPr>
              <a:t>be leaders. Thus, we’re going to study leaders and leadership from a managerial perspective.</a:t>
            </a:r>
          </a:p>
        </p:txBody>
      </p:sp>
      <p:sp>
        <p:nvSpPr>
          <p:cNvPr id="4" name="Slide Number Placeholder 3"/>
          <p:cNvSpPr>
            <a:spLocks noGrp="1"/>
          </p:cNvSpPr>
          <p:nvPr>
            <p:ph type="sldNum" sz="quarter" idx="5"/>
          </p:nvPr>
        </p:nvSpPr>
        <p:spPr/>
        <p:txBody>
          <a:bodyPr/>
          <a:lstStyle/>
          <a:p>
            <a:pPr>
              <a:defRPr/>
            </a:pPr>
            <a:fld id="{1DC9B71B-F172-4C94-A596-2530955FBD3A}" type="slidenum">
              <a:rPr lang="en-US" smtClean="0"/>
              <a:pPr>
                <a:defRPr/>
              </a:pPr>
              <a:t>3</a:t>
            </a:fld>
            <a:endParaRPr lang="en-US" dirty="0"/>
          </a:p>
        </p:txBody>
      </p:sp>
    </p:spTree>
    <p:extLst>
      <p:ext uri="{BB962C8B-B14F-4D97-AF65-F5344CB8AC3E}">
        <p14:creationId xmlns:p14="http://schemas.microsoft.com/office/powerpoint/2010/main" val="663280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a:lstStyle/>
          <a:p>
            <a:pPr eaLnBrk="1" hangingPunct="1"/>
            <a:r>
              <a:rPr lang="en-US" dirty="0" smtClean="0">
                <a:cs typeface="Arial" charset="0"/>
              </a:rPr>
              <a:t>Leadership research in the 1920s and 1930s focused on isolating leader traits—that is, characteristics—that would differentiate leaders from </a:t>
            </a:r>
            <a:r>
              <a:rPr lang="en-US" dirty="0" err="1" smtClean="0">
                <a:cs typeface="Arial" charset="0"/>
              </a:rPr>
              <a:t>nonleaders</a:t>
            </a:r>
            <a:r>
              <a:rPr lang="en-US" dirty="0" smtClean="0">
                <a:cs typeface="Arial" charset="0"/>
              </a:rPr>
              <a:t>. Some of the traits studied included physical stature, appearance, social class, emotional stability, fluency of speech, and sociability. Despite the best efforts of researchers, it proved impossible to identify a set of traits that would </a:t>
            </a:r>
            <a:r>
              <a:rPr lang="en-US" i="1" dirty="0" smtClean="0">
                <a:cs typeface="Arial" charset="0"/>
              </a:rPr>
              <a:t>always </a:t>
            </a:r>
            <a:r>
              <a:rPr lang="en-US" dirty="0" smtClean="0">
                <a:cs typeface="Arial" charset="0"/>
              </a:rPr>
              <a:t>differentiate a leader (the person)</a:t>
            </a:r>
            <a:r>
              <a:rPr lang="en-US" baseline="0" dirty="0" smtClean="0">
                <a:cs typeface="Arial" charset="0"/>
              </a:rPr>
              <a:t> </a:t>
            </a:r>
            <a:r>
              <a:rPr lang="en-US" dirty="0" smtClean="0">
                <a:cs typeface="Arial" charset="0"/>
              </a:rPr>
              <a:t>from a </a:t>
            </a:r>
            <a:r>
              <a:rPr lang="en-US" dirty="0" err="1" smtClean="0">
                <a:cs typeface="Arial" charset="0"/>
              </a:rPr>
              <a:t>nonleader</a:t>
            </a:r>
            <a:r>
              <a:rPr lang="en-US" dirty="0" smtClean="0">
                <a:cs typeface="Arial" charset="0"/>
              </a:rPr>
              <a:t>.</a:t>
            </a:r>
          </a:p>
        </p:txBody>
      </p:sp>
      <p:sp>
        <p:nvSpPr>
          <p:cNvPr id="4" name="Slide Number Placeholder 3"/>
          <p:cNvSpPr>
            <a:spLocks noGrp="1"/>
          </p:cNvSpPr>
          <p:nvPr>
            <p:ph type="sldNum" sz="quarter" idx="5"/>
          </p:nvPr>
        </p:nvSpPr>
        <p:spPr/>
        <p:txBody>
          <a:bodyPr/>
          <a:lstStyle/>
          <a:p>
            <a:pPr>
              <a:defRPr/>
            </a:pPr>
            <a:fld id="{E98D9129-DCB2-42E2-B42E-BDFAC6A87E94}" type="slidenum">
              <a:rPr lang="en-US" smtClean="0"/>
              <a:pPr>
                <a:defRPr/>
              </a:pPr>
              <a:t>4</a:t>
            </a:fld>
            <a:endParaRPr lang="en-US" dirty="0"/>
          </a:p>
        </p:txBody>
      </p:sp>
    </p:spTree>
    <p:extLst>
      <p:ext uri="{BB962C8B-B14F-4D97-AF65-F5344CB8AC3E}">
        <p14:creationId xmlns:p14="http://schemas.microsoft.com/office/powerpoint/2010/main" val="111640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a:lstStyle/>
          <a:p>
            <a:pPr eaLnBrk="1" hangingPunct="1"/>
            <a:r>
              <a:rPr lang="en-US" dirty="0" smtClean="0">
                <a:cs typeface="Arial" charset="0"/>
              </a:rPr>
              <a:t>The eight traits shown to be associated with effective leadership are described briefly in Exhibit 17-1.</a:t>
            </a:r>
          </a:p>
        </p:txBody>
      </p:sp>
      <p:sp>
        <p:nvSpPr>
          <p:cNvPr id="4" name="Slide Number Placeholder 3"/>
          <p:cNvSpPr>
            <a:spLocks noGrp="1"/>
          </p:cNvSpPr>
          <p:nvPr>
            <p:ph type="sldNum" sz="quarter" idx="5"/>
          </p:nvPr>
        </p:nvSpPr>
        <p:spPr/>
        <p:txBody>
          <a:bodyPr/>
          <a:lstStyle/>
          <a:p>
            <a:pPr>
              <a:defRPr/>
            </a:pPr>
            <a:fld id="{50E5B89E-E2ED-4C57-B0A6-64C721FBCCCA}" type="slidenum">
              <a:rPr lang="en-US" smtClean="0"/>
              <a:pPr>
                <a:defRPr/>
              </a:pPr>
              <a:t>5</a:t>
            </a:fld>
            <a:endParaRPr lang="en-US" dirty="0"/>
          </a:p>
        </p:txBody>
      </p:sp>
    </p:spTree>
    <p:extLst>
      <p:ext uri="{BB962C8B-B14F-4D97-AF65-F5344CB8AC3E}">
        <p14:creationId xmlns:p14="http://schemas.microsoft.com/office/powerpoint/2010/main" val="252560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a:lstStyle/>
          <a:p>
            <a:pPr eaLnBrk="1" hangingPunct="1"/>
            <a:r>
              <a:rPr lang="en-US" smtClean="0">
                <a:cs typeface="Arial" charset="0"/>
              </a:rPr>
              <a:t>Researchers hoped that the </a:t>
            </a:r>
            <a:r>
              <a:rPr lang="en-US" b="1" smtClean="0">
                <a:cs typeface="Arial" charset="0"/>
              </a:rPr>
              <a:t>behavioral theories </a:t>
            </a:r>
            <a:r>
              <a:rPr lang="en-US" smtClean="0">
                <a:cs typeface="Arial" charset="0"/>
              </a:rPr>
              <a:t>approach would provide more definitive answers about the nature of leadership than did the trait theories.</a:t>
            </a:r>
          </a:p>
          <a:p>
            <a:pPr eaLnBrk="1" hangingPunct="1"/>
            <a:endParaRPr lang="en-US" smtClean="0">
              <a:cs typeface="Arial" charset="0"/>
            </a:endParaRPr>
          </a:p>
          <a:p>
            <a:pPr eaLnBrk="1" hangingPunct="1"/>
            <a:r>
              <a:rPr lang="en-US" smtClean="0">
                <a:cs typeface="Arial" charset="0"/>
              </a:rPr>
              <a:t>The University of Iowa studies explored three leadership styles to find which was the most effective.  </a:t>
            </a:r>
          </a:p>
          <a:p>
            <a:pPr eaLnBrk="1" hangingPunct="1"/>
            <a:endParaRPr lang="en-US" smtClean="0">
              <a:cs typeface="Arial" charset="0"/>
            </a:endParaRPr>
          </a:p>
        </p:txBody>
      </p:sp>
      <p:sp>
        <p:nvSpPr>
          <p:cNvPr id="4" name="Slide Number Placeholder 3"/>
          <p:cNvSpPr>
            <a:spLocks noGrp="1"/>
          </p:cNvSpPr>
          <p:nvPr>
            <p:ph type="sldNum" sz="quarter" idx="5"/>
          </p:nvPr>
        </p:nvSpPr>
        <p:spPr/>
        <p:txBody>
          <a:bodyPr/>
          <a:lstStyle/>
          <a:p>
            <a:pPr>
              <a:defRPr/>
            </a:pPr>
            <a:fld id="{010087E5-BEED-4CA5-8851-411F1EB29EE8}" type="slidenum">
              <a:rPr lang="en-US" smtClean="0"/>
              <a:pPr>
                <a:defRPr/>
              </a:pPr>
              <a:t>6</a:t>
            </a:fld>
            <a:endParaRPr lang="en-US" dirty="0"/>
          </a:p>
        </p:txBody>
      </p:sp>
    </p:spTree>
    <p:extLst>
      <p:ext uri="{BB962C8B-B14F-4D97-AF65-F5344CB8AC3E}">
        <p14:creationId xmlns:p14="http://schemas.microsoft.com/office/powerpoint/2010/main" val="882225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a:lstStyle/>
          <a:p>
            <a:pPr eaLnBrk="1" hangingPunct="1"/>
            <a:r>
              <a:rPr lang="en-US" dirty="0" smtClean="0">
                <a:cs typeface="Arial" charset="0"/>
              </a:rPr>
              <a:t>The </a:t>
            </a:r>
            <a:r>
              <a:rPr lang="en-US" b="1" dirty="0" smtClean="0">
                <a:cs typeface="Arial" charset="0"/>
              </a:rPr>
              <a:t>autocratic style </a:t>
            </a:r>
            <a:r>
              <a:rPr lang="en-US" dirty="0" smtClean="0">
                <a:cs typeface="Arial" charset="0"/>
              </a:rPr>
              <a:t>described a leader who dictated work methods, made unilateral decisions, and limited employee participation. The </a:t>
            </a:r>
            <a:r>
              <a:rPr lang="en-US" b="1" dirty="0" smtClean="0">
                <a:cs typeface="Arial" charset="0"/>
              </a:rPr>
              <a:t>democratic style </a:t>
            </a:r>
            <a:r>
              <a:rPr lang="en-US" dirty="0" smtClean="0">
                <a:cs typeface="Arial" charset="0"/>
              </a:rPr>
              <a:t>described a leader who involved employees in decision-making, delegated authority, and used feedback as an opportunity for coaching employees. Finally, the </a:t>
            </a:r>
            <a:r>
              <a:rPr lang="en-US" b="1" dirty="0" smtClean="0">
                <a:cs typeface="Arial" charset="0"/>
              </a:rPr>
              <a:t>laissez-faire style </a:t>
            </a:r>
            <a:r>
              <a:rPr lang="en-US" dirty="0" smtClean="0">
                <a:cs typeface="Arial" charset="0"/>
              </a:rPr>
              <a:t>leader let the group make decisions and complete the work in whatever way it saw fit. The researchers’ results seemed to indicate that the democratic style contributed to both good quantity and quality of work.</a:t>
            </a:r>
          </a:p>
          <a:p>
            <a:pPr eaLnBrk="1" hangingPunct="1"/>
            <a:endParaRPr lang="en-US" dirty="0" smtClean="0">
              <a:cs typeface="Arial" charset="0"/>
            </a:endParaRPr>
          </a:p>
        </p:txBody>
      </p:sp>
      <p:sp>
        <p:nvSpPr>
          <p:cNvPr id="4" name="Slide Number Placeholder 3"/>
          <p:cNvSpPr>
            <a:spLocks noGrp="1"/>
          </p:cNvSpPr>
          <p:nvPr>
            <p:ph type="sldNum" sz="quarter" idx="5"/>
          </p:nvPr>
        </p:nvSpPr>
        <p:spPr/>
        <p:txBody>
          <a:bodyPr/>
          <a:lstStyle/>
          <a:p>
            <a:pPr>
              <a:defRPr/>
            </a:pPr>
            <a:fld id="{2AB17F30-8AAA-4F95-B7DF-50166A7806AD}" type="slidenum">
              <a:rPr lang="en-US" smtClean="0"/>
              <a:pPr>
                <a:defRPr/>
              </a:pPr>
              <a:t>7</a:t>
            </a:fld>
            <a:endParaRPr lang="en-US" dirty="0"/>
          </a:p>
        </p:txBody>
      </p:sp>
    </p:spTree>
    <p:extLst>
      <p:ext uri="{BB962C8B-B14F-4D97-AF65-F5344CB8AC3E}">
        <p14:creationId xmlns:p14="http://schemas.microsoft.com/office/powerpoint/2010/main" val="3951394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a:lstStyle/>
          <a:p>
            <a:pPr eaLnBrk="1" hangingPunct="1"/>
            <a:r>
              <a:rPr lang="en-US" dirty="0" smtClean="0">
                <a:cs typeface="Arial" charset="0"/>
              </a:rPr>
              <a:t>The Ohio State studies identified two important dimensions of leader behavior. The first was called </a:t>
            </a:r>
            <a:r>
              <a:rPr lang="en-US" b="1" dirty="0" smtClean="0">
                <a:cs typeface="Arial" charset="0"/>
              </a:rPr>
              <a:t>initiating structure</a:t>
            </a:r>
            <a:r>
              <a:rPr lang="en-US" dirty="0" smtClean="0">
                <a:cs typeface="Arial" charset="0"/>
              </a:rPr>
              <a:t>, which referred to the extent to which a leader defined his or her role and the roles of group members in attaining goals. It included behaviors</a:t>
            </a:r>
            <a:r>
              <a:rPr lang="en-US" baseline="0" dirty="0" smtClean="0">
                <a:cs typeface="Arial" charset="0"/>
              </a:rPr>
              <a:t> </a:t>
            </a:r>
            <a:r>
              <a:rPr lang="en-US" dirty="0" smtClean="0">
                <a:cs typeface="Arial" charset="0"/>
              </a:rPr>
              <a:t>that involved attempts to organize work, work relationships, and goals. The second was called </a:t>
            </a:r>
            <a:r>
              <a:rPr lang="en-US" b="1" dirty="0" smtClean="0">
                <a:cs typeface="Arial" charset="0"/>
              </a:rPr>
              <a:t>consideration</a:t>
            </a:r>
            <a:r>
              <a:rPr lang="en-US" dirty="0" smtClean="0">
                <a:cs typeface="Arial" charset="0"/>
              </a:rPr>
              <a:t>, which was defined as the extent to which a leader had work relationships characterized by mutual trust and respect for group members’ ideas and feelings. A leader who was high in consideration helped group members with personal problems, was friendly and approachable, and treated all</a:t>
            </a:r>
            <a:r>
              <a:rPr lang="en-US" baseline="0" dirty="0" smtClean="0">
                <a:cs typeface="Arial" charset="0"/>
              </a:rPr>
              <a:t> </a:t>
            </a:r>
            <a:r>
              <a:rPr lang="en-US" dirty="0" smtClean="0">
                <a:cs typeface="Arial" charset="0"/>
              </a:rPr>
              <a:t>group members as equals. He or she showed concern for (was considerate of) his or her followers’ comfort, well-being, status, and satisfaction. </a:t>
            </a:r>
          </a:p>
        </p:txBody>
      </p:sp>
      <p:sp>
        <p:nvSpPr>
          <p:cNvPr id="4" name="Slide Number Placeholder 3"/>
          <p:cNvSpPr>
            <a:spLocks noGrp="1"/>
          </p:cNvSpPr>
          <p:nvPr>
            <p:ph type="sldNum" sz="quarter" idx="5"/>
          </p:nvPr>
        </p:nvSpPr>
        <p:spPr/>
        <p:txBody>
          <a:bodyPr/>
          <a:lstStyle/>
          <a:p>
            <a:pPr>
              <a:defRPr/>
            </a:pPr>
            <a:fld id="{C9E1D840-CA81-4FF5-AE2D-568435978D96}" type="slidenum">
              <a:rPr lang="en-US" smtClean="0"/>
              <a:pPr>
                <a:defRPr/>
              </a:pPr>
              <a:t>8</a:t>
            </a:fld>
            <a:endParaRPr lang="en-US" dirty="0"/>
          </a:p>
        </p:txBody>
      </p:sp>
    </p:spTree>
    <p:extLst>
      <p:ext uri="{BB962C8B-B14F-4D97-AF65-F5344CB8AC3E}">
        <p14:creationId xmlns:p14="http://schemas.microsoft.com/office/powerpoint/2010/main" val="2498875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a:lstStyle/>
          <a:p>
            <a:pPr eaLnBrk="1" hangingPunct="1"/>
            <a:r>
              <a:rPr lang="en-US" smtClean="0">
                <a:cs typeface="Arial" charset="0"/>
              </a:rPr>
              <a:t>Research found that a leader who was high in both initiating structure and consideration (a </a:t>
            </a:r>
            <a:r>
              <a:rPr lang="en-US" b="1" smtClean="0">
                <a:cs typeface="Arial" charset="0"/>
              </a:rPr>
              <a:t>high–high leader</a:t>
            </a:r>
            <a:r>
              <a:rPr lang="en-US" smtClean="0">
                <a:cs typeface="Arial" charset="0"/>
              </a:rPr>
              <a:t>) sometimes achieved high group task performance and high group member satisfaction, but not always.</a:t>
            </a:r>
          </a:p>
          <a:p>
            <a:pPr eaLnBrk="1" hangingPunct="1"/>
            <a:endParaRPr lang="en-US" smtClean="0">
              <a:cs typeface="Arial" charset="0"/>
            </a:endParaRPr>
          </a:p>
        </p:txBody>
      </p:sp>
      <p:sp>
        <p:nvSpPr>
          <p:cNvPr id="4" name="Slide Number Placeholder 3"/>
          <p:cNvSpPr>
            <a:spLocks noGrp="1"/>
          </p:cNvSpPr>
          <p:nvPr>
            <p:ph type="sldNum" sz="quarter" idx="5"/>
          </p:nvPr>
        </p:nvSpPr>
        <p:spPr/>
        <p:txBody>
          <a:bodyPr/>
          <a:lstStyle/>
          <a:p>
            <a:pPr>
              <a:defRPr/>
            </a:pPr>
            <a:fld id="{30E54603-A2BC-4876-9963-13927A6F0BB4}" type="slidenum">
              <a:rPr lang="en-US" smtClean="0"/>
              <a:pPr>
                <a:defRPr/>
              </a:pPr>
              <a:t>9</a:t>
            </a:fld>
            <a:endParaRPr lang="en-US" dirty="0"/>
          </a:p>
        </p:txBody>
      </p:sp>
    </p:spTree>
    <p:extLst>
      <p:ext uri="{BB962C8B-B14F-4D97-AF65-F5344CB8AC3E}">
        <p14:creationId xmlns:p14="http://schemas.microsoft.com/office/powerpoint/2010/main" val="2970130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a:lstStyle/>
          <a:p>
            <a:pPr eaLnBrk="1" hangingPunct="1"/>
            <a:r>
              <a:rPr lang="en-US" dirty="0" smtClean="0">
                <a:cs typeface="Arial" charset="0"/>
              </a:rPr>
              <a:t>Leadership studies conducted at the University of Michigan at about the same time as those done at Ohio State also hoped to identify behavioral characteristics of leaders that were related to performance effectiveness. The Michigan group also came up with two dimensions of leadership behavior, which they labeled employee oriented and production oriented.  </a:t>
            </a:r>
          </a:p>
          <a:p>
            <a:pPr eaLnBrk="1" hangingPunct="1"/>
            <a:endParaRPr lang="en-US" dirty="0" smtClean="0">
              <a:cs typeface="Arial" charset="0"/>
            </a:endParaRPr>
          </a:p>
          <a:p>
            <a:pPr eaLnBrk="1" hangingPunct="1"/>
            <a:r>
              <a:rPr lang="en-US" dirty="0" smtClean="0">
                <a:cs typeface="Arial" charset="0"/>
              </a:rPr>
              <a:t>Leaders who were </a:t>
            </a:r>
            <a:r>
              <a:rPr lang="en-US" i="1" dirty="0" smtClean="0">
                <a:cs typeface="Arial" charset="0"/>
              </a:rPr>
              <a:t>employee oriented </a:t>
            </a:r>
            <a:r>
              <a:rPr lang="en-US" dirty="0" smtClean="0">
                <a:cs typeface="Arial" charset="0"/>
              </a:rPr>
              <a:t>were described as emphasizing interpersonal relationships. The </a:t>
            </a:r>
            <a:r>
              <a:rPr lang="en-US" i="1" dirty="0" smtClean="0">
                <a:cs typeface="Arial" charset="0"/>
              </a:rPr>
              <a:t>production-oriented </a:t>
            </a:r>
            <a:r>
              <a:rPr lang="en-US" dirty="0" smtClean="0">
                <a:cs typeface="Arial" charset="0"/>
              </a:rPr>
              <a:t>leaders, in contrast, tended to emphasize the task aspects of the job. Unlike the other studies, the Michigan researchers concluded that leaders who were employee oriented were able to get high group productivity and high group member satisfaction.</a:t>
            </a:r>
          </a:p>
        </p:txBody>
      </p:sp>
      <p:sp>
        <p:nvSpPr>
          <p:cNvPr id="4" name="Slide Number Placeholder 3"/>
          <p:cNvSpPr>
            <a:spLocks noGrp="1"/>
          </p:cNvSpPr>
          <p:nvPr>
            <p:ph type="sldNum" sz="quarter" idx="5"/>
          </p:nvPr>
        </p:nvSpPr>
        <p:spPr/>
        <p:txBody>
          <a:bodyPr/>
          <a:lstStyle/>
          <a:p>
            <a:pPr>
              <a:defRPr/>
            </a:pPr>
            <a:fld id="{092E6BF2-6B7B-47F1-AAB4-64FF1FFF238C}" type="slidenum">
              <a:rPr lang="en-US" smtClean="0"/>
              <a:pPr>
                <a:defRPr/>
              </a:pPr>
              <a:t>10</a:t>
            </a:fld>
            <a:endParaRPr lang="en-US" dirty="0"/>
          </a:p>
        </p:txBody>
      </p:sp>
    </p:spTree>
    <p:extLst>
      <p:ext uri="{BB962C8B-B14F-4D97-AF65-F5344CB8AC3E}">
        <p14:creationId xmlns:p14="http://schemas.microsoft.com/office/powerpoint/2010/main" val="761758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a:lstStyle/>
          <a:p>
            <a:pPr eaLnBrk="1" hangingPunct="1"/>
            <a:r>
              <a:rPr lang="en-US" dirty="0" smtClean="0">
                <a:cs typeface="Arial" charset="0"/>
              </a:rPr>
              <a:t>The behavioral dimensions from these early leadership studies provided the basis for the development of a two-dimensional grid for appraising</a:t>
            </a:r>
            <a:r>
              <a:rPr lang="en-US" baseline="0" dirty="0" smtClean="0">
                <a:cs typeface="Arial" charset="0"/>
              </a:rPr>
              <a:t> </a:t>
            </a:r>
            <a:r>
              <a:rPr lang="en-US" dirty="0" smtClean="0">
                <a:cs typeface="Arial" charset="0"/>
              </a:rPr>
              <a:t>leadership styles. This </a:t>
            </a:r>
            <a:r>
              <a:rPr lang="en-US" b="1" dirty="0" smtClean="0">
                <a:cs typeface="Arial" charset="0"/>
              </a:rPr>
              <a:t>managerial grid </a:t>
            </a:r>
            <a:r>
              <a:rPr lang="en-US" dirty="0" smtClean="0">
                <a:cs typeface="Arial" charset="0"/>
              </a:rPr>
              <a:t>used the behavioral dimensions “concern for people” (the vertical part of the grid) and “concern for production” (the horizontal part of the grid) and evaluated a leader’s use of these behaviors, ranking them on a scale from 1 (low) to 9 (high).</a:t>
            </a:r>
          </a:p>
          <a:p>
            <a:pPr eaLnBrk="1" hangingPunct="1"/>
            <a:endParaRPr lang="en-US" dirty="0" smtClean="0">
              <a:cs typeface="Arial" charset="0"/>
            </a:endParaRPr>
          </a:p>
          <a:p>
            <a:pPr eaLnBrk="1" hangingPunct="1"/>
            <a:r>
              <a:rPr lang="en-US" dirty="0" smtClean="0">
                <a:cs typeface="Arial" charset="0"/>
              </a:rPr>
              <a:t>Although the grid had 81 potential categories into which a leader’s behavioral style might fall, only five styles were named: impoverished management (1,1 or low concern for production, low concern for people), task management (9,1 or high concern for production, low concern for people), middle-of-the-road management (5,5 or medium concern for production, medium concern for people), country club management (1,9 or low concern for production, high concern for people), and team management (9,9 or high concern for production, high concern</a:t>
            </a:r>
          </a:p>
          <a:p>
            <a:pPr eaLnBrk="1" hangingPunct="1"/>
            <a:r>
              <a:rPr lang="en-US" dirty="0" smtClean="0">
                <a:cs typeface="Arial" charset="0"/>
              </a:rPr>
              <a:t>for people). Of these five styles, the researchers concluded that managers performed best when using a 9,9 style.</a:t>
            </a:r>
          </a:p>
        </p:txBody>
      </p:sp>
      <p:sp>
        <p:nvSpPr>
          <p:cNvPr id="4" name="Slide Number Placeholder 3"/>
          <p:cNvSpPr>
            <a:spLocks noGrp="1"/>
          </p:cNvSpPr>
          <p:nvPr>
            <p:ph type="sldNum" sz="quarter" idx="5"/>
          </p:nvPr>
        </p:nvSpPr>
        <p:spPr/>
        <p:txBody>
          <a:bodyPr/>
          <a:lstStyle/>
          <a:p>
            <a:pPr>
              <a:defRPr/>
            </a:pPr>
            <a:fld id="{48BA8225-C7C0-4672-82B8-357F8F0A1BF5}" type="slidenum">
              <a:rPr lang="en-US" smtClean="0"/>
              <a:pPr>
                <a:defRPr/>
              </a:pPr>
              <a:t>11</a:t>
            </a:fld>
            <a:endParaRPr lang="en-US" dirty="0"/>
          </a:p>
        </p:txBody>
      </p:sp>
    </p:spTree>
    <p:extLst>
      <p:ext uri="{BB962C8B-B14F-4D97-AF65-F5344CB8AC3E}">
        <p14:creationId xmlns:p14="http://schemas.microsoft.com/office/powerpoint/2010/main" val="448537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p:cNvSpPr>
          <p:nvPr>
            <p:ph type="sldImg"/>
          </p:nvPr>
        </p:nvSpPr>
        <p:spPr bwMode="auto">
          <a:noFill/>
          <a:ln>
            <a:solidFill>
              <a:srgbClr val="000000"/>
            </a:solidFill>
            <a:miter lim="800000"/>
            <a:headEnd/>
            <a:tailEnd/>
          </a:ln>
        </p:spPr>
      </p:sp>
      <p:sp>
        <p:nvSpPr>
          <p:cNvPr id="55298" name="Notes Placeholder 2"/>
          <p:cNvSpPr>
            <a:spLocks noGrp="1"/>
          </p:cNvSpPr>
          <p:nvPr>
            <p:ph type="body" idx="1"/>
          </p:nvPr>
        </p:nvSpPr>
        <p:spPr bwMode="auto">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cs typeface="Arial" charset="0"/>
              </a:rPr>
              <a:t>The four main leader behavior studies are summarized in Exhibit 17-2.</a:t>
            </a:r>
          </a:p>
          <a:p>
            <a:pPr eaLnBrk="1" hangingPunct="1"/>
            <a:endParaRPr lang="en-US" dirty="0" smtClean="0">
              <a:cs typeface="Arial" charset="0"/>
            </a:endParaRPr>
          </a:p>
        </p:txBody>
      </p:sp>
      <p:sp>
        <p:nvSpPr>
          <p:cNvPr id="4" name="Slide Number Placeholder 3"/>
          <p:cNvSpPr>
            <a:spLocks noGrp="1"/>
          </p:cNvSpPr>
          <p:nvPr>
            <p:ph type="sldNum" sz="quarter" idx="5"/>
          </p:nvPr>
        </p:nvSpPr>
        <p:spPr/>
        <p:txBody>
          <a:bodyPr/>
          <a:lstStyle/>
          <a:p>
            <a:pPr>
              <a:defRPr/>
            </a:pPr>
            <a:fld id="{4AAB9FF1-8207-4445-9678-B879E34F77B5}" type="slidenum">
              <a:rPr lang="en-US" smtClean="0"/>
              <a:pPr>
                <a:defRPr/>
              </a:pPr>
              <a:t>12</a:t>
            </a:fld>
            <a:endParaRPr lang="en-US" dirty="0"/>
          </a:p>
        </p:txBody>
      </p:sp>
    </p:spTree>
    <p:extLst>
      <p:ext uri="{BB962C8B-B14F-4D97-AF65-F5344CB8AC3E}">
        <p14:creationId xmlns:p14="http://schemas.microsoft.com/office/powerpoint/2010/main" val="751713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a:lstStyle/>
          <a:p>
            <a:pPr eaLnBrk="1" hangingPunct="1"/>
            <a:r>
              <a:rPr lang="en-US" dirty="0" smtClean="0">
                <a:cs typeface="Arial" charset="0"/>
              </a:rPr>
              <a:t>The first comprehensive contingency model for leadership was developed by Fred Fiedler. The </a:t>
            </a:r>
            <a:r>
              <a:rPr lang="en-US" b="1" dirty="0" smtClean="0">
                <a:cs typeface="Arial" charset="0"/>
              </a:rPr>
              <a:t>Fiedler contingency model </a:t>
            </a:r>
            <a:r>
              <a:rPr lang="en-US" dirty="0" smtClean="0">
                <a:cs typeface="Arial" charset="0"/>
              </a:rPr>
              <a:t>proposed that effective group performance depended on properly matching the leader’s style and the amount of control and influence in the situation. The model was based on the premise that a certain leadership style would be most effective in different types of situations. The keys</a:t>
            </a:r>
            <a:r>
              <a:rPr lang="en-US" baseline="0" dirty="0" smtClean="0">
                <a:cs typeface="Arial" charset="0"/>
              </a:rPr>
              <a:t> </a:t>
            </a:r>
            <a:r>
              <a:rPr lang="en-US" dirty="0" smtClean="0">
                <a:cs typeface="Arial" charset="0"/>
              </a:rPr>
              <a:t>were to (1) define those leadership styles and the different types of situations, and then (2) identify the appropriate combinations of style and situation.</a:t>
            </a:r>
          </a:p>
        </p:txBody>
      </p:sp>
      <p:sp>
        <p:nvSpPr>
          <p:cNvPr id="4" name="Slide Number Placeholder 3"/>
          <p:cNvSpPr>
            <a:spLocks noGrp="1"/>
          </p:cNvSpPr>
          <p:nvPr>
            <p:ph type="sldNum" sz="quarter" idx="5"/>
          </p:nvPr>
        </p:nvSpPr>
        <p:spPr/>
        <p:txBody>
          <a:bodyPr/>
          <a:lstStyle/>
          <a:p>
            <a:pPr>
              <a:defRPr/>
            </a:pPr>
            <a:fld id="{AD3E70F2-D6FB-4C58-AAA0-7D88388A067C}" type="slidenum">
              <a:rPr lang="en-US" smtClean="0"/>
              <a:pPr>
                <a:defRPr/>
              </a:pPr>
              <a:t>13</a:t>
            </a:fld>
            <a:endParaRPr lang="en-US" dirty="0"/>
          </a:p>
        </p:txBody>
      </p:sp>
    </p:spTree>
    <p:extLst>
      <p:ext uri="{BB962C8B-B14F-4D97-AF65-F5344CB8AC3E}">
        <p14:creationId xmlns:p14="http://schemas.microsoft.com/office/powerpoint/2010/main" val="1448374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p:cNvSpPr>
          <p:nvPr>
            <p:ph type="sldImg"/>
          </p:nvPr>
        </p:nvSpPr>
        <p:spPr bwMode="auto">
          <a:noFill/>
          <a:ln>
            <a:solidFill>
              <a:srgbClr val="000000"/>
            </a:solidFill>
            <a:miter lim="800000"/>
            <a:headEnd/>
            <a:tailEnd/>
          </a:ln>
        </p:spPr>
      </p:sp>
      <p:sp>
        <p:nvSpPr>
          <p:cNvPr id="61442" name="Notes Placeholder 2"/>
          <p:cNvSpPr>
            <a:spLocks noGrp="1"/>
          </p:cNvSpPr>
          <p:nvPr>
            <p:ph type="body" idx="1"/>
          </p:nvPr>
        </p:nvSpPr>
        <p:spPr bwMode="auto">
          <a:noFill/>
        </p:spPr>
        <p:txBody>
          <a:bodyPr/>
          <a:lstStyle/>
          <a:p>
            <a:pPr eaLnBrk="1" hangingPunct="1"/>
            <a:r>
              <a:rPr lang="en-US" dirty="0" smtClean="0">
                <a:cs typeface="Arial" charset="0"/>
              </a:rPr>
              <a:t>Fiedler proposed that a key factor in leadership success was an individual’s basic leadership style, either task oriented or relationship oriented. To measure a leader’s style, Fiedler developed the </a:t>
            </a:r>
            <a:r>
              <a:rPr lang="en-US" b="1" dirty="0" smtClean="0">
                <a:cs typeface="Arial" charset="0"/>
              </a:rPr>
              <a:t>least-preferred coworker (LPC) questionnaire</a:t>
            </a:r>
            <a:r>
              <a:rPr lang="en-US" dirty="0" smtClean="0">
                <a:cs typeface="Arial" charset="0"/>
              </a:rPr>
              <a:t>. This questionnaire contained 18 pairs of contrasting adjectives—for example, pleasant–unpleasant, cold–warm, boring–interesting, or friendly–unfriendly. Respondents were</a:t>
            </a:r>
            <a:r>
              <a:rPr lang="en-US" baseline="0" dirty="0" smtClean="0">
                <a:cs typeface="Arial" charset="0"/>
              </a:rPr>
              <a:t> </a:t>
            </a:r>
            <a:r>
              <a:rPr lang="en-US" dirty="0" smtClean="0">
                <a:cs typeface="Arial" charset="0"/>
              </a:rPr>
              <a:t>asked to think of all the coworkers they had ever had and to describe that one person they </a:t>
            </a:r>
            <a:r>
              <a:rPr lang="en-US" i="1" dirty="0" smtClean="0">
                <a:cs typeface="Arial" charset="0"/>
              </a:rPr>
              <a:t>least enjoyed </a:t>
            </a:r>
            <a:r>
              <a:rPr lang="en-US" dirty="0" smtClean="0">
                <a:cs typeface="Arial" charset="0"/>
              </a:rPr>
              <a:t>working with by rating him or her on a scale of 1 to 8 for each of the 18 sets of adjectives (the 8 always described the positive adjective out of the pair and the 1 always described the negative adjective out of the pair).</a:t>
            </a:r>
          </a:p>
        </p:txBody>
      </p:sp>
      <p:sp>
        <p:nvSpPr>
          <p:cNvPr id="4" name="Slide Number Placeholder 3"/>
          <p:cNvSpPr>
            <a:spLocks noGrp="1"/>
          </p:cNvSpPr>
          <p:nvPr>
            <p:ph type="sldNum" sz="quarter" idx="5"/>
          </p:nvPr>
        </p:nvSpPr>
        <p:spPr/>
        <p:txBody>
          <a:bodyPr/>
          <a:lstStyle/>
          <a:p>
            <a:pPr>
              <a:defRPr/>
            </a:pPr>
            <a:fld id="{2FB8EA35-4C17-48D7-A98A-9919A7A34F7A}" type="slidenum">
              <a:rPr lang="en-US" smtClean="0"/>
              <a:pPr>
                <a:defRPr/>
              </a:pPr>
              <a:t>14</a:t>
            </a:fld>
            <a:endParaRPr lang="en-US" dirty="0"/>
          </a:p>
        </p:txBody>
      </p:sp>
    </p:spTree>
    <p:extLst>
      <p:ext uri="{BB962C8B-B14F-4D97-AF65-F5344CB8AC3E}">
        <p14:creationId xmlns:p14="http://schemas.microsoft.com/office/powerpoint/2010/main" val="168479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a:lstStyle/>
          <a:p>
            <a:pPr eaLnBrk="1" hangingPunct="1"/>
            <a:r>
              <a:rPr lang="en-US" dirty="0" smtClean="0">
                <a:cs typeface="Arial" charset="0"/>
              </a:rPr>
              <a:t>After an individual’s leadership style had been assessed through the LPC, it was time to evaluate the situation in order to be able to match the leader with the situation. Fiedler’s research uncovered three contingency dimensions that defined the key situational factors in leader effectiveness.</a:t>
            </a:r>
          </a:p>
          <a:p>
            <a:pPr eaLnBrk="1" hangingPunct="1"/>
            <a:endParaRPr lang="en-US" dirty="0" smtClean="0">
              <a:cs typeface="Arial" charset="0"/>
            </a:endParaRPr>
          </a:p>
          <a:p>
            <a:pPr eaLnBrk="1" hangingPunct="1"/>
            <a:r>
              <a:rPr lang="en-US" dirty="0" smtClean="0">
                <a:cs typeface="Arial" charset="0"/>
              </a:rPr>
              <a:t>• </a:t>
            </a:r>
            <a:r>
              <a:rPr lang="en-US" b="1" dirty="0" smtClean="0">
                <a:cs typeface="Arial" charset="0"/>
              </a:rPr>
              <a:t>Leader-member relations</a:t>
            </a:r>
            <a:r>
              <a:rPr lang="en-US" b="0" baseline="0" dirty="0" smtClean="0">
                <a:cs typeface="Arial" charset="0"/>
              </a:rPr>
              <a:t> </a:t>
            </a:r>
            <a:r>
              <a:rPr lang="en-US" sz="1200" dirty="0" smtClean="0">
                <a:latin typeface="Arial"/>
                <a:cs typeface="Arial"/>
              </a:rPr>
              <a:t>–</a:t>
            </a:r>
            <a:r>
              <a:rPr lang="en-US" dirty="0" smtClean="0">
                <a:cs typeface="Arial" charset="0"/>
              </a:rPr>
              <a:t> the degree of confidence, trust, and respect employees had for their leader; rated as either good or poor.</a:t>
            </a:r>
          </a:p>
          <a:p>
            <a:pPr eaLnBrk="1" hangingPunct="1"/>
            <a:r>
              <a:rPr lang="en-US" dirty="0" smtClean="0">
                <a:cs typeface="Arial" charset="0"/>
              </a:rPr>
              <a:t>• </a:t>
            </a:r>
            <a:r>
              <a:rPr lang="en-US" b="1" dirty="0" smtClean="0">
                <a:cs typeface="Arial" charset="0"/>
              </a:rPr>
              <a:t>Task structure </a:t>
            </a:r>
            <a:r>
              <a:rPr lang="en-US" sz="1200" dirty="0" smtClean="0">
                <a:latin typeface="Arial"/>
                <a:cs typeface="Arial"/>
              </a:rPr>
              <a:t>–</a:t>
            </a:r>
            <a:r>
              <a:rPr lang="en-US" dirty="0" smtClean="0">
                <a:cs typeface="Arial" charset="0"/>
              </a:rPr>
              <a:t> the degree to which job assignments were formalized and structured; rated as either high or low.</a:t>
            </a:r>
          </a:p>
          <a:p>
            <a:pPr eaLnBrk="1" hangingPunct="1"/>
            <a:r>
              <a:rPr lang="en-US" dirty="0" smtClean="0">
                <a:cs typeface="Arial" charset="0"/>
              </a:rPr>
              <a:t>• </a:t>
            </a:r>
            <a:r>
              <a:rPr lang="en-US" b="1" dirty="0" smtClean="0">
                <a:cs typeface="Arial" charset="0"/>
              </a:rPr>
              <a:t>Position power</a:t>
            </a:r>
            <a:r>
              <a:rPr lang="en-US" b="0" baseline="0" dirty="0" smtClean="0">
                <a:cs typeface="Arial" charset="0"/>
              </a:rPr>
              <a:t> </a:t>
            </a:r>
            <a:r>
              <a:rPr lang="en-US" sz="1200" dirty="0" smtClean="0">
                <a:latin typeface="Arial"/>
                <a:cs typeface="Arial"/>
              </a:rPr>
              <a:t>–</a:t>
            </a:r>
            <a:r>
              <a:rPr lang="en-US" dirty="0" smtClean="0">
                <a:cs typeface="Arial" charset="0"/>
              </a:rPr>
              <a:t> the degree of influence a leader had over activities such as hiring, firing, discipline, promotions, and salary increases; rated as either strong or weak.</a:t>
            </a:r>
          </a:p>
        </p:txBody>
      </p:sp>
      <p:sp>
        <p:nvSpPr>
          <p:cNvPr id="4" name="Slide Number Placeholder 3"/>
          <p:cNvSpPr>
            <a:spLocks noGrp="1"/>
          </p:cNvSpPr>
          <p:nvPr>
            <p:ph type="sldNum" sz="quarter" idx="5"/>
          </p:nvPr>
        </p:nvSpPr>
        <p:spPr/>
        <p:txBody>
          <a:bodyPr/>
          <a:lstStyle/>
          <a:p>
            <a:pPr>
              <a:defRPr/>
            </a:pPr>
            <a:fld id="{4622B271-4777-415C-9352-09C705AAA489}" type="slidenum">
              <a:rPr lang="en-US" smtClean="0"/>
              <a:pPr>
                <a:defRPr/>
              </a:pPr>
              <a:t>15</a:t>
            </a:fld>
            <a:endParaRPr lang="en-US" dirty="0"/>
          </a:p>
        </p:txBody>
      </p:sp>
    </p:spTree>
    <p:extLst>
      <p:ext uri="{BB962C8B-B14F-4D97-AF65-F5344CB8AC3E}">
        <p14:creationId xmlns:p14="http://schemas.microsoft.com/office/powerpoint/2010/main" val="3397313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eaLnBrk="1" hangingPunct="1"/>
            <a:r>
              <a:rPr lang="en-US" dirty="0" smtClean="0">
                <a:cs typeface="Arial" charset="0"/>
              </a:rPr>
              <a:t>Each leadership situation was evaluated in terms of these three contingency variables, which, when combined, produced eight possible situations that were either favorable or unfavorable for the leader. (See the bottom of the chart in Exhibit 17-3.) Situations I, II, and III were classified as highly favorable for the leader. Situations IV, V, and VI were moderately favorable for the leader. And situations VII and VIII were</a:t>
            </a:r>
            <a:r>
              <a:rPr lang="en-US" baseline="0" dirty="0" smtClean="0">
                <a:cs typeface="Arial" charset="0"/>
              </a:rPr>
              <a:t> </a:t>
            </a:r>
            <a:r>
              <a:rPr lang="en-US" dirty="0" smtClean="0">
                <a:cs typeface="Arial" charset="0"/>
              </a:rPr>
              <a:t>described as highly unfavorable for the leader.</a:t>
            </a:r>
          </a:p>
        </p:txBody>
      </p:sp>
      <p:sp>
        <p:nvSpPr>
          <p:cNvPr id="4" name="Slide Number Placeholder 3"/>
          <p:cNvSpPr>
            <a:spLocks noGrp="1"/>
          </p:cNvSpPr>
          <p:nvPr>
            <p:ph type="sldNum" sz="quarter" idx="5"/>
          </p:nvPr>
        </p:nvSpPr>
        <p:spPr/>
        <p:txBody>
          <a:bodyPr/>
          <a:lstStyle/>
          <a:p>
            <a:pPr>
              <a:defRPr/>
            </a:pPr>
            <a:fld id="{260375BD-C21C-44E6-A73C-FC49E4723A6D}" type="slidenum">
              <a:rPr lang="en-US" smtClean="0"/>
              <a:pPr>
                <a:defRPr/>
              </a:pPr>
              <a:t>16</a:t>
            </a:fld>
            <a:endParaRPr lang="en-US" dirty="0"/>
          </a:p>
        </p:txBody>
      </p:sp>
    </p:spTree>
    <p:extLst>
      <p:ext uri="{BB962C8B-B14F-4D97-AF65-F5344CB8AC3E}">
        <p14:creationId xmlns:p14="http://schemas.microsoft.com/office/powerpoint/2010/main" val="386682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p:cNvSpPr>
          <p:nvPr>
            <p:ph type="sldImg"/>
          </p:nvPr>
        </p:nvSpPr>
        <p:spPr bwMode="auto">
          <a:noFill/>
          <a:ln>
            <a:solidFill>
              <a:srgbClr val="000000"/>
            </a:solidFill>
            <a:miter lim="800000"/>
            <a:headEnd/>
            <a:tailEnd/>
          </a:ln>
        </p:spPr>
      </p:sp>
      <p:sp>
        <p:nvSpPr>
          <p:cNvPr id="67586" name="Notes Placeholder 2"/>
          <p:cNvSpPr>
            <a:spLocks noGrp="1"/>
          </p:cNvSpPr>
          <p:nvPr>
            <p:ph type="body" idx="1"/>
          </p:nvPr>
        </p:nvSpPr>
        <p:spPr bwMode="auto">
          <a:noFill/>
        </p:spPr>
        <p:txBody>
          <a:bodyPr/>
          <a:lstStyle/>
          <a:p>
            <a:pPr eaLnBrk="1" hangingPunct="1"/>
            <a:r>
              <a:rPr lang="en-US" smtClean="0">
                <a:cs typeface="Arial" charset="0"/>
              </a:rPr>
              <a:t>Paul Hersey and Ken Blanchard developed a leadership theory that has gained a strong following among management development specialists.  This model, called </a:t>
            </a:r>
            <a:r>
              <a:rPr lang="en-US" b="1" smtClean="0">
                <a:cs typeface="Arial" charset="0"/>
              </a:rPr>
              <a:t>situational leadership theory (SLT)</a:t>
            </a:r>
            <a:r>
              <a:rPr lang="en-US" smtClean="0">
                <a:cs typeface="Arial" charset="0"/>
              </a:rPr>
              <a:t>, is a contingency theory that focuses on followers’ readiness.</a:t>
            </a:r>
          </a:p>
          <a:p>
            <a:pPr eaLnBrk="1" hangingPunct="1"/>
            <a:endParaRPr lang="en-US" smtClean="0">
              <a:cs typeface="Arial" charset="0"/>
            </a:endParaRPr>
          </a:p>
          <a:p>
            <a:pPr eaLnBrk="1" hangingPunct="1"/>
            <a:r>
              <a:rPr lang="en-US" smtClean="0">
                <a:cs typeface="Arial" charset="0"/>
              </a:rPr>
              <a:t>Regardless of what the leader does, the group’s effectiveness depends on the actions of the followers. This important dimension</a:t>
            </a:r>
          </a:p>
          <a:p>
            <a:pPr eaLnBrk="1" hangingPunct="1"/>
            <a:r>
              <a:rPr lang="en-US" smtClean="0">
                <a:cs typeface="Arial" charset="0"/>
              </a:rPr>
              <a:t>has been overlooked or underemphasized in most leadership theories. And </a:t>
            </a:r>
            <a:r>
              <a:rPr lang="en-US" b="1" smtClean="0">
                <a:cs typeface="Arial" charset="0"/>
              </a:rPr>
              <a:t>readiness</a:t>
            </a:r>
            <a:r>
              <a:rPr lang="en-US" smtClean="0">
                <a:cs typeface="Arial" charset="0"/>
              </a:rPr>
              <a:t>, as defined by Hersey and Blanchard, refers to the extent to which people have the ability and willingness to accomplish a specific task.</a:t>
            </a:r>
          </a:p>
        </p:txBody>
      </p:sp>
      <p:sp>
        <p:nvSpPr>
          <p:cNvPr id="4" name="Slide Number Placeholder 3"/>
          <p:cNvSpPr>
            <a:spLocks noGrp="1"/>
          </p:cNvSpPr>
          <p:nvPr>
            <p:ph type="sldNum" sz="quarter" idx="5"/>
          </p:nvPr>
        </p:nvSpPr>
        <p:spPr/>
        <p:txBody>
          <a:bodyPr/>
          <a:lstStyle/>
          <a:p>
            <a:pPr>
              <a:defRPr/>
            </a:pPr>
            <a:fld id="{32A7F8DD-45BB-4F69-9AD0-FBA20CC3BD55}" type="slidenum">
              <a:rPr lang="en-US" smtClean="0"/>
              <a:pPr>
                <a:defRPr/>
              </a:pPr>
              <a:t>17</a:t>
            </a:fld>
            <a:endParaRPr lang="en-US" dirty="0"/>
          </a:p>
        </p:txBody>
      </p:sp>
    </p:spTree>
    <p:extLst>
      <p:ext uri="{BB962C8B-B14F-4D97-AF65-F5344CB8AC3E}">
        <p14:creationId xmlns:p14="http://schemas.microsoft.com/office/powerpoint/2010/main" val="2454241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p:cNvSpPr>
          <p:nvPr>
            <p:ph type="sldImg"/>
          </p:nvPr>
        </p:nvSpPr>
        <p:spPr bwMode="auto">
          <a:noFill/>
          <a:ln>
            <a:solidFill>
              <a:srgbClr val="000000"/>
            </a:solidFill>
            <a:miter lim="800000"/>
            <a:headEnd/>
            <a:tailEnd/>
          </a:ln>
        </p:spPr>
      </p:sp>
      <p:sp>
        <p:nvSpPr>
          <p:cNvPr id="69634" name="Notes Placeholder 2"/>
          <p:cNvSpPr>
            <a:spLocks noGrp="1"/>
          </p:cNvSpPr>
          <p:nvPr>
            <p:ph type="body" idx="1"/>
          </p:nvPr>
        </p:nvSpPr>
        <p:spPr bwMode="auto">
          <a:noFill/>
        </p:spPr>
        <p:txBody>
          <a:bodyPr/>
          <a:lstStyle/>
          <a:p>
            <a:pPr eaLnBrk="1" hangingPunct="1"/>
            <a:r>
              <a:rPr lang="en-US" dirty="0" smtClean="0">
                <a:cs typeface="Arial" charset="0"/>
              </a:rPr>
              <a:t>SLT uses the same two leadership dimensions that Fiedler identified: task and relationship behaviors. However, Hersey and Blanchard go a step further by considering each as either high or low and then combining them into four specific leadership styles described as follows:</a:t>
            </a:r>
          </a:p>
          <a:p>
            <a:pPr eaLnBrk="1" hangingPunct="1"/>
            <a:endParaRPr lang="en-US" dirty="0" smtClean="0">
              <a:cs typeface="Arial" charset="0"/>
            </a:endParaRPr>
          </a:p>
          <a:p>
            <a:pPr eaLnBrk="1" hangingPunct="1"/>
            <a:r>
              <a:rPr lang="en-US" dirty="0" smtClean="0">
                <a:cs typeface="Arial" charset="0"/>
              </a:rPr>
              <a:t>• </a:t>
            </a:r>
            <a:r>
              <a:rPr lang="en-US" i="1" dirty="0" smtClean="0">
                <a:cs typeface="Arial" charset="0"/>
              </a:rPr>
              <a:t>Telling </a:t>
            </a:r>
            <a:r>
              <a:rPr lang="en-US" dirty="0" smtClean="0">
                <a:cs typeface="Arial" charset="0"/>
              </a:rPr>
              <a:t>(high task–low relationship): The leader defines roles and tells people what, how, when, and where to do various tasks.</a:t>
            </a:r>
          </a:p>
          <a:p>
            <a:pPr eaLnBrk="1" hangingPunct="1"/>
            <a:r>
              <a:rPr lang="en-US" dirty="0" smtClean="0">
                <a:cs typeface="Arial" charset="0"/>
              </a:rPr>
              <a:t>• </a:t>
            </a:r>
            <a:r>
              <a:rPr lang="en-US" i="1" dirty="0" smtClean="0">
                <a:cs typeface="Arial" charset="0"/>
              </a:rPr>
              <a:t>Selling </a:t>
            </a:r>
            <a:r>
              <a:rPr lang="en-US" dirty="0" smtClean="0">
                <a:cs typeface="Arial" charset="0"/>
              </a:rPr>
              <a:t>(high task–high relationship): The leader provides both directive and supportive behavior.</a:t>
            </a:r>
          </a:p>
        </p:txBody>
      </p:sp>
      <p:sp>
        <p:nvSpPr>
          <p:cNvPr id="4" name="Slide Number Placeholder 3"/>
          <p:cNvSpPr>
            <a:spLocks noGrp="1"/>
          </p:cNvSpPr>
          <p:nvPr>
            <p:ph type="sldNum" sz="quarter" idx="5"/>
          </p:nvPr>
        </p:nvSpPr>
        <p:spPr/>
        <p:txBody>
          <a:bodyPr/>
          <a:lstStyle/>
          <a:p>
            <a:pPr>
              <a:defRPr/>
            </a:pPr>
            <a:fld id="{03E0047F-7EC7-4C13-AC68-BBC71D05ED9B}" type="slidenum">
              <a:rPr lang="en-US" smtClean="0"/>
              <a:pPr>
                <a:defRPr/>
              </a:pPr>
              <a:t>18</a:t>
            </a:fld>
            <a:endParaRPr lang="en-US" dirty="0"/>
          </a:p>
        </p:txBody>
      </p:sp>
    </p:spTree>
    <p:extLst>
      <p:ext uri="{BB962C8B-B14F-4D97-AF65-F5344CB8AC3E}">
        <p14:creationId xmlns:p14="http://schemas.microsoft.com/office/powerpoint/2010/main" val="3394001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a:lstStyle/>
          <a:p>
            <a:pPr eaLnBrk="1" hangingPunct="1"/>
            <a:r>
              <a:rPr lang="en-US" i="1" dirty="0" smtClean="0">
                <a:cs typeface="Arial" charset="0"/>
              </a:rPr>
              <a:t>Participating </a:t>
            </a:r>
            <a:r>
              <a:rPr lang="en-US" dirty="0" smtClean="0">
                <a:cs typeface="Arial" charset="0"/>
              </a:rPr>
              <a:t>(low task–high relationship): The leader and followers share in decision-making; the main role of the leader is facilitating and communicating.</a:t>
            </a:r>
          </a:p>
          <a:p>
            <a:pPr eaLnBrk="1" hangingPunct="1"/>
            <a:endParaRPr lang="en-US" dirty="0" smtClean="0">
              <a:cs typeface="Arial" charset="0"/>
            </a:endParaRPr>
          </a:p>
          <a:p>
            <a:pPr eaLnBrk="1" hangingPunct="1"/>
            <a:r>
              <a:rPr lang="en-US" i="1" dirty="0" smtClean="0">
                <a:cs typeface="Arial" charset="0"/>
              </a:rPr>
              <a:t>Delegating </a:t>
            </a:r>
            <a:r>
              <a:rPr lang="en-US" dirty="0" smtClean="0">
                <a:cs typeface="Arial" charset="0"/>
              </a:rPr>
              <a:t>(low task–low relationship): The leader provides little direction or support.</a:t>
            </a:r>
          </a:p>
        </p:txBody>
      </p:sp>
      <p:sp>
        <p:nvSpPr>
          <p:cNvPr id="4" name="Slide Number Placeholder 3"/>
          <p:cNvSpPr>
            <a:spLocks noGrp="1"/>
          </p:cNvSpPr>
          <p:nvPr>
            <p:ph type="sldNum" sz="quarter" idx="5"/>
          </p:nvPr>
        </p:nvSpPr>
        <p:spPr/>
        <p:txBody>
          <a:bodyPr/>
          <a:lstStyle/>
          <a:p>
            <a:pPr>
              <a:defRPr/>
            </a:pPr>
            <a:fld id="{0A6DFEFA-72B9-4602-8A16-97D8F00501A5}" type="slidenum">
              <a:rPr lang="en-US" smtClean="0"/>
              <a:pPr>
                <a:defRPr/>
              </a:pPr>
              <a:t>19</a:t>
            </a:fld>
            <a:endParaRPr lang="en-US" dirty="0"/>
          </a:p>
        </p:txBody>
      </p:sp>
    </p:spTree>
    <p:extLst>
      <p:ext uri="{BB962C8B-B14F-4D97-AF65-F5344CB8AC3E}">
        <p14:creationId xmlns:p14="http://schemas.microsoft.com/office/powerpoint/2010/main" val="3749866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a:lstStyle/>
          <a:p>
            <a:pPr eaLnBrk="1" hangingPunct="1"/>
            <a:r>
              <a:rPr lang="en-US" dirty="0" smtClean="0">
                <a:cs typeface="Arial" charset="0"/>
              </a:rPr>
              <a:t>The final component in the model is the four stages of follower readiness:</a:t>
            </a:r>
          </a:p>
          <a:p>
            <a:pPr eaLnBrk="1" hangingPunct="1"/>
            <a:endParaRPr lang="en-US" dirty="0" smtClean="0">
              <a:cs typeface="Arial" charset="0"/>
            </a:endParaRPr>
          </a:p>
          <a:p>
            <a:pPr eaLnBrk="1" hangingPunct="1"/>
            <a:r>
              <a:rPr lang="en-US" i="1" dirty="0" smtClean="0">
                <a:cs typeface="Arial" charset="0"/>
              </a:rPr>
              <a:t>R1: </a:t>
            </a:r>
            <a:r>
              <a:rPr lang="en-US" dirty="0" smtClean="0">
                <a:cs typeface="Arial" charset="0"/>
              </a:rPr>
              <a:t>People are both </a:t>
            </a:r>
            <a:r>
              <a:rPr lang="en-US" i="1" dirty="0" smtClean="0">
                <a:cs typeface="Arial" charset="0"/>
              </a:rPr>
              <a:t>unable and unwilling </a:t>
            </a:r>
            <a:r>
              <a:rPr lang="en-US" dirty="0" smtClean="0">
                <a:cs typeface="Arial" charset="0"/>
              </a:rPr>
              <a:t>to take responsibility for doing something. Followers aren’t competent or confident.</a:t>
            </a:r>
          </a:p>
          <a:p>
            <a:pPr eaLnBrk="1" hangingPunct="1"/>
            <a:endParaRPr lang="en-US" i="1" dirty="0" smtClean="0">
              <a:cs typeface="Arial" charset="0"/>
            </a:endParaRPr>
          </a:p>
          <a:p>
            <a:pPr eaLnBrk="1" hangingPunct="1"/>
            <a:r>
              <a:rPr lang="en-US" i="1" dirty="0" smtClean="0">
                <a:cs typeface="Arial" charset="0"/>
              </a:rPr>
              <a:t>R2</a:t>
            </a:r>
            <a:r>
              <a:rPr lang="en-US" dirty="0" smtClean="0">
                <a:cs typeface="Arial" charset="0"/>
              </a:rPr>
              <a:t>: People are </a:t>
            </a:r>
            <a:r>
              <a:rPr lang="en-US" i="1" dirty="0" smtClean="0">
                <a:cs typeface="Arial" charset="0"/>
              </a:rPr>
              <a:t>unable but willing </a:t>
            </a:r>
            <a:r>
              <a:rPr lang="en-US" dirty="0" smtClean="0">
                <a:cs typeface="Arial" charset="0"/>
              </a:rPr>
              <a:t>to do the necessary job tasks. Followers are motivated but lack the appropriate skills.</a:t>
            </a:r>
          </a:p>
        </p:txBody>
      </p:sp>
      <p:sp>
        <p:nvSpPr>
          <p:cNvPr id="4" name="Slide Number Placeholder 3"/>
          <p:cNvSpPr>
            <a:spLocks noGrp="1"/>
          </p:cNvSpPr>
          <p:nvPr>
            <p:ph type="sldNum" sz="quarter" idx="5"/>
          </p:nvPr>
        </p:nvSpPr>
        <p:spPr/>
        <p:txBody>
          <a:bodyPr/>
          <a:lstStyle/>
          <a:p>
            <a:pPr>
              <a:defRPr/>
            </a:pPr>
            <a:fld id="{C2F7F3D7-A798-4080-95D2-DB9EA9FD9F9D}" type="slidenum">
              <a:rPr lang="en-US" smtClean="0"/>
              <a:pPr>
                <a:defRPr/>
              </a:pPr>
              <a:t>20</a:t>
            </a:fld>
            <a:endParaRPr lang="en-US" dirty="0"/>
          </a:p>
        </p:txBody>
      </p:sp>
    </p:spTree>
    <p:extLst>
      <p:ext uri="{BB962C8B-B14F-4D97-AF65-F5344CB8AC3E}">
        <p14:creationId xmlns:p14="http://schemas.microsoft.com/office/powerpoint/2010/main" val="1178920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a:lstStyle/>
          <a:p>
            <a:pPr eaLnBrk="1" hangingPunct="1"/>
            <a:r>
              <a:rPr lang="en-US" i="1" dirty="0" smtClean="0">
                <a:cs typeface="Arial" charset="0"/>
              </a:rPr>
              <a:t>R3: </a:t>
            </a:r>
            <a:r>
              <a:rPr lang="en-US" dirty="0" smtClean="0">
                <a:cs typeface="Arial" charset="0"/>
              </a:rPr>
              <a:t>People are </a:t>
            </a:r>
            <a:r>
              <a:rPr lang="en-US" i="1" dirty="0" smtClean="0">
                <a:cs typeface="Arial" charset="0"/>
              </a:rPr>
              <a:t>able but unwilling </a:t>
            </a:r>
            <a:r>
              <a:rPr lang="en-US" dirty="0" smtClean="0">
                <a:cs typeface="Arial" charset="0"/>
              </a:rPr>
              <a:t>to do what the leader wants. Followers are competent, but don’t want to do something.</a:t>
            </a:r>
          </a:p>
          <a:p>
            <a:pPr eaLnBrk="1" hangingPunct="1"/>
            <a:endParaRPr lang="en-US" i="1" dirty="0" smtClean="0">
              <a:cs typeface="Arial" charset="0"/>
            </a:endParaRPr>
          </a:p>
          <a:p>
            <a:pPr eaLnBrk="1" hangingPunct="1"/>
            <a:r>
              <a:rPr lang="en-US" i="1" dirty="0" smtClean="0">
                <a:cs typeface="Arial" charset="0"/>
              </a:rPr>
              <a:t>R4</a:t>
            </a:r>
            <a:r>
              <a:rPr lang="en-US" dirty="0" smtClean="0">
                <a:cs typeface="Arial" charset="0"/>
              </a:rPr>
              <a:t>: People are both </a:t>
            </a:r>
            <a:r>
              <a:rPr lang="en-US" i="1" dirty="0" smtClean="0">
                <a:cs typeface="Arial" charset="0"/>
              </a:rPr>
              <a:t>able and willing </a:t>
            </a:r>
            <a:r>
              <a:rPr lang="en-US" dirty="0" smtClean="0">
                <a:cs typeface="Arial" charset="0"/>
              </a:rPr>
              <a:t>to do what is asked of them.</a:t>
            </a:r>
          </a:p>
        </p:txBody>
      </p:sp>
      <p:sp>
        <p:nvSpPr>
          <p:cNvPr id="4" name="Slide Number Placeholder 3"/>
          <p:cNvSpPr>
            <a:spLocks noGrp="1"/>
          </p:cNvSpPr>
          <p:nvPr>
            <p:ph type="sldNum" sz="quarter" idx="5"/>
          </p:nvPr>
        </p:nvSpPr>
        <p:spPr/>
        <p:txBody>
          <a:bodyPr/>
          <a:lstStyle/>
          <a:p>
            <a:pPr>
              <a:defRPr/>
            </a:pPr>
            <a:fld id="{74485349-671C-438D-AEDE-01CF68A4A639}" type="slidenum">
              <a:rPr lang="en-US" smtClean="0"/>
              <a:pPr>
                <a:defRPr/>
              </a:pPr>
              <a:t>21</a:t>
            </a:fld>
            <a:endParaRPr lang="en-US" dirty="0"/>
          </a:p>
        </p:txBody>
      </p:sp>
    </p:spTree>
    <p:extLst>
      <p:ext uri="{BB962C8B-B14F-4D97-AF65-F5344CB8AC3E}">
        <p14:creationId xmlns:p14="http://schemas.microsoft.com/office/powerpoint/2010/main" val="1830879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p:cNvSpPr>
          <p:nvPr>
            <p:ph type="sldImg"/>
          </p:nvPr>
        </p:nvSpPr>
        <p:spPr bwMode="auto">
          <a:noFill/>
          <a:ln>
            <a:solidFill>
              <a:srgbClr val="000000"/>
            </a:solidFill>
            <a:miter lim="800000"/>
            <a:headEnd/>
            <a:tailEnd/>
          </a:ln>
        </p:spPr>
      </p:sp>
      <p:sp>
        <p:nvSpPr>
          <p:cNvPr id="77826" name="Notes Placeholder 2"/>
          <p:cNvSpPr>
            <a:spLocks noGrp="1"/>
          </p:cNvSpPr>
          <p:nvPr>
            <p:ph type="body" idx="1"/>
          </p:nvPr>
        </p:nvSpPr>
        <p:spPr bwMode="auto">
          <a:noFill/>
        </p:spPr>
        <p:txBody>
          <a:bodyPr/>
          <a:lstStyle/>
          <a:p>
            <a:pPr eaLnBrk="1" hangingPunct="1"/>
            <a:r>
              <a:rPr lang="en-US" dirty="0" smtClean="0">
                <a:cs typeface="Arial" charset="0"/>
              </a:rPr>
              <a:t>Another approach to understanding leadership is </a:t>
            </a:r>
            <a:r>
              <a:rPr lang="en-US" b="1" dirty="0" smtClean="0">
                <a:cs typeface="Arial" charset="0"/>
              </a:rPr>
              <a:t>path-goal theory</a:t>
            </a:r>
            <a:r>
              <a:rPr lang="en-US" dirty="0" smtClean="0">
                <a:cs typeface="Arial" charset="0"/>
              </a:rPr>
              <a:t>, which states that the leader’s job is to assist followers in attaining their goals and to provide direction or support needed to ensure that their goals are compatible with the goals of the group or organization. Developed by Robert House, path-goal theory takes key elements from the expectancy theory of motivation.  The term </a:t>
            </a:r>
            <a:r>
              <a:rPr lang="en-US" i="1" dirty="0" smtClean="0">
                <a:cs typeface="Arial" charset="0"/>
              </a:rPr>
              <a:t>path-goal </a:t>
            </a:r>
            <a:r>
              <a:rPr lang="en-US" dirty="0" smtClean="0">
                <a:cs typeface="Arial" charset="0"/>
              </a:rPr>
              <a:t>is derived</a:t>
            </a:r>
            <a:r>
              <a:rPr lang="en-US" baseline="0" dirty="0" smtClean="0">
                <a:cs typeface="Arial" charset="0"/>
              </a:rPr>
              <a:t> </a:t>
            </a:r>
            <a:r>
              <a:rPr lang="en-US" dirty="0" smtClean="0">
                <a:cs typeface="Arial" charset="0"/>
              </a:rPr>
              <a:t>from the belief that effective leaders remove the roadblocks and pitfalls so that followers have a clearer path to help them get from where they are to the achievement of their work goals.</a:t>
            </a:r>
          </a:p>
        </p:txBody>
      </p:sp>
      <p:sp>
        <p:nvSpPr>
          <p:cNvPr id="4" name="Slide Number Placeholder 3"/>
          <p:cNvSpPr>
            <a:spLocks noGrp="1"/>
          </p:cNvSpPr>
          <p:nvPr>
            <p:ph type="sldNum" sz="quarter" idx="5"/>
          </p:nvPr>
        </p:nvSpPr>
        <p:spPr/>
        <p:txBody>
          <a:bodyPr/>
          <a:lstStyle/>
          <a:p>
            <a:pPr>
              <a:defRPr/>
            </a:pPr>
            <a:fld id="{4484DB51-79D2-4461-8B93-6184FA4EE8FC}" type="slidenum">
              <a:rPr lang="en-US" smtClean="0"/>
              <a:pPr>
                <a:defRPr/>
              </a:pPr>
              <a:t>22</a:t>
            </a:fld>
            <a:endParaRPr lang="en-US" dirty="0"/>
          </a:p>
        </p:txBody>
      </p:sp>
    </p:spTree>
    <p:extLst>
      <p:ext uri="{BB962C8B-B14F-4D97-AF65-F5344CB8AC3E}">
        <p14:creationId xmlns:p14="http://schemas.microsoft.com/office/powerpoint/2010/main" val="2794925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p:cNvSpPr>
          <p:nvPr>
            <p:ph type="sldImg"/>
          </p:nvPr>
        </p:nvSpPr>
        <p:spPr bwMode="auto">
          <a:noFill/>
          <a:ln>
            <a:solidFill>
              <a:srgbClr val="000000"/>
            </a:solidFill>
            <a:miter lim="800000"/>
            <a:headEnd/>
            <a:tailEnd/>
          </a:ln>
        </p:spPr>
      </p:sp>
      <p:sp>
        <p:nvSpPr>
          <p:cNvPr id="79874" name="Notes Placeholder 2"/>
          <p:cNvSpPr>
            <a:spLocks noGrp="1"/>
          </p:cNvSpPr>
          <p:nvPr>
            <p:ph type="body" idx="1"/>
          </p:nvPr>
        </p:nvSpPr>
        <p:spPr bwMode="auto">
          <a:noFill/>
        </p:spPr>
        <p:txBody>
          <a:bodyPr/>
          <a:lstStyle/>
          <a:p>
            <a:pPr eaLnBrk="1" hangingPunct="1"/>
            <a:r>
              <a:rPr lang="en-US" dirty="0" smtClean="0">
                <a:cs typeface="Arial" charset="0"/>
              </a:rPr>
              <a:t>House identified four leadership behaviors:</a:t>
            </a:r>
          </a:p>
          <a:p>
            <a:pPr eaLnBrk="1" hangingPunct="1"/>
            <a:endParaRPr lang="en-US" dirty="0" smtClean="0">
              <a:cs typeface="Arial" charset="0"/>
            </a:endParaRPr>
          </a:p>
          <a:p>
            <a:pPr eaLnBrk="1" hangingPunct="1"/>
            <a:r>
              <a:rPr lang="en-US" i="1" dirty="0" smtClean="0">
                <a:cs typeface="Arial" charset="0"/>
              </a:rPr>
              <a:t>Directive leader: </a:t>
            </a:r>
            <a:r>
              <a:rPr lang="en-US" dirty="0" smtClean="0">
                <a:cs typeface="Arial" charset="0"/>
              </a:rPr>
              <a:t>Lets subordinates know what’s expected of them, schedules work to be done, and gives specific guidance on how to accomplish tasks.</a:t>
            </a:r>
          </a:p>
          <a:p>
            <a:pPr eaLnBrk="1" hangingPunct="1"/>
            <a:endParaRPr lang="en-US" dirty="0" smtClean="0">
              <a:cs typeface="Arial" charset="0"/>
            </a:endParaRPr>
          </a:p>
          <a:p>
            <a:pPr eaLnBrk="1" hangingPunct="1"/>
            <a:r>
              <a:rPr lang="en-US" i="1" dirty="0" smtClean="0">
                <a:cs typeface="Arial" charset="0"/>
              </a:rPr>
              <a:t>Supportive leader: </a:t>
            </a:r>
            <a:r>
              <a:rPr lang="en-US" dirty="0" smtClean="0">
                <a:cs typeface="Arial" charset="0"/>
              </a:rPr>
              <a:t>Shows concern for the needs of followers and is friendly. </a:t>
            </a:r>
          </a:p>
          <a:p>
            <a:pPr eaLnBrk="1" hangingPunct="1"/>
            <a:endParaRPr lang="en-US" i="1"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5"/>
          </p:nvPr>
        </p:nvSpPr>
        <p:spPr/>
        <p:txBody>
          <a:bodyPr/>
          <a:lstStyle/>
          <a:p>
            <a:pPr>
              <a:defRPr/>
            </a:pPr>
            <a:fld id="{1F23C71D-C1A3-47B6-A484-EEB38CF3A765}" type="slidenum">
              <a:rPr lang="en-US" smtClean="0"/>
              <a:pPr>
                <a:defRPr/>
              </a:pPr>
              <a:t>23</a:t>
            </a:fld>
            <a:endParaRPr lang="en-US" dirty="0"/>
          </a:p>
        </p:txBody>
      </p:sp>
    </p:spTree>
    <p:extLst>
      <p:ext uri="{BB962C8B-B14F-4D97-AF65-F5344CB8AC3E}">
        <p14:creationId xmlns:p14="http://schemas.microsoft.com/office/powerpoint/2010/main" val="2559810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a:lstStyle/>
          <a:p>
            <a:pPr eaLnBrk="1" hangingPunct="1"/>
            <a:r>
              <a:rPr lang="en-US" i="1" smtClean="0">
                <a:cs typeface="Arial" charset="0"/>
              </a:rPr>
              <a:t>Participative leader: </a:t>
            </a:r>
            <a:r>
              <a:rPr lang="en-US" smtClean="0">
                <a:cs typeface="Arial" charset="0"/>
              </a:rPr>
              <a:t>Consults with group members and uses their suggestions before making a decision.</a:t>
            </a:r>
          </a:p>
          <a:p>
            <a:pPr eaLnBrk="1" hangingPunct="1"/>
            <a:endParaRPr lang="en-US" i="1" smtClean="0">
              <a:cs typeface="Arial" charset="0"/>
            </a:endParaRPr>
          </a:p>
          <a:p>
            <a:pPr eaLnBrk="1" hangingPunct="1"/>
            <a:r>
              <a:rPr lang="en-US" i="1" smtClean="0">
                <a:cs typeface="Arial" charset="0"/>
              </a:rPr>
              <a:t>Achievement oriented leader: </a:t>
            </a:r>
            <a:r>
              <a:rPr lang="en-US" smtClean="0">
                <a:cs typeface="Arial" charset="0"/>
              </a:rPr>
              <a:t>Sets challenging goals and expects followers to perform at their highest level. </a:t>
            </a:r>
          </a:p>
          <a:p>
            <a:pPr eaLnBrk="1" hangingPunct="1"/>
            <a:endParaRPr lang="en-US" smtClean="0">
              <a:cs typeface="Arial" charset="0"/>
            </a:endParaRPr>
          </a:p>
          <a:p>
            <a:pPr eaLnBrk="1" hangingPunct="1"/>
            <a:r>
              <a:rPr lang="en-US" smtClean="0">
                <a:cs typeface="Arial" charset="0"/>
              </a:rPr>
              <a:t>In contrast to Fiedler’s view that a leader couldn’t change his or her behavior, House assumed that leaders are flexible and can display any or all of these leadership styles depending on the situation.</a:t>
            </a:r>
          </a:p>
        </p:txBody>
      </p:sp>
      <p:sp>
        <p:nvSpPr>
          <p:cNvPr id="4" name="Slide Number Placeholder 3"/>
          <p:cNvSpPr>
            <a:spLocks noGrp="1"/>
          </p:cNvSpPr>
          <p:nvPr>
            <p:ph type="sldNum" sz="quarter" idx="5"/>
          </p:nvPr>
        </p:nvSpPr>
        <p:spPr/>
        <p:txBody>
          <a:bodyPr/>
          <a:lstStyle/>
          <a:p>
            <a:pPr>
              <a:defRPr/>
            </a:pPr>
            <a:fld id="{44624770-044F-43CB-AC97-F4EFB5618493}" type="slidenum">
              <a:rPr lang="en-US" smtClean="0"/>
              <a:pPr>
                <a:defRPr/>
              </a:pPr>
              <a:t>24</a:t>
            </a:fld>
            <a:endParaRPr lang="en-US" dirty="0"/>
          </a:p>
        </p:txBody>
      </p:sp>
    </p:spTree>
    <p:extLst>
      <p:ext uri="{BB962C8B-B14F-4D97-AF65-F5344CB8AC3E}">
        <p14:creationId xmlns:p14="http://schemas.microsoft.com/office/powerpoint/2010/main" val="1672869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p:cNvSpPr>
          <p:nvPr>
            <p:ph type="sldImg"/>
          </p:nvPr>
        </p:nvSpPr>
        <p:spPr bwMode="auto">
          <a:noFill/>
          <a:ln>
            <a:solidFill>
              <a:srgbClr val="000000"/>
            </a:solidFill>
            <a:miter lim="800000"/>
            <a:headEnd/>
            <a:tailEnd/>
          </a:ln>
        </p:spPr>
      </p:sp>
      <p:sp>
        <p:nvSpPr>
          <p:cNvPr id="83970" name="Notes Placeholder 2"/>
          <p:cNvSpPr>
            <a:spLocks noGrp="1"/>
          </p:cNvSpPr>
          <p:nvPr>
            <p:ph type="body" idx="1"/>
          </p:nvPr>
        </p:nvSpPr>
        <p:spPr bwMode="auto">
          <a:noFill/>
        </p:spPr>
        <p:txBody>
          <a:bodyPr/>
          <a:lstStyle/>
          <a:p>
            <a:pPr eaLnBrk="1" hangingPunct="1"/>
            <a:r>
              <a:rPr lang="en-US" dirty="0" smtClean="0">
                <a:cs typeface="Arial" charset="0"/>
              </a:rPr>
              <a:t>As Exhibit 17-4 illustrates, path-goal theory proposes two situational or contingency variables that moderate the leadership behavior–outcome relationship: those in the </a:t>
            </a:r>
            <a:r>
              <a:rPr lang="en-US" i="1" dirty="0" smtClean="0">
                <a:cs typeface="Arial" charset="0"/>
              </a:rPr>
              <a:t>environment </a:t>
            </a:r>
            <a:r>
              <a:rPr lang="en-US" dirty="0" smtClean="0">
                <a:cs typeface="Arial" charset="0"/>
              </a:rPr>
              <a:t>that are outside the control of the follower (factors including task structure, formal authority system, and the work group) and those that are part of the personal characteristics of the </a:t>
            </a:r>
            <a:r>
              <a:rPr lang="en-US" i="1" dirty="0" smtClean="0">
                <a:cs typeface="Arial" charset="0"/>
              </a:rPr>
              <a:t>follower </a:t>
            </a:r>
            <a:r>
              <a:rPr lang="en-US" dirty="0" smtClean="0">
                <a:cs typeface="Arial" charset="0"/>
              </a:rPr>
              <a:t>(including locus of control, experience, and perceived ability).</a:t>
            </a:r>
          </a:p>
        </p:txBody>
      </p:sp>
      <p:sp>
        <p:nvSpPr>
          <p:cNvPr id="4" name="Slide Number Placeholder 3"/>
          <p:cNvSpPr>
            <a:spLocks noGrp="1"/>
          </p:cNvSpPr>
          <p:nvPr>
            <p:ph type="sldNum" sz="quarter" idx="5"/>
          </p:nvPr>
        </p:nvSpPr>
        <p:spPr/>
        <p:txBody>
          <a:bodyPr/>
          <a:lstStyle/>
          <a:p>
            <a:pPr>
              <a:defRPr/>
            </a:pPr>
            <a:fld id="{B342A4FA-D74B-4A1D-AA6A-B2C592F1891B}" type="slidenum">
              <a:rPr lang="en-US" smtClean="0"/>
              <a:pPr>
                <a:defRPr/>
              </a:pPr>
              <a:t>25</a:t>
            </a:fld>
            <a:endParaRPr lang="en-US" dirty="0"/>
          </a:p>
        </p:txBody>
      </p:sp>
    </p:spTree>
    <p:extLst>
      <p:ext uri="{BB962C8B-B14F-4D97-AF65-F5344CB8AC3E}">
        <p14:creationId xmlns:p14="http://schemas.microsoft.com/office/powerpoint/2010/main" val="3176669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a:lstStyle/>
          <a:p>
            <a:pPr eaLnBrk="1" hangingPunct="1"/>
            <a:r>
              <a:rPr lang="en-US" b="1" dirty="0" smtClean="0">
                <a:cs typeface="Arial" charset="0"/>
              </a:rPr>
              <a:t>Leader–member exchange theory (LMX) </a:t>
            </a:r>
            <a:r>
              <a:rPr lang="en-US" dirty="0" smtClean="0">
                <a:cs typeface="Arial" charset="0"/>
              </a:rPr>
              <a:t>says leaders create in-groups and out-groups and those in the in-group will have higher performance ratings, less turnover, and greater job satisfaction. LMX theory suggests that early on in the relationship between a leader and a</a:t>
            </a:r>
            <a:r>
              <a:rPr lang="en-US" baseline="0" dirty="0" smtClean="0">
                <a:cs typeface="Arial" charset="0"/>
              </a:rPr>
              <a:t> </a:t>
            </a:r>
            <a:r>
              <a:rPr lang="en-US" dirty="0" smtClean="0">
                <a:cs typeface="Arial" charset="0"/>
              </a:rPr>
              <a:t>given follower, a leader will implicitly categorize a follower as an “in” or as an “out.” That relationship tends to remain fairly stable over time. Leaders also encourage LMX by rewarding those employees with whom they want a closer linkage and punishing those with whom they do not.</a:t>
            </a:r>
          </a:p>
        </p:txBody>
      </p:sp>
      <p:sp>
        <p:nvSpPr>
          <p:cNvPr id="4" name="Slide Number Placeholder 3"/>
          <p:cNvSpPr>
            <a:spLocks noGrp="1"/>
          </p:cNvSpPr>
          <p:nvPr>
            <p:ph type="sldNum" sz="quarter" idx="5"/>
          </p:nvPr>
        </p:nvSpPr>
        <p:spPr/>
        <p:txBody>
          <a:bodyPr/>
          <a:lstStyle/>
          <a:p>
            <a:pPr>
              <a:defRPr/>
            </a:pPr>
            <a:fld id="{6D89813B-7D27-4982-A3DA-4AD678F6C498}" type="slidenum">
              <a:rPr lang="en-US" smtClean="0"/>
              <a:pPr>
                <a:defRPr/>
              </a:pPr>
              <a:t>26</a:t>
            </a:fld>
            <a:endParaRPr lang="en-US" dirty="0"/>
          </a:p>
        </p:txBody>
      </p:sp>
    </p:spTree>
    <p:extLst>
      <p:ext uri="{BB962C8B-B14F-4D97-AF65-F5344CB8AC3E}">
        <p14:creationId xmlns:p14="http://schemas.microsoft.com/office/powerpoint/2010/main" val="665428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a:lstStyle/>
          <a:p>
            <a:pPr eaLnBrk="1" hangingPunct="1"/>
            <a:r>
              <a:rPr lang="en-US" dirty="0" smtClean="0">
                <a:cs typeface="Arial" charset="0"/>
              </a:rPr>
              <a:t>Many early leadership theories viewed leaders as </a:t>
            </a:r>
            <a:r>
              <a:rPr lang="en-US" b="1" dirty="0" smtClean="0">
                <a:cs typeface="Arial" charset="0"/>
              </a:rPr>
              <a:t>transactional leaders</a:t>
            </a:r>
            <a:r>
              <a:rPr lang="en-US" dirty="0" smtClean="0">
                <a:cs typeface="Arial" charset="0"/>
              </a:rPr>
              <a:t>; that is, leaders who lead primarily by using social exchanges</a:t>
            </a:r>
            <a:r>
              <a:rPr lang="en-US" baseline="0" dirty="0" smtClean="0">
                <a:cs typeface="Arial" charset="0"/>
              </a:rPr>
              <a:t> </a:t>
            </a:r>
            <a:r>
              <a:rPr lang="en-US" dirty="0" smtClean="0">
                <a:cs typeface="Arial" charset="0"/>
              </a:rPr>
              <a:t>(or transactions). Transactional leaders guide or motivate followers to work toward established goals by exchanging rewards for their</a:t>
            </a:r>
            <a:r>
              <a:rPr lang="en-US" baseline="0" dirty="0" smtClean="0">
                <a:cs typeface="Arial" charset="0"/>
              </a:rPr>
              <a:t> </a:t>
            </a:r>
            <a:r>
              <a:rPr lang="en-US" dirty="0" smtClean="0">
                <a:cs typeface="Arial" charset="0"/>
              </a:rPr>
              <a:t>productivity.  But another type of leader—a </a:t>
            </a:r>
            <a:r>
              <a:rPr lang="en-US" b="1" dirty="0" smtClean="0">
                <a:cs typeface="Arial" charset="0"/>
              </a:rPr>
              <a:t>transformational leader</a:t>
            </a:r>
            <a:r>
              <a:rPr lang="en-US" dirty="0" smtClean="0">
                <a:cs typeface="Arial" charset="0"/>
              </a:rPr>
              <a:t>—stimulates and inspires (transforms) followers to achieve extraordinary outcomes.</a:t>
            </a:r>
          </a:p>
        </p:txBody>
      </p:sp>
      <p:sp>
        <p:nvSpPr>
          <p:cNvPr id="4" name="Slide Number Placeholder 3"/>
          <p:cNvSpPr>
            <a:spLocks noGrp="1"/>
          </p:cNvSpPr>
          <p:nvPr>
            <p:ph type="sldNum" sz="quarter" idx="5"/>
          </p:nvPr>
        </p:nvSpPr>
        <p:spPr/>
        <p:txBody>
          <a:bodyPr/>
          <a:lstStyle/>
          <a:p>
            <a:pPr>
              <a:defRPr/>
            </a:pPr>
            <a:fld id="{01710836-53F9-4E50-9A95-2EF84C08449F}" type="slidenum">
              <a:rPr lang="en-US" smtClean="0"/>
              <a:pPr>
                <a:defRPr/>
              </a:pPr>
              <a:t>27</a:t>
            </a:fld>
            <a:endParaRPr lang="en-US" dirty="0"/>
          </a:p>
        </p:txBody>
      </p:sp>
    </p:spTree>
    <p:extLst>
      <p:ext uri="{BB962C8B-B14F-4D97-AF65-F5344CB8AC3E}">
        <p14:creationId xmlns:p14="http://schemas.microsoft.com/office/powerpoint/2010/main" val="346361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a:lstStyle/>
          <a:p>
            <a:pPr eaLnBrk="1" hangingPunct="1"/>
            <a:r>
              <a:rPr lang="en-US" dirty="0" smtClean="0">
                <a:cs typeface="Arial" charset="0"/>
              </a:rPr>
              <a:t>A</a:t>
            </a:r>
            <a:r>
              <a:rPr lang="en-US" b="1" dirty="0" smtClean="0">
                <a:cs typeface="Arial" charset="0"/>
              </a:rPr>
              <a:t> charismatic leader </a:t>
            </a:r>
            <a:r>
              <a:rPr lang="en-US" dirty="0" smtClean="0">
                <a:cs typeface="Arial" charset="0"/>
              </a:rPr>
              <a:t>is an enthusiastic, self-confident leader whose personality and actions influence people to behave in certain ways.</a:t>
            </a:r>
            <a:r>
              <a:rPr lang="en-US" baseline="0" dirty="0" smtClean="0">
                <a:cs typeface="Arial" charset="0"/>
              </a:rPr>
              <a:t> </a:t>
            </a:r>
            <a:r>
              <a:rPr lang="en-US" dirty="0" smtClean="0">
                <a:cs typeface="Arial" charset="0"/>
              </a:rPr>
              <a:t>Several authors have attempted to identify personal characteristics of the charismatic leader.  The most comprehensive analysis identified five such characteristics: they have a vision, the ability to articulate that vision, a willingness to take risks to achieve that vision, a sensitivity to both environmental constraints and follower needs, and behaviors that are out of the ordinary.</a:t>
            </a:r>
          </a:p>
          <a:p>
            <a:pPr eaLnBrk="1" hangingPunct="1"/>
            <a:endParaRPr lang="en-US" dirty="0" smtClean="0">
              <a:cs typeface="Arial" charset="0"/>
            </a:endParaRPr>
          </a:p>
          <a:p>
            <a:pPr eaLnBrk="1" hangingPunct="1"/>
            <a:r>
              <a:rPr lang="en-US" dirty="0" smtClean="0">
                <a:cs typeface="Arial" charset="0"/>
              </a:rPr>
              <a:t>Although the term </a:t>
            </a:r>
            <a:r>
              <a:rPr lang="en-US" i="1" dirty="0" smtClean="0">
                <a:cs typeface="Arial" charset="0"/>
              </a:rPr>
              <a:t>vision </a:t>
            </a:r>
            <a:r>
              <a:rPr lang="en-US" dirty="0" smtClean="0">
                <a:cs typeface="Arial" charset="0"/>
              </a:rPr>
              <a:t>is often linked with charismatic leadership, </a:t>
            </a:r>
            <a:r>
              <a:rPr lang="en-US" b="1" dirty="0" smtClean="0">
                <a:cs typeface="Arial" charset="0"/>
              </a:rPr>
              <a:t>visionary leadership </a:t>
            </a:r>
            <a:r>
              <a:rPr lang="en-US" dirty="0" smtClean="0">
                <a:cs typeface="Arial" charset="0"/>
              </a:rPr>
              <a:t>is different; it’s the ability to create and articulate a realistic, credible, and attractive vision of the future that improves on the present situation.  This vision, if properly selected and implemented, is so energizing that it “in effect jump-starts the future by calling forth the skills, talents, and resources to make it happen.”</a:t>
            </a:r>
          </a:p>
        </p:txBody>
      </p:sp>
      <p:sp>
        <p:nvSpPr>
          <p:cNvPr id="4" name="Slide Number Placeholder 3"/>
          <p:cNvSpPr>
            <a:spLocks noGrp="1"/>
          </p:cNvSpPr>
          <p:nvPr>
            <p:ph type="sldNum" sz="quarter" idx="5"/>
          </p:nvPr>
        </p:nvSpPr>
        <p:spPr/>
        <p:txBody>
          <a:bodyPr/>
          <a:lstStyle/>
          <a:p>
            <a:pPr>
              <a:defRPr/>
            </a:pPr>
            <a:fld id="{A77CF8C5-CDE9-47E7-9AA7-1AADB8A641F7}" type="slidenum">
              <a:rPr lang="en-US" smtClean="0"/>
              <a:pPr>
                <a:defRPr/>
              </a:pPr>
              <a:t>28</a:t>
            </a:fld>
            <a:endParaRPr lang="en-US" dirty="0"/>
          </a:p>
        </p:txBody>
      </p:sp>
    </p:spTree>
    <p:extLst>
      <p:ext uri="{BB962C8B-B14F-4D97-AF65-F5344CB8AC3E}">
        <p14:creationId xmlns:p14="http://schemas.microsoft.com/office/powerpoint/2010/main" val="2214886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a:lstStyle/>
          <a:p>
            <a:pPr eaLnBrk="1" hangingPunct="1"/>
            <a:r>
              <a:rPr lang="en-US" dirty="0" smtClean="0">
                <a:cs typeface="Arial" charset="0"/>
              </a:rPr>
              <a:t>Because leadership is increasingly taking place within a team context and more organizations are using work teams, the role of the leader in guiding team members has become increasingly important. The role of team leader </a:t>
            </a:r>
            <a:r>
              <a:rPr lang="en-US" i="1" dirty="0" smtClean="0">
                <a:cs typeface="Arial" charset="0"/>
              </a:rPr>
              <a:t>is </a:t>
            </a:r>
            <a:r>
              <a:rPr lang="en-US" dirty="0" smtClean="0">
                <a:cs typeface="Arial" charset="0"/>
              </a:rPr>
              <a:t>different from the traditional leadership role.</a:t>
            </a:r>
          </a:p>
          <a:p>
            <a:pPr eaLnBrk="1" hangingPunct="1"/>
            <a:endParaRPr lang="en-US" dirty="0" smtClean="0">
              <a:cs typeface="Arial" charset="0"/>
            </a:endParaRPr>
          </a:p>
          <a:p>
            <a:pPr eaLnBrk="1" hangingPunct="1"/>
            <a:r>
              <a:rPr lang="en-US" dirty="0" smtClean="0">
                <a:cs typeface="Arial" charset="0"/>
              </a:rPr>
              <a:t>Many leaders are not equipped to handle the change to employee teams. As one consultant noted, “Even the most capable managers have trouble making the transition because all the command-and-control type things they were encouraged to do before are no longer appropriate.”</a:t>
            </a:r>
          </a:p>
          <a:p>
            <a:pPr eaLnBrk="1" hangingPunct="1"/>
            <a:endParaRPr lang="en-US" dirty="0" smtClean="0">
              <a:cs typeface="Arial" charset="0"/>
            </a:endParaRPr>
          </a:p>
          <a:p>
            <a:pPr eaLnBrk="1" hangingPunct="1"/>
            <a:r>
              <a:rPr lang="en-US" dirty="0" smtClean="0">
                <a:cs typeface="Arial" charset="0"/>
              </a:rPr>
              <a:t>One study looking at organizations that reorganized themselves around employee teams found certain common responsibilities of all leaders. These leader responsibilities included coaching, facilitating, handling disciplinary problems, reviewing team and individual performance, training, and communication. However, a more meaningful way to describe the team leader’s job is to focus on two priorities: (1) managing</a:t>
            </a:r>
          </a:p>
          <a:p>
            <a:pPr eaLnBrk="1" hangingPunct="1"/>
            <a:r>
              <a:rPr lang="en-US" dirty="0" smtClean="0">
                <a:cs typeface="Arial" charset="0"/>
              </a:rPr>
              <a:t>the team’s external boundary, and (2) facilitating the team process. These priorities entail four specific leadership roles, which are identified in Exhibit 17-5.</a:t>
            </a:r>
          </a:p>
        </p:txBody>
      </p:sp>
      <p:sp>
        <p:nvSpPr>
          <p:cNvPr id="4" name="Slide Number Placeholder 3"/>
          <p:cNvSpPr>
            <a:spLocks noGrp="1"/>
          </p:cNvSpPr>
          <p:nvPr>
            <p:ph type="sldNum" sz="quarter" idx="5"/>
          </p:nvPr>
        </p:nvSpPr>
        <p:spPr/>
        <p:txBody>
          <a:bodyPr/>
          <a:lstStyle/>
          <a:p>
            <a:pPr>
              <a:defRPr/>
            </a:pPr>
            <a:fld id="{FE81F0B0-B66D-4CCD-B07F-99192F0683BD}" type="slidenum">
              <a:rPr lang="en-US" smtClean="0"/>
              <a:pPr>
                <a:defRPr/>
              </a:pPr>
              <a:t>29</a:t>
            </a:fld>
            <a:endParaRPr lang="en-US" dirty="0"/>
          </a:p>
        </p:txBody>
      </p:sp>
    </p:spTree>
    <p:extLst>
      <p:ext uri="{BB962C8B-B14F-4D97-AF65-F5344CB8AC3E}">
        <p14:creationId xmlns:p14="http://schemas.microsoft.com/office/powerpoint/2010/main" val="4137451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p:cNvSpPr>
            <a:spLocks noGrp="1" noRot="1" noChangeAspect="1"/>
          </p:cNvSpPr>
          <p:nvPr>
            <p:ph type="sldImg"/>
          </p:nvPr>
        </p:nvSpPr>
        <p:spPr bwMode="auto">
          <a:noFill/>
          <a:ln>
            <a:solidFill>
              <a:srgbClr val="000000"/>
            </a:solidFill>
            <a:miter lim="800000"/>
            <a:headEnd/>
            <a:tailEnd/>
          </a:ln>
        </p:spPr>
      </p:sp>
      <p:sp>
        <p:nvSpPr>
          <p:cNvPr id="94210" name="Notes Placeholder 2"/>
          <p:cNvSpPr>
            <a:spLocks noGrp="1"/>
          </p:cNvSpPr>
          <p:nvPr>
            <p:ph type="body" idx="1"/>
          </p:nvPr>
        </p:nvSpPr>
        <p:spPr bwMode="auto">
          <a:noFill/>
        </p:spPr>
        <p:txBody>
          <a:bodyPr/>
          <a:lstStyle/>
          <a:p>
            <a:pPr eaLnBrk="1" hangingPunct="1"/>
            <a:endParaRPr lang="en-US" smtClean="0">
              <a:cs typeface="Arial" charset="0"/>
            </a:endParaRPr>
          </a:p>
        </p:txBody>
      </p:sp>
      <p:sp>
        <p:nvSpPr>
          <p:cNvPr id="4" name="Slide Number Placeholder 3"/>
          <p:cNvSpPr>
            <a:spLocks noGrp="1"/>
          </p:cNvSpPr>
          <p:nvPr>
            <p:ph type="sldNum" sz="quarter" idx="5"/>
          </p:nvPr>
        </p:nvSpPr>
        <p:spPr/>
        <p:txBody>
          <a:bodyPr/>
          <a:lstStyle/>
          <a:p>
            <a:pPr>
              <a:defRPr/>
            </a:pPr>
            <a:fld id="{D458C7B9-81E1-48DA-AB68-D5CEE1D2BCD0}" type="slidenum">
              <a:rPr lang="en-US" smtClean="0"/>
              <a:pPr>
                <a:defRPr/>
              </a:pPr>
              <a:t>30</a:t>
            </a:fld>
            <a:endParaRPr lang="en-US" dirty="0"/>
          </a:p>
        </p:txBody>
      </p:sp>
    </p:spTree>
    <p:extLst>
      <p:ext uri="{BB962C8B-B14F-4D97-AF65-F5344CB8AC3E}">
        <p14:creationId xmlns:p14="http://schemas.microsoft.com/office/powerpoint/2010/main" val="3678063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bwMode="auto">
          <a:noFill/>
          <a:ln>
            <a:solidFill>
              <a:srgbClr val="000000"/>
            </a:solidFill>
            <a:miter lim="800000"/>
            <a:headEnd/>
            <a:tailEnd/>
          </a:ln>
        </p:spPr>
      </p:sp>
      <p:sp>
        <p:nvSpPr>
          <p:cNvPr id="96258" name="Notes Placeholder 2"/>
          <p:cNvSpPr>
            <a:spLocks noGrp="1"/>
          </p:cNvSpPr>
          <p:nvPr>
            <p:ph type="body" idx="1"/>
          </p:nvPr>
        </p:nvSpPr>
        <p:spPr bwMode="auto">
          <a:noFill/>
        </p:spPr>
        <p:txBody>
          <a:bodyPr/>
          <a:lstStyle/>
          <a:p>
            <a:pPr eaLnBrk="1" hangingPunct="1"/>
            <a:r>
              <a:rPr lang="en-US" dirty="0" smtClean="0">
                <a:cs typeface="Arial" charset="0"/>
              </a:rPr>
              <a:t>Where do leaders get their power—that is, their right and capacity to influence work actions or decisions? Five sources of leader power have been identified: legitimate, coercive, reward, expert, and referent. </a:t>
            </a:r>
          </a:p>
          <a:p>
            <a:pPr eaLnBrk="1" hangingPunct="1"/>
            <a:endParaRPr lang="en-US" dirty="0" smtClean="0">
              <a:cs typeface="Arial" charset="0"/>
            </a:endParaRPr>
          </a:p>
          <a:p>
            <a:pPr eaLnBrk="1" hangingPunct="1"/>
            <a:r>
              <a:rPr lang="en-US" b="1" dirty="0" smtClean="0">
                <a:cs typeface="Arial" charset="0"/>
              </a:rPr>
              <a:t>Legitimate power </a:t>
            </a:r>
            <a:r>
              <a:rPr lang="en-US" dirty="0" smtClean="0">
                <a:cs typeface="Arial" charset="0"/>
              </a:rPr>
              <a:t>and authority are the same. Legitimate power represents the power a leader has as a result of his or her position in the organization. Although people in positions of authority are also likely to have reward and coercive power, legitimate power is broader than the power to coerce and reward.</a:t>
            </a:r>
          </a:p>
          <a:p>
            <a:pPr eaLnBrk="1" hangingPunct="1"/>
            <a:endParaRPr lang="en-US" dirty="0" smtClean="0">
              <a:cs typeface="Arial" charset="0"/>
            </a:endParaRPr>
          </a:p>
          <a:p>
            <a:pPr eaLnBrk="1" hangingPunct="1"/>
            <a:r>
              <a:rPr lang="en-US" b="1" dirty="0" smtClean="0">
                <a:cs typeface="Arial" charset="0"/>
              </a:rPr>
              <a:t>Coercive power </a:t>
            </a:r>
            <a:r>
              <a:rPr lang="en-US" dirty="0" smtClean="0">
                <a:cs typeface="Arial" charset="0"/>
              </a:rPr>
              <a:t>is the power a leader has to punish or control. Followers react to this power out of fear of the negative results that might occur if they don’t comply. Managers typically have some coercive power, such as being able to suspend or demote employees or to assign them work they find unpleasant or undesirable.</a:t>
            </a:r>
          </a:p>
          <a:p>
            <a:pPr eaLnBrk="1" hangingPunct="1"/>
            <a:endParaRPr lang="en-US" dirty="0" smtClean="0">
              <a:cs typeface="Arial" charset="0"/>
            </a:endParaRPr>
          </a:p>
          <a:p>
            <a:pPr eaLnBrk="1" hangingPunct="1"/>
            <a:r>
              <a:rPr lang="en-US" b="1" dirty="0" smtClean="0">
                <a:cs typeface="Arial" charset="0"/>
              </a:rPr>
              <a:t>Reward power </a:t>
            </a:r>
            <a:r>
              <a:rPr lang="en-US" dirty="0" smtClean="0">
                <a:cs typeface="Arial" charset="0"/>
              </a:rPr>
              <a:t>is the power to give positive rewards. A reward can be anything a person values such as money, favorable performance appraisals, promotions, interesting work assignments, friendly colleagues, and preferred work shifts or sales territories.</a:t>
            </a:r>
          </a:p>
        </p:txBody>
      </p:sp>
      <p:sp>
        <p:nvSpPr>
          <p:cNvPr id="4" name="Slide Number Placeholder 3"/>
          <p:cNvSpPr>
            <a:spLocks noGrp="1"/>
          </p:cNvSpPr>
          <p:nvPr>
            <p:ph type="sldNum" sz="quarter" idx="5"/>
          </p:nvPr>
        </p:nvSpPr>
        <p:spPr/>
        <p:txBody>
          <a:bodyPr/>
          <a:lstStyle/>
          <a:p>
            <a:pPr>
              <a:defRPr/>
            </a:pPr>
            <a:fld id="{9218A38F-2F93-49F0-A777-22DC34F0927E}" type="slidenum">
              <a:rPr lang="en-US" smtClean="0"/>
              <a:pPr>
                <a:defRPr/>
              </a:pPr>
              <a:t>31</a:t>
            </a:fld>
            <a:endParaRPr lang="en-US" dirty="0"/>
          </a:p>
        </p:txBody>
      </p:sp>
    </p:spTree>
    <p:extLst>
      <p:ext uri="{BB962C8B-B14F-4D97-AF65-F5344CB8AC3E}">
        <p14:creationId xmlns:p14="http://schemas.microsoft.com/office/powerpoint/2010/main" val="2895814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a:lstStyle/>
          <a:p>
            <a:pPr eaLnBrk="1" hangingPunct="1"/>
            <a:r>
              <a:rPr lang="en-US" b="1" dirty="0" smtClean="0">
                <a:cs typeface="Arial" charset="0"/>
              </a:rPr>
              <a:t>Expert power </a:t>
            </a:r>
            <a:r>
              <a:rPr lang="en-US" dirty="0" smtClean="0">
                <a:cs typeface="Arial" charset="0"/>
              </a:rPr>
              <a:t>is power based on expertise, special skills, or knowledge. If an employee has skills, knowledge, or expertise that’s critical to a work group, that person’s expert power is enhanced. </a:t>
            </a:r>
          </a:p>
          <a:p>
            <a:pPr eaLnBrk="1" hangingPunct="1"/>
            <a:endParaRPr lang="en-US" dirty="0" smtClean="0">
              <a:cs typeface="Arial" charset="0"/>
            </a:endParaRPr>
          </a:p>
          <a:p>
            <a:pPr eaLnBrk="1" hangingPunct="1"/>
            <a:r>
              <a:rPr lang="en-US" dirty="0" smtClean="0">
                <a:cs typeface="Arial" charset="0"/>
              </a:rPr>
              <a:t>Finally, </a:t>
            </a:r>
            <a:r>
              <a:rPr lang="en-US" b="1" dirty="0" smtClean="0">
                <a:cs typeface="Arial" charset="0"/>
              </a:rPr>
              <a:t>referent power </a:t>
            </a:r>
            <a:r>
              <a:rPr lang="en-US" dirty="0" smtClean="0">
                <a:cs typeface="Arial" charset="0"/>
              </a:rPr>
              <a:t>is the power that arises because of a person’s desirable resources or personal traits. If I admire you and want to be associated with you, you can exercise power over me because I want to please you. Referent power develops out of admiration of another and a desire to be like that person.</a:t>
            </a:r>
          </a:p>
        </p:txBody>
      </p:sp>
      <p:sp>
        <p:nvSpPr>
          <p:cNvPr id="4" name="Slide Number Placeholder 3"/>
          <p:cNvSpPr>
            <a:spLocks noGrp="1"/>
          </p:cNvSpPr>
          <p:nvPr>
            <p:ph type="sldNum" sz="quarter" idx="5"/>
          </p:nvPr>
        </p:nvSpPr>
        <p:spPr/>
        <p:txBody>
          <a:bodyPr/>
          <a:lstStyle/>
          <a:p>
            <a:pPr>
              <a:defRPr/>
            </a:pPr>
            <a:fld id="{167A7E5E-C612-4E76-91AE-E0642A5EA66A}" type="slidenum">
              <a:rPr lang="en-US" smtClean="0"/>
              <a:pPr>
                <a:defRPr/>
              </a:pPr>
              <a:t>32</a:t>
            </a:fld>
            <a:endParaRPr lang="en-US" dirty="0"/>
          </a:p>
        </p:txBody>
      </p:sp>
    </p:spTree>
    <p:extLst>
      <p:ext uri="{BB962C8B-B14F-4D97-AF65-F5344CB8AC3E}">
        <p14:creationId xmlns:p14="http://schemas.microsoft.com/office/powerpoint/2010/main" val="394849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p:cNvSpPr>
            <a:spLocks noGrp="1" noRot="1" noChangeAspect="1"/>
          </p:cNvSpPr>
          <p:nvPr>
            <p:ph type="sldImg"/>
          </p:nvPr>
        </p:nvSpPr>
        <p:spPr bwMode="auto">
          <a:noFill/>
          <a:ln>
            <a:solidFill>
              <a:srgbClr val="000000"/>
            </a:solidFill>
            <a:miter lim="800000"/>
            <a:headEnd/>
            <a:tailEnd/>
          </a:ln>
        </p:spPr>
      </p:sp>
      <p:sp>
        <p:nvSpPr>
          <p:cNvPr id="100354" name="Notes Placeholder 2"/>
          <p:cNvSpPr>
            <a:spLocks noGrp="1"/>
          </p:cNvSpPr>
          <p:nvPr>
            <p:ph type="body" idx="1"/>
          </p:nvPr>
        </p:nvSpPr>
        <p:spPr bwMode="auto">
          <a:noFill/>
        </p:spPr>
        <p:txBody>
          <a:bodyPr/>
          <a:lstStyle/>
          <a:p>
            <a:pPr eaLnBrk="1" hangingPunct="1"/>
            <a:r>
              <a:rPr lang="en-US" dirty="0" smtClean="0">
                <a:cs typeface="Arial" charset="0"/>
              </a:rPr>
              <a:t>“Honesty is absolutely essential to leadership. If people are going to follow someone willingly, whether it be into battle or into the boardroom, they first want to assure themselves that the person is worthy of their trust.”  In addition to being honest, credible leaders are competent and inspiring. They are personally able to effectively communicate their confidence and enthusiasm. Thus, followers judge a leader’s </a:t>
            </a:r>
            <a:r>
              <a:rPr lang="en-US" b="1" dirty="0" smtClean="0">
                <a:cs typeface="Arial" charset="0"/>
              </a:rPr>
              <a:t>credibility </a:t>
            </a:r>
            <a:r>
              <a:rPr lang="en-US" dirty="0" smtClean="0">
                <a:cs typeface="Arial" charset="0"/>
              </a:rPr>
              <a:t>in terms of his or her honesty, competence, and ability to inspire.</a:t>
            </a:r>
          </a:p>
          <a:p>
            <a:pPr eaLnBrk="1" hangingPunct="1"/>
            <a:endParaRPr lang="en-US" dirty="0" smtClean="0">
              <a:cs typeface="Arial" charset="0"/>
            </a:endParaRPr>
          </a:p>
          <a:p>
            <a:pPr eaLnBrk="1" hangingPunct="1"/>
            <a:r>
              <a:rPr lang="en-US" dirty="0" smtClean="0">
                <a:cs typeface="Arial" charset="0"/>
              </a:rPr>
              <a:t>Trust is closely entwined with the concept of credibility, and, in fact, the terms are often used interchangeably. </a:t>
            </a:r>
            <a:r>
              <a:rPr lang="en-US" b="1" dirty="0" smtClean="0">
                <a:cs typeface="Arial" charset="0"/>
              </a:rPr>
              <a:t>Trust </a:t>
            </a:r>
            <a:r>
              <a:rPr lang="en-US" dirty="0" smtClean="0">
                <a:cs typeface="Arial" charset="0"/>
              </a:rPr>
              <a:t>is defined as the belief in the integrity, character, and ability of a leader. Followers who trust a leader are willing to be vulnerable to the leader’s actions because they are confident that their rights and interests will not be abused.</a:t>
            </a:r>
          </a:p>
        </p:txBody>
      </p:sp>
      <p:sp>
        <p:nvSpPr>
          <p:cNvPr id="4" name="Slide Number Placeholder 3"/>
          <p:cNvSpPr>
            <a:spLocks noGrp="1"/>
          </p:cNvSpPr>
          <p:nvPr>
            <p:ph type="sldNum" sz="quarter" idx="5"/>
          </p:nvPr>
        </p:nvSpPr>
        <p:spPr/>
        <p:txBody>
          <a:bodyPr/>
          <a:lstStyle/>
          <a:p>
            <a:pPr>
              <a:defRPr/>
            </a:pPr>
            <a:fld id="{A375D37E-7CCE-4723-A272-F77C2A6A7A13}" type="slidenum">
              <a:rPr lang="en-US" smtClean="0"/>
              <a:pPr>
                <a:defRPr/>
              </a:pPr>
              <a:t>33</a:t>
            </a:fld>
            <a:endParaRPr lang="en-US" dirty="0"/>
          </a:p>
        </p:txBody>
      </p:sp>
    </p:spTree>
    <p:extLst>
      <p:ext uri="{BB962C8B-B14F-4D97-AF65-F5344CB8AC3E}">
        <p14:creationId xmlns:p14="http://schemas.microsoft.com/office/powerpoint/2010/main" val="6888499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p:cNvSpPr>
            <a:spLocks noGrp="1" noRot="1" noChangeAspect="1"/>
          </p:cNvSpPr>
          <p:nvPr>
            <p:ph type="sldImg"/>
          </p:nvPr>
        </p:nvSpPr>
        <p:spPr bwMode="auto">
          <a:noFill/>
          <a:ln>
            <a:solidFill>
              <a:srgbClr val="000000"/>
            </a:solidFill>
            <a:miter lim="800000"/>
            <a:headEnd/>
            <a:tailEnd/>
          </a:ln>
        </p:spPr>
      </p:sp>
      <p:sp>
        <p:nvSpPr>
          <p:cNvPr id="102402" name="Notes Placeholder 2"/>
          <p:cNvSpPr>
            <a:spLocks noGrp="1"/>
          </p:cNvSpPr>
          <p:nvPr>
            <p:ph type="body" idx="1"/>
          </p:nvPr>
        </p:nvSpPr>
        <p:spPr bwMode="auto">
          <a:noFill/>
        </p:spPr>
        <p:txBody>
          <a:bodyPr/>
          <a:lstStyle/>
          <a:p>
            <a:pPr eaLnBrk="1" hangingPunct="1"/>
            <a:r>
              <a:rPr lang="en-US" dirty="0" smtClean="0">
                <a:cs typeface="Arial" charset="0"/>
              </a:rPr>
              <a:t>Research has identified five dimensions that make up the concept of trust:</a:t>
            </a:r>
          </a:p>
          <a:p>
            <a:pPr eaLnBrk="1" hangingPunct="1"/>
            <a:endParaRPr lang="en-US" dirty="0" smtClean="0">
              <a:cs typeface="Arial" charset="0"/>
            </a:endParaRPr>
          </a:p>
          <a:p>
            <a:pPr eaLnBrk="1" hangingPunct="1"/>
            <a:r>
              <a:rPr lang="en-US" dirty="0" smtClean="0">
                <a:cs typeface="Arial" charset="0"/>
              </a:rPr>
              <a:t>• </a:t>
            </a:r>
            <a:r>
              <a:rPr lang="en-US" i="1" dirty="0" smtClean="0">
                <a:cs typeface="Arial" charset="0"/>
              </a:rPr>
              <a:t>Integrity: </a:t>
            </a:r>
            <a:r>
              <a:rPr lang="en-US" dirty="0" smtClean="0">
                <a:cs typeface="Arial" charset="0"/>
              </a:rPr>
              <a:t>honesty and truthfulness</a:t>
            </a:r>
          </a:p>
          <a:p>
            <a:pPr eaLnBrk="1" hangingPunct="1"/>
            <a:r>
              <a:rPr lang="en-US" dirty="0" smtClean="0">
                <a:cs typeface="Arial" charset="0"/>
              </a:rPr>
              <a:t>• </a:t>
            </a:r>
            <a:r>
              <a:rPr lang="en-US" i="1" dirty="0" smtClean="0">
                <a:cs typeface="Arial" charset="0"/>
              </a:rPr>
              <a:t>Competence: </a:t>
            </a:r>
            <a:r>
              <a:rPr lang="en-US" dirty="0" smtClean="0">
                <a:cs typeface="Arial" charset="0"/>
              </a:rPr>
              <a:t>technical and interpersonal knowledge and skills</a:t>
            </a:r>
          </a:p>
          <a:p>
            <a:pPr eaLnBrk="1" hangingPunct="1"/>
            <a:r>
              <a:rPr lang="en-US" dirty="0" smtClean="0">
                <a:cs typeface="Arial" charset="0"/>
              </a:rPr>
              <a:t>• </a:t>
            </a:r>
            <a:r>
              <a:rPr lang="en-US" i="1" dirty="0" smtClean="0">
                <a:cs typeface="Arial" charset="0"/>
              </a:rPr>
              <a:t>Consistency: </a:t>
            </a:r>
            <a:r>
              <a:rPr lang="en-US" dirty="0" smtClean="0">
                <a:cs typeface="Arial" charset="0"/>
              </a:rPr>
              <a:t>reliability, predictability, and good judgment in handling situations</a:t>
            </a:r>
          </a:p>
          <a:p>
            <a:pPr eaLnBrk="1" hangingPunct="1"/>
            <a:r>
              <a:rPr lang="en-US" dirty="0" smtClean="0">
                <a:cs typeface="Arial" charset="0"/>
              </a:rPr>
              <a:t>• </a:t>
            </a:r>
            <a:r>
              <a:rPr lang="en-US" i="1" dirty="0" smtClean="0">
                <a:cs typeface="Arial" charset="0"/>
              </a:rPr>
              <a:t>Loyalty: </a:t>
            </a:r>
            <a:r>
              <a:rPr lang="en-US" dirty="0" smtClean="0">
                <a:cs typeface="Arial" charset="0"/>
              </a:rPr>
              <a:t>willingness to protect a person, physically and emotionally</a:t>
            </a:r>
          </a:p>
          <a:p>
            <a:pPr eaLnBrk="1" hangingPunct="1"/>
            <a:r>
              <a:rPr lang="en-US" dirty="0" smtClean="0">
                <a:cs typeface="Arial" charset="0"/>
              </a:rPr>
              <a:t>• </a:t>
            </a:r>
            <a:r>
              <a:rPr lang="en-US" i="1" dirty="0" smtClean="0">
                <a:cs typeface="Arial" charset="0"/>
              </a:rPr>
              <a:t>Openness: </a:t>
            </a:r>
            <a:r>
              <a:rPr lang="en-US" dirty="0" smtClean="0">
                <a:cs typeface="Arial" charset="0"/>
              </a:rPr>
              <a:t>willingness to share ideas and information freely</a:t>
            </a:r>
          </a:p>
          <a:p>
            <a:pPr eaLnBrk="1" hangingPunct="1"/>
            <a:endParaRPr lang="en-US" dirty="0" smtClean="0">
              <a:cs typeface="Arial" charset="0"/>
            </a:endParaRPr>
          </a:p>
          <a:p>
            <a:pPr eaLnBrk="1" hangingPunct="1"/>
            <a:r>
              <a:rPr lang="en-US" dirty="0" smtClean="0">
                <a:cs typeface="Arial" charset="0"/>
              </a:rPr>
              <a:t>Of these five dimensions, integrity seems to be the most critical when someone assesses another’s trustworthiness.</a:t>
            </a:r>
          </a:p>
        </p:txBody>
      </p:sp>
      <p:sp>
        <p:nvSpPr>
          <p:cNvPr id="4" name="Slide Number Placeholder 3"/>
          <p:cNvSpPr>
            <a:spLocks noGrp="1"/>
          </p:cNvSpPr>
          <p:nvPr>
            <p:ph type="sldNum" sz="quarter" idx="5"/>
          </p:nvPr>
        </p:nvSpPr>
        <p:spPr/>
        <p:txBody>
          <a:bodyPr/>
          <a:lstStyle/>
          <a:p>
            <a:pPr>
              <a:defRPr/>
            </a:pPr>
            <a:fld id="{5FF52220-8C75-49BD-B07E-E604BE5C017A}" type="slidenum">
              <a:rPr lang="en-US" smtClean="0"/>
              <a:pPr>
                <a:defRPr/>
              </a:pPr>
              <a:t>34</a:t>
            </a:fld>
            <a:endParaRPr lang="en-US" dirty="0"/>
          </a:p>
        </p:txBody>
      </p:sp>
    </p:spTree>
    <p:extLst>
      <p:ext uri="{BB962C8B-B14F-4D97-AF65-F5344CB8AC3E}">
        <p14:creationId xmlns:p14="http://schemas.microsoft.com/office/powerpoint/2010/main" val="2351270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p:cNvSpPr>
          <p:nvPr>
            <p:ph type="sldImg"/>
          </p:nvPr>
        </p:nvSpPr>
        <p:spPr bwMode="auto">
          <a:noFill/>
          <a:ln>
            <a:solidFill>
              <a:srgbClr val="000000"/>
            </a:solidFill>
            <a:miter lim="800000"/>
            <a:headEnd/>
            <a:tailEnd/>
          </a:ln>
        </p:spPr>
      </p:sp>
      <p:sp>
        <p:nvSpPr>
          <p:cNvPr id="104450" name="Notes Placeholder 2"/>
          <p:cNvSpPr>
            <a:spLocks noGrp="1"/>
          </p:cNvSpPr>
          <p:nvPr>
            <p:ph type="body" idx="1"/>
          </p:nvPr>
        </p:nvSpPr>
        <p:spPr bwMode="auto">
          <a:noFill/>
        </p:spPr>
        <p:txBody>
          <a:bodyPr/>
          <a:lstStyle/>
          <a:p>
            <a:pPr eaLnBrk="1" hangingPunct="1"/>
            <a:r>
              <a:rPr lang="en-US" dirty="0" smtClean="0">
                <a:cs typeface="Arial" charset="0"/>
              </a:rPr>
              <a:t>Given the importance of trust to effective leadership, how can leaders build trust? Exhibit 17-6 lists some suggestions. </a:t>
            </a:r>
          </a:p>
        </p:txBody>
      </p:sp>
      <p:sp>
        <p:nvSpPr>
          <p:cNvPr id="4" name="Slide Number Placeholder 3"/>
          <p:cNvSpPr>
            <a:spLocks noGrp="1"/>
          </p:cNvSpPr>
          <p:nvPr>
            <p:ph type="sldNum" sz="quarter" idx="5"/>
          </p:nvPr>
        </p:nvSpPr>
        <p:spPr/>
        <p:txBody>
          <a:bodyPr/>
          <a:lstStyle/>
          <a:p>
            <a:pPr>
              <a:defRPr/>
            </a:pPr>
            <a:fld id="{10B41C5A-D545-4BC0-A93B-A68F4D04A95B}" type="slidenum">
              <a:rPr lang="en-US" smtClean="0"/>
              <a:pPr>
                <a:defRPr/>
              </a:pPr>
              <a:t>35</a:t>
            </a:fld>
            <a:endParaRPr lang="en-US" dirty="0"/>
          </a:p>
        </p:txBody>
      </p:sp>
    </p:spTree>
    <p:extLst>
      <p:ext uri="{BB962C8B-B14F-4D97-AF65-F5344CB8AC3E}">
        <p14:creationId xmlns:p14="http://schemas.microsoft.com/office/powerpoint/2010/main" val="5057019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a:lstStyle/>
          <a:p>
            <a:pPr eaLnBrk="1" hangingPunct="1"/>
            <a:r>
              <a:rPr lang="en-US" dirty="0" smtClean="0">
                <a:cs typeface="Arial" charset="0"/>
              </a:rPr>
              <a:t>As we’ve described in different places throughout the text, managers are increasingly leading by empowering their employees. As we’ve said before, empowerment involves increasing the decision-making discretion of workers. Millions of individual employees and employee teams are making the key operating decisions that directly affect their work. They’re developing budgets, scheduling workloads, controlling inventories,</a:t>
            </a:r>
            <a:r>
              <a:rPr lang="en-US" baseline="0" dirty="0" smtClean="0">
                <a:cs typeface="Arial" charset="0"/>
              </a:rPr>
              <a:t> </a:t>
            </a:r>
            <a:r>
              <a:rPr lang="en-US" dirty="0" smtClean="0">
                <a:cs typeface="Arial" charset="0"/>
              </a:rPr>
              <a:t>solving quality problems, and engaging in similar activities that until very recently were viewed exclusively as part of the manager’s job.</a:t>
            </a:r>
          </a:p>
        </p:txBody>
      </p:sp>
      <p:sp>
        <p:nvSpPr>
          <p:cNvPr id="4" name="Slide Number Placeholder 3"/>
          <p:cNvSpPr>
            <a:spLocks noGrp="1"/>
          </p:cNvSpPr>
          <p:nvPr>
            <p:ph type="sldNum" sz="quarter" idx="5"/>
          </p:nvPr>
        </p:nvSpPr>
        <p:spPr/>
        <p:txBody>
          <a:bodyPr/>
          <a:lstStyle/>
          <a:p>
            <a:pPr>
              <a:defRPr/>
            </a:pPr>
            <a:fld id="{F1EB01C1-A085-41B8-94B8-B0DE0AB47836}" type="slidenum">
              <a:rPr lang="en-US" smtClean="0"/>
              <a:pPr>
                <a:defRPr/>
              </a:pPr>
              <a:t>36</a:t>
            </a:fld>
            <a:endParaRPr lang="en-US" dirty="0"/>
          </a:p>
        </p:txBody>
      </p:sp>
    </p:spTree>
    <p:extLst>
      <p:ext uri="{BB962C8B-B14F-4D97-AF65-F5344CB8AC3E}">
        <p14:creationId xmlns:p14="http://schemas.microsoft.com/office/powerpoint/2010/main" val="4191707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bwMode="auto">
          <a:noFill/>
          <a:ln>
            <a:solidFill>
              <a:srgbClr val="000000"/>
            </a:solidFill>
            <a:miter lim="800000"/>
            <a:headEnd/>
            <a:tailEnd/>
          </a:ln>
        </p:spPr>
      </p:sp>
      <p:sp>
        <p:nvSpPr>
          <p:cNvPr id="108546" name="Notes Placeholder 2"/>
          <p:cNvSpPr>
            <a:spLocks noGrp="1"/>
          </p:cNvSpPr>
          <p:nvPr>
            <p:ph type="body" idx="1"/>
          </p:nvPr>
        </p:nvSpPr>
        <p:spPr bwMode="auto">
          <a:noFill/>
        </p:spPr>
        <p:txBody>
          <a:bodyPr/>
          <a:lstStyle/>
          <a:p>
            <a:pPr eaLnBrk="1" hangingPunct="1"/>
            <a:r>
              <a:rPr lang="en-US" dirty="0" smtClean="0">
                <a:cs typeface="Arial" charset="0"/>
              </a:rPr>
              <a:t>One general conclusion that surfaces from leadership research is that effective leaders do not use a single style. They adjust their style to the  situation. Although not mentioned explicitly, national culture is certainly an important situational variable in determining which leadership style will be most effective. What works in China isn’t likely to be effective in France or Canada. For instance, one study of Asian leadership</a:t>
            </a:r>
          </a:p>
          <a:p>
            <a:pPr eaLnBrk="1" hangingPunct="1"/>
            <a:r>
              <a:rPr lang="en-US" dirty="0" smtClean="0">
                <a:cs typeface="Arial" charset="0"/>
              </a:rPr>
              <a:t>styles revealed that Asian managers preferred leaders who were competent decision makers, effective communicators, and supportive of employees.</a:t>
            </a:r>
          </a:p>
          <a:p>
            <a:pPr eaLnBrk="1" hangingPunct="1"/>
            <a:endParaRPr lang="en-US" dirty="0" smtClean="0">
              <a:cs typeface="Arial" charset="0"/>
            </a:endParaRPr>
          </a:p>
          <a:p>
            <a:pPr eaLnBrk="1" hangingPunct="1"/>
            <a:r>
              <a:rPr lang="en-US" dirty="0" smtClean="0">
                <a:cs typeface="Arial" charset="0"/>
              </a:rPr>
              <a:t>National culture affects leadership style because it influences how followers will respond. Leaders can’t (and shouldn’t) just choose their styles randomly. They’re constrained by the cultural conditions their followers have come to expect.</a:t>
            </a:r>
          </a:p>
        </p:txBody>
      </p:sp>
      <p:sp>
        <p:nvSpPr>
          <p:cNvPr id="4" name="Slide Number Placeholder 3"/>
          <p:cNvSpPr>
            <a:spLocks noGrp="1"/>
          </p:cNvSpPr>
          <p:nvPr>
            <p:ph type="sldNum" sz="quarter" idx="5"/>
          </p:nvPr>
        </p:nvSpPr>
        <p:spPr/>
        <p:txBody>
          <a:bodyPr/>
          <a:lstStyle/>
          <a:p>
            <a:pPr>
              <a:defRPr/>
            </a:pPr>
            <a:fld id="{7C2DA882-AF28-4796-99BE-53711A7613A9}" type="slidenum">
              <a:rPr lang="en-US" smtClean="0"/>
              <a:pPr>
                <a:defRPr/>
              </a:pPr>
              <a:t>37</a:t>
            </a:fld>
            <a:endParaRPr lang="en-US" dirty="0"/>
          </a:p>
        </p:txBody>
      </p:sp>
    </p:spTree>
    <p:extLst>
      <p:ext uri="{BB962C8B-B14F-4D97-AF65-F5344CB8AC3E}">
        <p14:creationId xmlns:p14="http://schemas.microsoft.com/office/powerpoint/2010/main" val="11237752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a:lstStyle/>
          <a:p>
            <a:pPr eaLnBrk="1" hangingPunct="1"/>
            <a:r>
              <a:rPr lang="en-US" dirty="0" smtClean="0">
                <a:cs typeface="Arial" charset="0"/>
              </a:rPr>
              <a:t>Exhibit 17-7 provides some findings from selected examples of cross-cultural leadership studies. Because most leadership theories were developed in the United States, they have an American bias.</a:t>
            </a:r>
          </a:p>
        </p:txBody>
      </p:sp>
      <p:sp>
        <p:nvSpPr>
          <p:cNvPr id="4" name="Slide Number Placeholder 3"/>
          <p:cNvSpPr>
            <a:spLocks noGrp="1"/>
          </p:cNvSpPr>
          <p:nvPr>
            <p:ph type="sldNum" sz="quarter" idx="5"/>
          </p:nvPr>
        </p:nvSpPr>
        <p:spPr/>
        <p:txBody>
          <a:bodyPr/>
          <a:lstStyle/>
          <a:p>
            <a:pPr>
              <a:defRPr/>
            </a:pPr>
            <a:fld id="{D32DAC4A-6A2B-48F1-8D1E-749848521472}" type="slidenum">
              <a:rPr lang="en-US" smtClean="0"/>
              <a:pPr>
                <a:defRPr/>
              </a:pPr>
              <a:t>38</a:t>
            </a:fld>
            <a:endParaRPr lang="en-US" dirty="0"/>
          </a:p>
        </p:txBody>
      </p:sp>
    </p:spTree>
    <p:extLst>
      <p:ext uri="{BB962C8B-B14F-4D97-AF65-F5344CB8AC3E}">
        <p14:creationId xmlns:p14="http://schemas.microsoft.com/office/powerpoint/2010/main" val="4987475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p:cNvSpPr>
          <p:nvPr>
            <p:ph type="sldImg"/>
          </p:nvPr>
        </p:nvSpPr>
        <p:spPr bwMode="auto">
          <a:noFill/>
          <a:ln>
            <a:solidFill>
              <a:srgbClr val="000000"/>
            </a:solidFill>
            <a:miter lim="800000"/>
            <a:headEnd/>
            <a:tailEnd/>
          </a:ln>
        </p:spPr>
      </p:sp>
      <p:sp>
        <p:nvSpPr>
          <p:cNvPr id="112642" name="Notes Placeholder 2"/>
          <p:cNvSpPr>
            <a:spLocks noGrp="1"/>
          </p:cNvSpPr>
          <p:nvPr>
            <p:ph type="body" idx="1"/>
          </p:nvPr>
        </p:nvSpPr>
        <p:spPr bwMode="auto">
          <a:noFill/>
        </p:spPr>
        <p:txBody>
          <a:bodyPr/>
          <a:lstStyle/>
          <a:p>
            <a:pPr eaLnBrk="1" hangingPunct="1"/>
            <a:r>
              <a:rPr lang="en-US" smtClean="0">
                <a:cs typeface="Arial" charset="0"/>
              </a:rPr>
              <a:t>Evidence indicates that leadership training is more likely to be successful with individuals who are high self-monitors than with low self-monitors.</a:t>
            </a:r>
          </a:p>
          <a:p>
            <a:pPr eaLnBrk="1" hangingPunct="1"/>
            <a:endParaRPr lang="en-US" smtClean="0">
              <a:cs typeface="Arial" charset="0"/>
            </a:endParaRPr>
          </a:p>
          <a:p>
            <a:pPr eaLnBrk="1" hangingPunct="1"/>
            <a:r>
              <a:rPr lang="en-US" smtClean="0">
                <a:cs typeface="Arial" charset="0"/>
              </a:rPr>
              <a:t>Such individuals have the flexibility to change their behavior as different situations may require. In addition, organizations may find that individuals with higher levels of a trait called motivation to lead are more receptive to leadership development opportunities.</a:t>
            </a:r>
          </a:p>
        </p:txBody>
      </p:sp>
      <p:sp>
        <p:nvSpPr>
          <p:cNvPr id="4" name="Slide Number Placeholder 3"/>
          <p:cNvSpPr>
            <a:spLocks noGrp="1"/>
          </p:cNvSpPr>
          <p:nvPr>
            <p:ph type="sldNum" sz="quarter" idx="5"/>
          </p:nvPr>
        </p:nvSpPr>
        <p:spPr/>
        <p:txBody>
          <a:bodyPr/>
          <a:lstStyle/>
          <a:p>
            <a:pPr>
              <a:defRPr/>
            </a:pPr>
            <a:fld id="{5B9603A4-5EF2-4DC3-9B2C-BB1BAC3539ED}" type="slidenum">
              <a:rPr lang="en-US" smtClean="0"/>
              <a:pPr>
                <a:defRPr/>
              </a:pPr>
              <a:t>39</a:t>
            </a:fld>
            <a:endParaRPr lang="en-US" dirty="0"/>
          </a:p>
        </p:txBody>
      </p:sp>
    </p:spTree>
    <p:extLst>
      <p:ext uri="{BB962C8B-B14F-4D97-AF65-F5344CB8AC3E}">
        <p14:creationId xmlns:p14="http://schemas.microsoft.com/office/powerpoint/2010/main" val="728720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1828800" y="1905000"/>
            <a:ext cx="3238500" cy="3230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19700" y="1905000"/>
            <a:ext cx="3238500" cy="3230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48609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4860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4" name="Footer Placeholder 4"/>
          <p:cNvSpPr txBox="1">
            <a:spLocks/>
          </p:cNvSpPr>
          <p:nvPr/>
        </p:nvSpPr>
        <p:spPr>
          <a:xfrm>
            <a:off x="3124200" y="6492875"/>
            <a:ext cx="2895600" cy="365125"/>
          </a:xfrm>
          <a:prstGeom prst="rect">
            <a:avLst/>
          </a:prstGeom>
        </p:spPr>
        <p:txBody>
          <a:bodyPr anchor="ctr"/>
          <a:lstStyle>
            <a:lvl1pPr algn="ctr" fontAlgn="auto">
              <a:spcBef>
                <a:spcPts val="0"/>
              </a:spcBef>
              <a:spcAft>
                <a:spcPts val="0"/>
              </a:spcAft>
              <a:defRPr sz="1200">
                <a:solidFill>
                  <a:schemeClr val="bg1"/>
                </a:solidFill>
                <a:latin typeface="+mn-lt"/>
                <a:cs typeface="+mn-cs"/>
              </a:defRPr>
            </a:lvl1pPr>
          </a:lstStyle>
          <a:p>
            <a:pPr>
              <a:defRPr/>
            </a:pPr>
            <a:r>
              <a:rPr lang="en-US" dirty="0" smtClean="0"/>
              <a:t>Copyright © 2012 Pearson Education, Inc. Publishing as Prentice Hall </a:t>
            </a:r>
            <a:endParaRPr lang="en-US" dirty="0"/>
          </a:p>
        </p:txBody>
      </p:sp>
      <p:sp>
        <p:nvSpPr>
          <p:cNvPr id="5" name="Rectangle 7"/>
          <p:cNvSpPr>
            <a:spLocks noChangeArrowheads="1"/>
          </p:cNvSpPr>
          <p:nvPr/>
        </p:nvSpPr>
        <p:spPr bwMode="auto">
          <a:xfrm>
            <a:off x="0" y="6324600"/>
            <a:ext cx="9144000" cy="533400"/>
          </a:xfrm>
          <a:prstGeom prst="rect">
            <a:avLst/>
          </a:prstGeom>
          <a:solidFill>
            <a:srgbClr val="F47024"/>
          </a:solidFill>
          <a:ln>
            <a:noFill/>
          </a:ln>
          <a:extLst/>
        </p:spPr>
        <p:txBody>
          <a:bodyPr anchor="ctr"/>
          <a:lstStyle/>
          <a:p>
            <a:pPr algn="ctr">
              <a:defRPr/>
            </a:pPr>
            <a:endParaRPr lang="en-US" dirty="0">
              <a:solidFill>
                <a:schemeClr val="accent1"/>
              </a:solidFill>
              <a:latin typeface="Calibri" pitchFamily="64" charset="0"/>
            </a:endParaRPr>
          </a:p>
        </p:txBody>
      </p:sp>
      <p:sp>
        <p:nvSpPr>
          <p:cNvPr id="6" name="Text Box 8"/>
          <p:cNvSpPr txBox="1">
            <a:spLocks noChangeArrowheads="1"/>
          </p:cNvSpPr>
          <p:nvPr/>
        </p:nvSpPr>
        <p:spPr bwMode="auto">
          <a:xfrm>
            <a:off x="2209800" y="6477000"/>
            <a:ext cx="4648200" cy="274638"/>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r>
              <a:rPr lang="en-US" sz="1200" b="1" dirty="0">
                <a:solidFill>
                  <a:schemeClr val="bg1"/>
                </a:solidFill>
                <a:latin typeface="Calibri" pitchFamily="34" charset="0"/>
              </a:rPr>
              <a:t>Copyright © 2014 Pearson Education, Inc. publishing as Prentice Hall</a:t>
            </a:r>
          </a:p>
        </p:txBody>
      </p:sp>
      <p:sp>
        <p:nvSpPr>
          <p:cNvPr id="7" name="Text Box 10"/>
          <p:cNvSpPr txBox="1">
            <a:spLocks noChangeArrowheads="1"/>
          </p:cNvSpPr>
          <p:nvPr/>
        </p:nvSpPr>
        <p:spPr bwMode="auto">
          <a:xfrm>
            <a:off x="8305800" y="6477000"/>
            <a:ext cx="838200" cy="277813"/>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spcBef>
                <a:spcPct val="50000"/>
              </a:spcBef>
              <a:defRPr/>
            </a:pPr>
            <a:r>
              <a:rPr lang="en-US" sz="1200" b="1" dirty="0" smtClean="0">
                <a:solidFill>
                  <a:schemeClr val="bg1"/>
                </a:solidFill>
              </a:rPr>
              <a:t>18-</a:t>
            </a:r>
            <a:fld id="{B2ADC857-DBEA-48FE-AEC1-3C49F59CCE55}" type="slidenum">
              <a:rPr lang="en-US" sz="1200" b="1" smtClean="0">
                <a:solidFill>
                  <a:schemeClr val="bg1"/>
                </a:solidFill>
              </a:rPr>
              <a:pPr>
                <a:spcBef>
                  <a:spcPct val="50000"/>
                </a:spcBef>
                <a:defRPr/>
              </a:pPr>
              <a:t>‹#›</a:t>
            </a:fld>
            <a:r>
              <a:rPr lang="en-US" sz="1200" b="1" dirty="0" smtClean="0">
                <a:solidFill>
                  <a:schemeClr val="bg1"/>
                </a:solidFill>
              </a:rPr>
              <a:t> </a:t>
            </a:r>
            <a:endParaRPr lang="en-US" sz="1200" b="1" dirty="0">
              <a:solidFill>
                <a:schemeClr val="bg1"/>
              </a:solidFill>
            </a:endParaRPr>
          </a:p>
        </p:txBody>
      </p:sp>
      <p:pic>
        <p:nvPicPr>
          <p:cNvPr id="8" name="Picture 9"/>
          <p:cNvPicPr>
            <a:picLocks noChangeAspect="1" noChangeArrowheads="1"/>
          </p:cNvPicPr>
          <p:nvPr userDrawn="1"/>
        </p:nvPicPr>
        <p:blipFill>
          <a:blip r:embed="rId2" cstate="print"/>
          <a:srcRect/>
          <a:stretch>
            <a:fillRect/>
          </a:stretch>
        </p:blipFill>
        <p:spPr bwMode="auto">
          <a:xfrm>
            <a:off x="5348288" y="4495800"/>
            <a:ext cx="366712" cy="1524000"/>
          </a:xfrm>
          <a:prstGeom prst="rect">
            <a:avLst/>
          </a:prstGeom>
          <a:noFill/>
          <a:ln w="9525">
            <a:noFill/>
            <a:miter lim="800000"/>
            <a:headEnd/>
            <a:tailEnd/>
          </a:ln>
        </p:spPr>
      </p:pic>
      <p:sp>
        <p:nvSpPr>
          <p:cNvPr id="103430" name="Title Placeholder 1"/>
          <p:cNvSpPr>
            <a:spLocks noGrp="1"/>
          </p:cNvSpPr>
          <p:nvPr>
            <p:ph type="ctrTitle"/>
          </p:nvPr>
        </p:nvSpPr>
        <p:spPr>
          <a:xfrm>
            <a:off x="4724400" y="1219200"/>
            <a:ext cx="3505200" cy="1470025"/>
          </a:xfrm>
        </p:spPr>
        <p:txBody>
          <a:bodyPr/>
          <a:lstStyle>
            <a:lvl1pPr algn="l">
              <a:defRPr sz="3600" smtClean="0">
                <a:solidFill>
                  <a:srgbClr val="F47024"/>
                </a:solidFill>
                <a:latin typeface="HelveticaNeue-Light" charset="0"/>
              </a:defRPr>
            </a:lvl1pPr>
          </a:lstStyle>
          <a:p>
            <a:pPr lvl="0"/>
            <a:r>
              <a:rPr lang="en-US" noProof="0" smtClean="0"/>
              <a:t>Click to edit Master title style</a:t>
            </a:r>
          </a:p>
        </p:txBody>
      </p:sp>
      <p:sp>
        <p:nvSpPr>
          <p:cNvPr id="103431" name="Text Placeholder 2"/>
          <p:cNvSpPr>
            <a:spLocks noGrp="1"/>
          </p:cNvSpPr>
          <p:nvPr>
            <p:ph type="subTitle" idx="1"/>
          </p:nvPr>
        </p:nvSpPr>
        <p:spPr>
          <a:xfrm>
            <a:off x="4800600" y="2514600"/>
            <a:ext cx="3124200" cy="1752600"/>
          </a:xfrm>
        </p:spPr>
        <p:txBody>
          <a:bodyPr/>
          <a:lstStyle>
            <a:lvl1pPr marL="0" indent="0">
              <a:buFont typeface="Arial" pitchFamily="34" charset="0"/>
              <a:buNone/>
              <a:defRPr sz="3600" smtClean="0">
                <a:solidFill>
                  <a:srgbClr val="897DBB"/>
                </a:solidFill>
                <a:latin typeface="HelveticaNeue-Bold" charset="0"/>
              </a:defRPr>
            </a:lvl1pPr>
          </a:lstStyle>
          <a:p>
            <a:pPr lvl="0"/>
            <a:r>
              <a:rPr lang="en-US" noProof="0" smtClean="0"/>
              <a:t>Click to edit Master subtitle style</a:t>
            </a:r>
          </a:p>
        </p:txBody>
      </p:sp>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ooter Placeholder 4"/>
          <p:cNvSpPr txBox="1">
            <a:spLocks/>
          </p:cNvSpPr>
          <p:nvPr/>
        </p:nvSpPr>
        <p:spPr>
          <a:xfrm>
            <a:off x="3124200" y="6492875"/>
            <a:ext cx="2895600" cy="365125"/>
          </a:xfrm>
          <a:prstGeom prst="rect">
            <a:avLst/>
          </a:prstGeom>
        </p:spPr>
        <p:txBody>
          <a:bodyPr anchor="ctr"/>
          <a:lstStyle>
            <a:lvl1pPr algn="ctr" fontAlgn="auto">
              <a:spcBef>
                <a:spcPts val="0"/>
              </a:spcBef>
              <a:spcAft>
                <a:spcPts val="0"/>
              </a:spcAft>
              <a:defRPr sz="1200">
                <a:solidFill>
                  <a:schemeClr val="bg1"/>
                </a:solidFill>
                <a:latin typeface="+mn-lt"/>
                <a:cs typeface="+mn-cs"/>
              </a:defRPr>
            </a:lvl1pPr>
          </a:lstStyle>
          <a:p>
            <a:pPr>
              <a:defRPr/>
            </a:pPr>
            <a:r>
              <a:rPr lang="en-US" dirty="0" smtClean="0"/>
              <a:t>Copyright © 2012 Pearson Education, Inc. Publishing as Prentice Hall </a:t>
            </a:r>
            <a:endParaRPr lang="en-US" dirty="0"/>
          </a:p>
        </p:txBody>
      </p:sp>
      <p:sp>
        <p:nvSpPr>
          <p:cNvPr id="5" name="Rectangle 4"/>
          <p:cNvSpPr>
            <a:spLocks noChangeArrowheads="1"/>
          </p:cNvSpPr>
          <p:nvPr/>
        </p:nvSpPr>
        <p:spPr bwMode="auto">
          <a:xfrm>
            <a:off x="0" y="6324600"/>
            <a:ext cx="9144000" cy="533400"/>
          </a:xfrm>
          <a:prstGeom prst="rect">
            <a:avLst/>
          </a:prstGeom>
          <a:solidFill>
            <a:srgbClr val="F47024"/>
          </a:solidFill>
          <a:ln>
            <a:noFill/>
          </a:ln>
          <a:extLst/>
        </p:spPr>
        <p:txBody>
          <a:bodyPr anchor="ctr"/>
          <a:lstStyle/>
          <a:p>
            <a:pPr algn="ctr">
              <a:defRPr/>
            </a:pPr>
            <a:endParaRPr lang="en-US" dirty="0">
              <a:solidFill>
                <a:schemeClr val="accent1"/>
              </a:solidFill>
              <a:latin typeface="Calibri" pitchFamily="64" charset="0"/>
            </a:endParaRPr>
          </a:p>
        </p:txBody>
      </p:sp>
      <p:sp>
        <p:nvSpPr>
          <p:cNvPr id="6" name="Text Box 8"/>
          <p:cNvSpPr txBox="1">
            <a:spLocks noChangeArrowheads="1"/>
          </p:cNvSpPr>
          <p:nvPr/>
        </p:nvSpPr>
        <p:spPr bwMode="auto">
          <a:xfrm>
            <a:off x="2209800" y="6477000"/>
            <a:ext cx="4648200" cy="274638"/>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r>
              <a:rPr lang="en-US" sz="1200" b="1" dirty="0">
                <a:solidFill>
                  <a:schemeClr val="bg1"/>
                </a:solidFill>
                <a:latin typeface="Calibri" pitchFamily="34" charset="0"/>
              </a:rPr>
              <a:t>Copyright © 2014 Pearson Education, Inc. publishing as Prentice Hall</a:t>
            </a:r>
          </a:p>
        </p:txBody>
      </p:sp>
      <p:sp>
        <p:nvSpPr>
          <p:cNvPr id="7" name="Text Box 10"/>
          <p:cNvSpPr txBox="1">
            <a:spLocks noChangeArrowheads="1"/>
          </p:cNvSpPr>
          <p:nvPr userDrawn="1"/>
        </p:nvSpPr>
        <p:spPr bwMode="auto">
          <a:xfrm>
            <a:off x="8305800" y="6477000"/>
            <a:ext cx="838200" cy="277813"/>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spcBef>
                <a:spcPct val="50000"/>
              </a:spcBef>
              <a:defRPr/>
            </a:pPr>
            <a:r>
              <a:rPr lang="en-US" sz="1200" b="1" dirty="0" smtClean="0">
                <a:solidFill>
                  <a:schemeClr val="bg1"/>
                </a:solidFill>
              </a:rPr>
              <a:t>18-</a:t>
            </a:r>
            <a:fld id="{D64D150D-1444-4496-AFA9-D1D0C5CC1D6A}" type="slidenum">
              <a:rPr lang="en-US" sz="1200" b="1" smtClean="0">
                <a:solidFill>
                  <a:schemeClr val="bg1"/>
                </a:solidFill>
              </a:rPr>
              <a:pPr>
                <a:spcBef>
                  <a:spcPct val="50000"/>
                </a:spcBef>
                <a:defRPr/>
              </a:pPr>
              <a:t>‹#›</a:t>
            </a:fld>
            <a:r>
              <a:rPr lang="en-US" sz="1200" b="1" dirty="0" smtClean="0">
                <a:solidFill>
                  <a:schemeClr val="bg1"/>
                </a:solidFill>
              </a:rPr>
              <a:t> </a:t>
            </a:r>
            <a:endParaRPr lang="en-US" sz="1200" b="1" dirty="0">
              <a:solidFill>
                <a:schemeClr val="bg1"/>
              </a:solidFill>
            </a:endParaRPr>
          </a:p>
        </p:txBody>
      </p:sp>
      <p:cxnSp>
        <p:nvCxnSpPr>
          <p:cNvPr id="8" name="Straight Connector 7"/>
          <p:cNvCxnSpPr>
            <a:cxnSpLocks noChangeShapeType="1"/>
          </p:cNvCxnSpPr>
          <p:nvPr/>
        </p:nvCxnSpPr>
        <p:spPr bwMode="auto">
          <a:xfrm>
            <a:off x="457200" y="1371600"/>
            <a:ext cx="8229600" cy="0"/>
          </a:xfrm>
          <a:prstGeom prst="line">
            <a:avLst/>
          </a:prstGeom>
          <a:noFill/>
          <a:ln w="44450" algn="ctr">
            <a:solidFill>
              <a:srgbClr val="897DBB"/>
            </a:solidFill>
            <a:round/>
            <a:headEnd/>
            <a:tailEnd/>
          </a:ln>
        </p:spPr>
      </p:cxn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283031A-7A20-432D-B0B9-45CAE3E939B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259DEF-6BB4-41A5-B3DF-EFAE0DBC071C}"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398674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pic>
        <p:nvPicPr>
          <p:cNvPr id="5"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2133600" y="65532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619FBDE-05AD-4BB7-8B14-4E40445AB76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1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1AC919-D30A-40F5-9211-87377D1F4CEC}"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323930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E8AC670-7FF3-433A-A0B4-0ABCE4D4260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F527C31-5479-4D69-8B20-DC40CECE5D3D}"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9071590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71C2DBE-694B-4E29-A751-AC9CB11A2AA7}"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FF6F4FB-1AE1-4B86-A74B-6F118D6E6C8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383155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D34B419-E071-42DE-9596-2F276072A9F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2E0B1B7-5561-4076-BF63-D70F8AF4053B}"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3424219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pic>
        <p:nvPicPr>
          <p:cNvPr id="4"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8"/>
          <p:cNvGrpSpPr>
            <a:grpSpLocks/>
          </p:cNvGrpSpPr>
          <p:nvPr userDrawn="1"/>
        </p:nvGrpSpPr>
        <p:grpSpPr bwMode="auto">
          <a:xfrm>
            <a:off x="2133600" y="65532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 name="Group 12"/>
          <p:cNvGrpSpPr>
            <a:grpSpLocks/>
          </p:cNvGrpSpPr>
          <p:nvPr userDrawn="1"/>
        </p:nvGrpSpPr>
        <p:grpSpPr bwMode="auto">
          <a:xfrm>
            <a:off x="0" y="12954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13" name="Date Placeholder 2"/>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FE721F-6C52-4F2B-B0BE-237B32CD54FD}"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4" name="Footer Placeholder 3"/>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1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48F3F4F-4CA1-4CD2-9310-052A7EF934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3694624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F15BC6D-53DA-4B83-9E7D-A4EA222A1404}"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8BD9F45-633E-421D-882A-1EA74031CAF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634662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4D66219-815E-43FA-A413-29A92393B621}"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2CBC90F-C6A6-4315-992C-C25C041776DA}"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775408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319B1A3-CA3C-4632-AB61-F30D65B76458}"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B80CB4B-3C32-49DF-A9EB-2C7E1D036BF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558993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98CC088-9651-44EC-BE0A-8A6AB12C11F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4D65650-6671-43C6-8B8E-97E787F17E2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8833067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36B663B-93B7-4154-90FB-EA15A8C918C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983979-1CEF-4A00-9363-9259D5F4FBB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885260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1"/>
          <p:cNvGrpSpPr>
            <a:grpSpLocks/>
          </p:cNvGrpSpPr>
          <p:nvPr userDrawn="1"/>
        </p:nvGrpSpPr>
        <p:grpSpPr bwMode="auto">
          <a:xfrm>
            <a:off x="-76200" y="5257800"/>
            <a:ext cx="2209800" cy="685800"/>
            <a:chOff x="76200" y="2209800"/>
            <a:chExt cx="2209800" cy="685800"/>
          </a:xfrm>
        </p:grpSpPr>
        <p:sp>
          <p:nvSpPr>
            <p:cNvPr id="11" name="TextBox 10"/>
            <p:cNvSpPr txBox="1"/>
            <p:nvPr userDrawn="1"/>
          </p:nvSpPr>
          <p:spPr>
            <a:xfrm>
              <a:off x="76200" y="2209800"/>
              <a:ext cx="2209800" cy="554038"/>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5413"/>
              <a:ext cx="1905000" cy="230187"/>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626560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377825"/>
            <a:ext cx="8210550" cy="5794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14350" y="1087438"/>
            <a:ext cx="3975100" cy="51212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41850" y="1087438"/>
            <a:ext cx="3975100" cy="5121275"/>
          </a:xfrm>
        </p:spPr>
        <p:txBody>
          <a:bodyPr/>
          <a:lstStyle/>
          <a:p>
            <a:pPr lvl="0"/>
            <a:endParaRPr lang="en-US" noProof="0"/>
          </a:p>
        </p:txBody>
      </p:sp>
      <p:sp>
        <p:nvSpPr>
          <p:cNvPr id="5" name="Footer Placeholder 4"/>
          <p:cNvSpPr>
            <a:spLocks noGrp="1"/>
          </p:cNvSpPr>
          <p:nvPr>
            <p:ph type="ftr" sz="quarter" idx="10"/>
          </p:nvPr>
        </p:nvSpPr>
        <p:spPr>
          <a:xfrm>
            <a:off x="533400" y="6354763"/>
            <a:ext cx="4038600" cy="366712"/>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1"/>
          </p:nvPr>
        </p:nvSpPr>
        <p:spPr>
          <a:xfrm>
            <a:off x="6400800" y="6354763"/>
            <a:ext cx="2209800" cy="366712"/>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1–</a:t>
            </a:r>
            <a:fld id="{00B322C7-AEB9-4007-A0E1-0CBFF71799F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377569962"/>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283031A-7A20-432D-B0B9-45CAE3E939B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259DEF-6BB4-41A5-B3DF-EFAE0DBC071C}"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3541614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pic>
        <p:nvPicPr>
          <p:cNvPr id="5"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2133600" y="65532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619FBDE-05AD-4BB7-8B14-4E40445AB76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1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1AC919-D30A-40F5-9211-87377D1F4CEC}"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015975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E8AC670-7FF3-433A-A0B4-0ABCE4D4260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F527C31-5479-4D69-8B20-DC40CECE5D3D}"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438422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71C2DBE-694B-4E29-A751-AC9CB11A2AA7}"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FF6F4FB-1AE1-4B86-A74B-6F118D6E6C8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923365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D34B419-E071-42DE-9596-2F276072A9F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2E0B1B7-5561-4076-BF63-D70F8AF4053B}"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728887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smtClean="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pic>
        <p:nvPicPr>
          <p:cNvPr id="4"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8"/>
          <p:cNvGrpSpPr>
            <a:grpSpLocks/>
          </p:cNvGrpSpPr>
          <p:nvPr userDrawn="1"/>
        </p:nvGrpSpPr>
        <p:grpSpPr bwMode="auto">
          <a:xfrm>
            <a:off x="2133600" y="65532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 name="Group 12"/>
          <p:cNvGrpSpPr>
            <a:grpSpLocks/>
          </p:cNvGrpSpPr>
          <p:nvPr userDrawn="1"/>
        </p:nvGrpSpPr>
        <p:grpSpPr bwMode="auto">
          <a:xfrm>
            <a:off x="0" y="12954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13" name="Date Placeholder 2"/>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FE721F-6C52-4F2B-B0BE-237B32CD54FD}"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4" name="Footer Placeholder 3"/>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1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48F3F4F-4CA1-4CD2-9310-052A7EF9342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200487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F15BC6D-53DA-4B83-9E7D-A4EA222A1404}"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8BD9F45-633E-421D-882A-1EA74031CAF5}"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589042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4D66219-815E-43FA-A413-29A92393B621}"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2CBC90F-C6A6-4315-992C-C25C041776DA}"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0057884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319B1A3-CA3C-4632-AB61-F30D65B76458}"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B80CB4B-3C32-49DF-A9EB-2C7E1D036BF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226678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98CC088-9651-44EC-BE0A-8A6AB12C11F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4D65650-6671-43C6-8B8E-97E787F17E2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6143652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36B663B-93B7-4154-90FB-EA15A8C918C9}"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983979-1CEF-4A00-9363-9259D5F4FBB0}"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171368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1"/>
          <p:cNvGrpSpPr>
            <a:grpSpLocks/>
          </p:cNvGrpSpPr>
          <p:nvPr userDrawn="1"/>
        </p:nvGrpSpPr>
        <p:grpSpPr bwMode="auto">
          <a:xfrm>
            <a:off x="-76200" y="5257800"/>
            <a:ext cx="2209800" cy="685800"/>
            <a:chOff x="76200" y="2209800"/>
            <a:chExt cx="2209800" cy="685800"/>
          </a:xfrm>
        </p:grpSpPr>
        <p:sp>
          <p:nvSpPr>
            <p:cNvPr id="11" name="TextBox 10"/>
            <p:cNvSpPr txBox="1"/>
            <p:nvPr userDrawn="1"/>
          </p:nvSpPr>
          <p:spPr>
            <a:xfrm>
              <a:off x="76200" y="2209800"/>
              <a:ext cx="2209800" cy="554038"/>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5413"/>
              <a:ext cx="1905000" cy="230187"/>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33940131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377825"/>
            <a:ext cx="8210550" cy="5794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14350" y="1087438"/>
            <a:ext cx="3975100" cy="51212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41850" y="1087438"/>
            <a:ext cx="3975100" cy="5121275"/>
          </a:xfrm>
        </p:spPr>
        <p:txBody>
          <a:bodyPr/>
          <a:lstStyle/>
          <a:p>
            <a:pPr lvl="0"/>
            <a:endParaRPr lang="en-US" noProof="0"/>
          </a:p>
        </p:txBody>
      </p:sp>
      <p:sp>
        <p:nvSpPr>
          <p:cNvPr id="5" name="Footer Placeholder 4"/>
          <p:cNvSpPr>
            <a:spLocks noGrp="1"/>
          </p:cNvSpPr>
          <p:nvPr>
            <p:ph type="ftr" sz="quarter" idx="10"/>
          </p:nvPr>
        </p:nvSpPr>
        <p:spPr>
          <a:xfrm>
            <a:off x="533400" y="6354763"/>
            <a:ext cx="4038600" cy="366712"/>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11"/>
          </p:nvPr>
        </p:nvSpPr>
        <p:spPr>
          <a:xfrm>
            <a:off x="6400800" y="6354763"/>
            <a:ext cx="2209800" cy="366712"/>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1–</a:t>
            </a:r>
            <a:fld id="{00B322C7-AEB9-4007-A0E1-0CBFF71799F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22857768"/>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Footer Placeholder 4"/>
          <p:cNvSpPr txBox="1">
            <a:spLocks/>
          </p:cNvSpPr>
          <p:nvPr/>
        </p:nvSpPr>
        <p:spPr>
          <a:xfrm>
            <a:off x="3124200" y="6492875"/>
            <a:ext cx="2895600" cy="365125"/>
          </a:xfrm>
          <a:prstGeom prst="rect">
            <a:avLst/>
          </a:prstGeom>
        </p:spPr>
        <p:txBody>
          <a:bodyPr anchor="ctr"/>
          <a:lstStyle>
            <a:lvl1pPr algn="ctr" fontAlgn="auto">
              <a:spcBef>
                <a:spcPts val="0"/>
              </a:spcBef>
              <a:spcAft>
                <a:spcPts val="0"/>
              </a:spcAft>
              <a:defRPr sz="1200">
                <a:solidFill>
                  <a:schemeClr val="bg1"/>
                </a:solidFill>
                <a:latin typeface="+mn-lt"/>
                <a:cs typeface="+mn-cs"/>
              </a:defRPr>
            </a:lvl1pPr>
          </a:lstStyle>
          <a:p>
            <a:pPr>
              <a:defRPr/>
            </a:pPr>
            <a:r>
              <a:rPr lang="en-US" dirty="0" smtClean="0"/>
              <a:t>Copyright © 2012 Pearson Education, Inc. Publishing as Prentice Hall </a:t>
            </a:r>
            <a:endParaRPr lang="en-US" dirty="0"/>
          </a:p>
        </p:txBody>
      </p:sp>
      <p:sp>
        <p:nvSpPr>
          <p:cNvPr id="8" name="Rectangle 7"/>
          <p:cNvSpPr>
            <a:spLocks noChangeArrowheads="1"/>
          </p:cNvSpPr>
          <p:nvPr/>
        </p:nvSpPr>
        <p:spPr bwMode="auto">
          <a:xfrm>
            <a:off x="0" y="6324600"/>
            <a:ext cx="9144000" cy="533400"/>
          </a:xfrm>
          <a:prstGeom prst="rect">
            <a:avLst/>
          </a:prstGeom>
          <a:solidFill>
            <a:srgbClr val="F47024"/>
          </a:solidFill>
          <a:ln>
            <a:noFill/>
          </a:ln>
          <a:extLst/>
        </p:spPr>
        <p:txBody>
          <a:bodyPr anchor="ctr"/>
          <a:lstStyle/>
          <a:p>
            <a:pPr algn="ctr">
              <a:defRPr/>
            </a:pPr>
            <a:endParaRPr lang="en-US" dirty="0">
              <a:solidFill>
                <a:schemeClr val="accent1"/>
              </a:solidFill>
              <a:latin typeface="Calibri" pitchFamily="64" charset="0"/>
            </a:endParaRPr>
          </a:p>
        </p:txBody>
      </p:sp>
      <p:sp>
        <p:nvSpPr>
          <p:cNvPr id="12" name="Text Box 8"/>
          <p:cNvSpPr txBox="1">
            <a:spLocks noChangeArrowheads="1"/>
          </p:cNvSpPr>
          <p:nvPr/>
        </p:nvSpPr>
        <p:spPr bwMode="auto">
          <a:xfrm>
            <a:off x="2209800" y="6477000"/>
            <a:ext cx="4648200" cy="274638"/>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r>
              <a:rPr lang="en-US" sz="1200" b="1" dirty="0">
                <a:solidFill>
                  <a:schemeClr val="bg1"/>
                </a:solidFill>
                <a:latin typeface="Calibri" pitchFamily="34" charset="0"/>
              </a:rPr>
              <a:t>Copyright © 2014 Pearson Education, Inc. publishing as Prentice Hall</a:t>
            </a:r>
          </a:p>
        </p:txBody>
      </p:sp>
      <p:sp>
        <p:nvSpPr>
          <p:cNvPr id="14" name="Text Box 10"/>
          <p:cNvSpPr txBox="1">
            <a:spLocks noChangeArrowheads="1"/>
          </p:cNvSpPr>
          <p:nvPr/>
        </p:nvSpPr>
        <p:spPr bwMode="auto">
          <a:xfrm>
            <a:off x="8305800" y="6477000"/>
            <a:ext cx="838200" cy="277813"/>
          </a:xfrm>
          <a:prstGeom prst="rect">
            <a:avLst/>
          </a:prstGeom>
          <a:noFill/>
          <a:ln w="9525">
            <a:noFill/>
            <a:miter lim="800000"/>
            <a:headEnd/>
            <a:tailEnd/>
          </a:ln>
          <a:effectLst/>
        </p:spPr>
        <p:txBody>
          <a:bodyPr anchor="ctr">
            <a:spAutoFit/>
          </a:bodyPr>
          <a:lstStyle/>
          <a:p>
            <a:pPr eaLnBrk="0" hangingPunct="0">
              <a:spcBef>
                <a:spcPct val="50000"/>
              </a:spcBef>
            </a:pPr>
            <a:r>
              <a:rPr lang="en-US" sz="1200" b="1">
                <a:solidFill>
                  <a:schemeClr val="bg1"/>
                </a:solidFill>
              </a:rPr>
              <a:t>18-</a:t>
            </a:r>
            <a:fld id="{3F4AE6E4-136C-4599-97C9-9D7D23818264}" type="slidenum">
              <a:rPr lang="en-US" sz="1200" b="1">
                <a:solidFill>
                  <a:schemeClr val="bg1"/>
                </a:solidFill>
              </a:rPr>
              <a:pPr eaLnBrk="0" hangingPunct="0">
                <a:spcBef>
                  <a:spcPct val="50000"/>
                </a:spcBef>
              </a:pPr>
              <a:t>‹#›</a:t>
            </a:fld>
            <a:r>
              <a:rPr lang="en-US" sz="1200" b="1">
                <a:solidFill>
                  <a:schemeClr val="bg1"/>
                </a:solidFill>
              </a:rPr>
              <a:t> </a:t>
            </a:r>
          </a:p>
        </p:txBody>
      </p:sp>
      <p:sp>
        <p:nvSpPr>
          <p:cNvPr id="1030" name="Text Placeholder 2"/>
          <p:cNvSpPr>
            <a:spLocks noGrp="1"/>
          </p:cNvSpPr>
          <p:nvPr>
            <p:ph type="body" idx="1"/>
          </p:nvPr>
        </p:nvSpPr>
        <p:spPr bwMode="auto">
          <a:xfrm>
            <a:off x="1828800" y="1905000"/>
            <a:ext cx="6629400" cy="3230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p:txBody>
      </p:sp>
      <p:cxnSp>
        <p:nvCxnSpPr>
          <p:cNvPr id="1031" name="Straight Connector 14"/>
          <p:cNvCxnSpPr>
            <a:cxnSpLocks noChangeShapeType="1"/>
          </p:cNvCxnSpPr>
          <p:nvPr/>
        </p:nvCxnSpPr>
        <p:spPr bwMode="auto">
          <a:xfrm>
            <a:off x="1676400" y="1371600"/>
            <a:ext cx="6629400" cy="0"/>
          </a:xfrm>
          <a:prstGeom prst="line">
            <a:avLst/>
          </a:prstGeom>
          <a:noFill/>
          <a:ln w="31750" algn="ctr">
            <a:solidFill>
              <a:srgbClr val="F47024"/>
            </a:solidFill>
            <a:round/>
            <a:headEnd/>
            <a:tailEnd/>
          </a:ln>
        </p:spPr>
      </p:cxnSp>
      <p:pic>
        <p:nvPicPr>
          <p:cNvPr id="1032" name="Picture 9"/>
          <p:cNvPicPr>
            <a:picLocks noChangeAspect="1" noChangeArrowheads="1"/>
          </p:cNvPicPr>
          <p:nvPr/>
        </p:nvPicPr>
        <p:blipFill>
          <a:blip r:embed="rId13" cstate="print"/>
          <a:srcRect/>
          <a:stretch>
            <a:fillRect/>
          </a:stretch>
        </p:blipFill>
        <p:spPr bwMode="auto">
          <a:xfrm>
            <a:off x="1143000" y="228600"/>
            <a:ext cx="8001000" cy="1050925"/>
          </a:xfrm>
          <a:prstGeom prst="rect">
            <a:avLst/>
          </a:prstGeom>
          <a:noFill/>
          <a:ln w="9525">
            <a:noFill/>
            <a:miter lim="800000"/>
            <a:headEnd/>
            <a:tailEnd/>
          </a:ln>
        </p:spPr>
      </p:pic>
      <p:cxnSp>
        <p:nvCxnSpPr>
          <p:cNvPr id="1033" name="Straight Connector 14"/>
          <p:cNvCxnSpPr>
            <a:cxnSpLocks noChangeShapeType="1"/>
          </p:cNvCxnSpPr>
          <p:nvPr/>
        </p:nvCxnSpPr>
        <p:spPr bwMode="auto">
          <a:xfrm>
            <a:off x="1524000" y="1524000"/>
            <a:ext cx="0" cy="4648200"/>
          </a:xfrm>
          <a:prstGeom prst="line">
            <a:avLst/>
          </a:prstGeom>
          <a:noFill/>
          <a:ln w="31750" algn="ctr">
            <a:solidFill>
              <a:srgbClr val="F47024"/>
            </a:solidFill>
            <a:round/>
            <a:headEnd/>
            <a:tailEnd/>
          </a:ln>
        </p:spPr>
      </p:cxnSp>
      <p:sp>
        <p:nvSpPr>
          <p:cNvPr id="108557" name="Arc 13"/>
          <p:cNvSpPr>
            <a:spLocks/>
          </p:cNvSpPr>
          <p:nvPr/>
        </p:nvSpPr>
        <p:spPr bwMode="auto">
          <a:xfrm flipH="1">
            <a:off x="1524000" y="1371600"/>
            <a:ext cx="152400" cy="152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a:solidFill>
              <a:srgbClr val="F47024"/>
            </a:solidFill>
            <a:round/>
            <a:headEnd/>
            <a:tailEnd/>
          </a:ln>
          <a:effectLst/>
          <a:extLst/>
        </p:spPr>
        <p:txBody>
          <a:bodyPr wrap="none" anchor="ctr"/>
          <a:lstStyle/>
          <a:p>
            <a:pPr>
              <a:defRPr/>
            </a:pPr>
            <a:endParaRPr lang="en-US" dirty="0">
              <a:latin typeface="Arial" pitchFamily="34" charset="0"/>
              <a:cs typeface="Arial" pitchFamily="34" charset="0"/>
            </a:endParaRPr>
          </a:p>
        </p:txBody>
      </p:sp>
      <p:sp>
        <p:nvSpPr>
          <p:cNvPr id="1035" name="Title Placeholder 2"/>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936" r:id="rId1"/>
    <p:sldLayoutId id="2147483935" r:id="rId2"/>
    <p:sldLayoutId id="2147483934" r:id="rId3"/>
    <p:sldLayoutId id="2147483933" r:id="rId4"/>
    <p:sldLayoutId id="2147483932" r:id="rId5"/>
    <p:sldLayoutId id="2147483931" r:id="rId6"/>
    <p:sldLayoutId id="2147483930" r:id="rId7"/>
    <p:sldLayoutId id="2147483929" r:id="rId8"/>
    <p:sldLayoutId id="2147483928" r:id="rId9"/>
    <p:sldLayoutId id="2147483927" r:id="rId10"/>
    <p:sldLayoutId id="2147483926"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alibri" pitchFamily="34" charset="0"/>
        </a:defRPr>
      </a:lvl2pPr>
      <a:lvl3pPr algn="ctr" rtl="0" eaLnBrk="0" fontAlgn="base" hangingPunct="0">
        <a:spcBef>
          <a:spcPct val="0"/>
        </a:spcBef>
        <a:spcAft>
          <a:spcPct val="0"/>
        </a:spcAft>
        <a:defRPr sz="4400">
          <a:solidFill>
            <a:schemeClr val="tx2"/>
          </a:solidFill>
          <a:latin typeface="Calibri" pitchFamily="34" charset="0"/>
        </a:defRPr>
      </a:lvl3pPr>
      <a:lvl4pPr algn="ctr" rtl="0" eaLnBrk="0" fontAlgn="base" hangingPunct="0">
        <a:spcBef>
          <a:spcPct val="0"/>
        </a:spcBef>
        <a:spcAft>
          <a:spcPct val="0"/>
        </a:spcAft>
        <a:defRPr sz="4400">
          <a:solidFill>
            <a:schemeClr val="tx2"/>
          </a:solidFill>
          <a:latin typeface="Calibri" pitchFamily="34" charset="0"/>
        </a:defRPr>
      </a:lvl4pPr>
      <a:lvl5pPr algn="ctr" rtl="0" eaLnBrk="0" fontAlgn="base" hangingPunct="0">
        <a:spcBef>
          <a:spcPct val="0"/>
        </a:spcBef>
        <a:spcAft>
          <a:spcPct val="0"/>
        </a:spcAft>
        <a:defRPr sz="4400">
          <a:solidFill>
            <a:schemeClr val="tx2"/>
          </a:solidFill>
          <a:latin typeface="Calibri" pitchFamily="34" charset="0"/>
        </a:defRPr>
      </a:lvl5pPr>
      <a:lvl6pPr marL="457200" algn="ctr" rtl="0" eaLnBrk="1" fontAlgn="base" hangingPunct="1">
        <a:spcBef>
          <a:spcPct val="0"/>
        </a:spcBef>
        <a:spcAft>
          <a:spcPct val="0"/>
        </a:spcAft>
        <a:defRPr sz="4400">
          <a:solidFill>
            <a:schemeClr val="tx2"/>
          </a:solidFill>
          <a:latin typeface="Calibri" pitchFamily="34" charset="0"/>
        </a:defRPr>
      </a:lvl6pPr>
      <a:lvl7pPr marL="914400" algn="ctr" rtl="0" eaLnBrk="1" fontAlgn="base" hangingPunct="1">
        <a:spcBef>
          <a:spcPct val="0"/>
        </a:spcBef>
        <a:spcAft>
          <a:spcPct val="0"/>
        </a:spcAft>
        <a:defRPr sz="4400">
          <a:solidFill>
            <a:schemeClr val="tx2"/>
          </a:solidFill>
          <a:latin typeface="Calibri" pitchFamily="34" charset="0"/>
        </a:defRPr>
      </a:lvl7pPr>
      <a:lvl8pPr marL="1371600" algn="ctr" rtl="0" eaLnBrk="1" fontAlgn="base" hangingPunct="1">
        <a:spcBef>
          <a:spcPct val="0"/>
        </a:spcBef>
        <a:spcAft>
          <a:spcPct val="0"/>
        </a:spcAft>
        <a:defRPr sz="4400">
          <a:solidFill>
            <a:schemeClr val="tx2"/>
          </a:solidFill>
          <a:latin typeface="Calibri" pitchFamily="34" charset="0"/>
        </a:defRPr>
      </a:lvl8pPr>
      <a:lvl9pPr marL="1828800" algn="ctr" rtl="0" eaLnBrk="1" fontAlgn="base" hangingPunct="1">
        <a:spcBef>
          <a:spcPct val="0"/>
        </a:spcBef>
        <a:spcAft>
          <a:spcPct val="0"/>
        </a:spcAft>
        <a:defRPr sz="4400">
          <a:solidFill>
            <a:schemeClr val="tx2"/>
          </a:solidFill>
          <a:latin typeface="Calibri" pitchFamily="34" charset="0"/>
        </a:defRPr>
      </a:lvl9pPr>
    </p:titleStyle>
    <p:bodyStyle>
      <a:lvl1pPr marL="342900" indent="-342900" algn="l" rtl="0" eaLnBrk="0" fontAlgn="base" hangingPunct="0">
        <a:spcBef>
          <a:spcPct val="20000"/>
        </a:spcBef>
        <a:spcAft>
          <a:spcPct val="0"/>
        </a:spcAft>
        <a:buFont typeface="Arial" charset="0"/>
        <a:defRPr sz="2800" i="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i="1">
          <a:solidFill>
            <a:schemeClr val="tx1"/>
          </a:solidFill>
          <a:latin typeface="+mn-lt"/>
        </a:defRPr>
      </a:lvl2pPr>
      <a:lvl3pPr marL="1143000" indent="-228600" algn="l" rtl="0" eaLnBrk="0" fontAlgn="base" hangingPunct="0">
        <a:spcBef>
          <a:spcPct val="20000"/>
        </a:spcBef>
        <a:spcAft>
          <a:spcPct val="0"/>
        </a:spcAft>
        <a:buFont typeface="Arial" charset="0"/>
        <a:buChar char="•"/>
        <a:defRPr sz="2400" i="1">
          <a:solidFill>
            <a:schemeClr val="tx1"/>
          </a:solidFill>
          <a:latin typeface="+mn-lt"/>
        </a:defRPr>
      </a:lvl3pPr>
      <a:lvl4pPr marL="1600200" indent="-228600" algn="l" rtl="0" eaLnBrk="0" fontAlgn="base" hangingPunct="0">
        <a:spcBef>
          <a:spcPct val="20000"/>
        </a:spcBef>
        <a:spcAft>
          <a:spcPct val="0"/>
        </a:spcAft>
        <a:buFont typeface="Arial" charset="0"/>
        <a:buChar char="–"/>
        <a:defRPr sz="2000" i="1">
          <a:solidFill>
            <a:schemeClr val="tx1"/>
          </a:solidFill>
          <a:latin typeface="+mn-lt"/>
        </a:defRPr>
      </a:lvl4pPr>
      <a:lvl5pPr marL="2057400" indent="-228600" algn="l" rtl="0" eaLnBrk="0" fontAlgn="base" hangingPunct="0">
        <a:spcBef>
          <a:spcPct val="20000"/>
        </a:spcBef>
        <a:spcAft>
          <a:spcPct val="0"/>
        </a:spcAft>
        <a:buFont typeface="Arial" charset="0"/>
        <a:buChar char="»"/>
        <a:defRPr sz="2000" i="1">
          <a:solidFill>
            <a:schemeClr val="tx1"/>
          </a:solidFill>
          <a:latin typeface="+mn-lt"/>
        </a:defRPr>
      </a:lvl5pPr>
      <a:lvl6pPr marL="2514600" indent="-228600" algn="l" rtl="0" eaLnBrk="1" fontAlgn="base" hangingPunct="1">
        <a:spcBef>
          <a:spcPct val="20000"/>
        </a:spcBef>
        <a:spcAft>
          <a:spcPct val="0"/>
        </a:spcAft>
        <a:buFont typeface="Arial" pitchFamily="34" charset="0"/>
        <a:buChar char="»"/>
        <a:defRPr sz="2000" i="1">
          <a:solidFill>
            <a:schemeClr val="tx1"/>
          </a:solidFill>
          <a:latin typeface="+mn-lt"/>
        </a:defRPr>
      </a:lvl6pPr>
      <a:lvl7pPr marL="2971800" indent="-228600" algn="l" rtl="0" eaLnBrk="1" fontAlgn="base" hangingPunct="1">
        <a:spcBef>
          <a:spcPct val="20000"/>
        </a:spcBef>
        <a:spcAft>
          <a:spcPct val="0"/>
        </a:spcAft>
        <a:buFont typeface="Arial" pitchFamily="34" charset="0"/>
        <a:buChar char="»"/>
        <a:defRPr sz="2000" i="1">
          <a:solidFill>
            <a:schemeClr val="tx1"/>
          </a:solidFill>
          <a:latin typeface="+mn-lt"/>
        </a:defRPr>
      </a:lvl7pPr>
      <a:lvl8pPr marL="3429000" indent="-228600" algn="l" rtl="0" eaLnBrk="1" fontAlgn="base" hangingPunct="1">
        <a:spcBef>
          <a:spcPct val="20000"/>
        </a:spcBef>
        <a:spcAft>
          <a:spcPct val="0"/>
        </a:spcAft>
        <a:buFont typeface="Arial" pitchFamily="34" charset="0"/>
        <a:buChar char="»"/>
        <a:defRPr sz="2000" i="1">
          <a:solidFill>
            <a:schemeClr val="tx1"/>
          </a:solidFill>
          <a:latin typeface="+mn-lt"/>
        </a:defRPr>
      </a:lvl8pPr>
      <a:lvl9pPr marL="3886200" indent="-228600" algn="l" rtl="0" eaLnBrk="1" fontAlgn="base" hangingPunct="1">
        <a:spcBef>
          <a:spcPct val="20000"/>
        </a:spcBef>
        <a:spcAft>
          <a:spcPct val="0"/>
        </a:spcAft>
        <a:buFont typeface="Arial" pitchFamily="34" charset="0"/>
        <a:buChar char="»"/>
        <a:defRPr sz="2000" 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Footer Placeholder 4"/>
          <p:cNvSpPr txBox="1">
            <a:spLocks/>
          </p:cNvSpPr>
          <p:nvPr/>
        </p:nvSpPr>
        <p:spPr>
          <a:xfrm>
            <a:off x="3124200" y="6492875"/>
            <a:ext cx="2895600" cy="365125"/>
          </a:xfrm>
          <a:prstGeom prst="rect">
            <a:avLst/>
          </a:prstGeom>
        </p:spPr>
        <p:txBody>
          <a:bodyPr anchor="ctr"/>
          <a:lstStyle>
            <a:lvl1pPr algn="ctr" fontAlgn="auto">
              <a:spcBef>
                <a:spcPts val="0"/>
              </a:spcBef>
              <a:spcAft>
                <a:spcPts val="0"/>
              </a:spcAft>
              <a:defRPr sz="1200">
                <a:solidFill>
                  <a:schemeClr val="bg1"/>
                </a:solidFill>
                <a:latin typeface="+mn-lt"/>
                <a:cs typeface="+mn-cs"/>
              </a:defRPr>
            </a:lvl1pPr>
          </a:lstStyle>
          <a:p>
            <a:pPr>
              <a:defRPr/>
            </a:pPr>
            <a:r>
              <a:rPr lang="en-US" dirty="0" smtClean="0"/>
              <a:t>Copyright © 2012 Pearson Education, Inc. Publishing as Prentice Hall </a:t>
            </a:r>
            <a:endParaRPr lang="en-US" dirty="0"/>
          </a:p>
        </p:txBody>
      </p:sp>
      <p:sp>
        <p:nvSpPr>
          <p:cNvPr id="8" name="Rectangle 7"/>
          <p:cNvSpPr>
            <a:spLocks noChangeArrowheads="1"/>
          </p:cNvSpPr>
          <p:nvPr/>
        </p:nvSpPr>
        <p:spPr bwMode="auto">
          <a:xfrm>
            <a:off x="0" y="6324600"/>
            <a:ext cx="9144000" cy="533400"/>
          </a:xfrm>
          <a:prstGeom prst="rect">
            <a:avLst/>
          </a:prstGeom>
          <a:solidFill>
            <a:srgbClr val="F47024"/>
          </a:solidFill>
          <a:ln>
            <a:noFill/>
          </a:ln>
          <a:extLst/>
        </p:spPr>
        <p:txBody>
          <a:bodyPr anchor="ctr"/>
          <a:lstStyle/>
          <a:p>
            <a:pPr algn="ctr">
              <a:defRPr/>
            </a:pPr>
            <a:endParaRPr lang="en-US" dirty="0">
              <a:solidFill>
                <a:schemeClr val="accent1"/>
              </a:solidFill>
              <a:latin typeface="Calibri" pitchFamily="64" charset="0"/>
            </a:endParaRPr>
          </a:p>
        </p:txBody>
      </p:sp>
      <p:sp>
        <p:nvSpPr>
          <p:cNvPr id="12" name="Text Box 8"/>
          <p:cNvSpPr txBox="1">
            <a:spLocks noChangeArrowheads="1"/>
          </p:cNvSpPr>
          <p:nvPr/>
        </p:nvSpPr>
        <p:spPr bwMode="auto">
          <a:xfrm>
            <a:off x="2209800" y="6477000"/>
            <a:ext cx="4648200" cy="274638"/>
          </a:xfrm>
          <a:prstGeom prst="rect">
            <a:avLst/>
          </a:prstGeom>
          <a:noFill/>
          <a:ln w="9525">
            <a:noFill/>
            <a:miter lim="800000"/>
            <a:headEnd/>
            <a:tailEnd/>
          </a:ln>
          <a:effec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r>
              <a:rPr lang="en-US" sz="1200" b="1" dirty="0">
                <a:solidFill>
                  <a:schemeClr val="bg1"/>
                </a:solidFill>
                <a:latin typeface="Calibri" pitchFamily="34" charset="0"/>
              </a:rPr>
              <a:t>Copyright © 2014 Pearson Education, Inc. publishing as Prentice Hall</a:t>
            </a:r>
          </a:p>
        </p:txBody>
      </p:sp>
      <p:sp>
        <p:nvSpPr>
          <p:cNvPr id="14" name="Text Box 10"/>
          <p:cNvSpPr txBox="1">
            <a:spLocks noChangeArrowheads="1"/>
          </p:cNvSpPr>
          <p:nvPr/>
        </p:nvSpPr>
        <p:spPr bwMode="auto">
          <a:xfrm>
            <a:off x="8305800" y="6477000"/>
            <a:ext cx="838200" cy="277813"/>
          </a:xfrm>
          <a:prstGeom prst="rect">
            <a:avLst/>
          </a:prstGeom>
          <a:noFill/>
          <a:ln w="9525">
            <a:noFill/>
            <a:miter lim="800000"/>
            <a:headEnd/>
            <a:tailEnd/>
          </a:ln>
          <a:effectLst/>
        </p:spPr>
        <p:txBody>
          <a:bodyPr anchor="ctr">
            <a:spAutoFit/>
          </a:bodyPr>
          <a:lstStyle/>
          <a:p>
            <a:pPr eaLnBrk="0" hangingPunct="0">
              <a:spcBef>
                <a:spcPct val="50000"/>
              </a:spcBef>
            </a:pPr>
            <a:r>
              <a:rPr lang="en-US" sz="1200" b="1">
                <a:solidFill>
                  <a:schemeClr val="bg1"/>
                </a:solidFill>
              </a:rPr>
              <a:t>18-</a:t>
            </a:r>
            <a:fld id="{CF6EB3D3-ABB6-4008-BCDE-601E112BDA40}" type="slidenum">
              <a:rPr lang="en-US" sz="1200" b="1">
                <a:solidFill>
                  <a:schemeClr val="bg1"/>
                </a:solidFill>
              </a:rPr>
              <a:pPr eaLnBrk="0" hangingPunct="0">
                <a:spcBef>
                  <a:spcPct val="50000"/>
                </a:spcBef>
              </a:pPr>
              <a:t>‹#›</a:t>
            </a:fld>
            <a:r>
              <a:rPr lang="en-US" sz="1200" b="1">
                <a:solidFill>
                  <a:schemeClr val="bg1"/>
                </a:solidFill>
              </a:rPr>
              <a:t> </a:t>
            </a:r>
          </a:p>
        </p:txBody>
      </p:sp>
      <p:pic>
        <p:nvPicPr>
          <p:cNvPr id="13318" name="Picture 12" descr="disclaimer"/>
          <p:cNvPicPr>
            <a:picLocks noChangeAspect="1" noChangeArrowheads="1"/>
          </p:cNvPicPr>
          <p:nvPr/>
        </p:nvPicPr>
        <p:blipFill>
          <a:blip r:embed="rId13" cstate="print"/>
          <a:srcRect/>
          <a:stretch>
            <a:fillRect/>
          </a:stretch>
        </p:blipFill>
        <p:spPr bwMode="auto">
          <a:xfrm>
            <a:off x="381000" y="1600200"/>
            <a:ext cx="7924800" cy="2403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47" r:id="rId1"/>
    <p:sldLayoutId id="2147483946" r:id="rId2"/>
    <p:sldLayoutId id="2147483945" r:id="rId3"/>
    <p:sldLayoutId id="2147483944" r:id="rId4"/>
    <p:sldLayoutId id="2147483943" r:id="rId5"/>
    <p:sldLayoutId id="2147483942" r:id="rId6"/>
    <p:sldLayoutId id="2147483941" r:id="rId7"/>
    <p:sldLayoutId id="2147483940" r:id="rId8"/>
    <p:sldLayoutId id="2147483939" r:id="rId9"/>
    <p:sldLayoutId id="2147483938" r:id="rId10"/>
    <p:sldLayoutId id="2147483937"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alibri" pitchFamily="34" charset="0"/>
        </a:defRPr>
      </a:lvl2pPr>
      <a:lvl3pPr algn="ctr" rtl="0" eaLnBrk="0" fontAlgn="base" hangingPunct="0">
        <a:spcBef>
          <a:spcPct val="0"/>
        </a:spcBef>
        <a:spcAft>
          <a:spcPct val="0"/>
        </a:spcAft>
        <a:defRPr sz="4400">
          <a:solidFill>
            <a:schemeClr val="tx2"/>
          </a:solidFill>
          <a:latin typeface="Calibri" pitchFamily="34" charset="0"/>
        </a:defRPr>
      </a:lvl3pPr>
      <a:lvl4pPr algn="ctr" rtl="0" eaLnBrk="0" fontAlgn="base" hangingPunct="0">
        <a:spcBef>
          <a:spcPct val="0"/>
        </a:spcBef>
        <a:spcAft>
          <a:spcPct val="0"/>
        </a:spcAft>
        <a:defRPr sz="4400">
          <a:solidFill>
            <a:schemeClr val="tx2"/>
          </a:solidFill>
          <a:latin typeface="Calibri" pitchFamily="34" charset="0"/>
        </a:defRPr>
      </a:lvl4pPr>
      <a:lvl5pPr algn="ctr" rtl="0" eaLnBrk="0" fontAlgn="base" hangingPunct="0">
        <a:spcBef>
          <a:spcPct val="0"/>
        </a:spcBef>
        <a:spcAft>
          <a:spcPct val="0"/>
        </a:spcAft>
        <a:defRPr sz="4400">
          <a:solidFill>
            <a:schemeClr val="tx2"/>
          </a:solidFill>
          <a:latin typeface="Calibri" pitchFamily="34" charset="0"/>
        </a:defRPr>
      </a:lvl5pPr>
      <a:lvl6pPr marL="457200" algn="ctr" rtl="0" eaLnBrk="0" fontAlgn="base" hangingPunct="0">
        <a:spcBef>
          <a:spcPct val="0"/>
        </a:spcBef>
        <a:spcAft>
          <a:spcPct val="0"/>
        </a:spcAft>
        <a:defRPr sz="4400">
          <a:solidFill>
            <a:schemeClr val="tx2"/>
          </a:solidFill>
          <a:latin typeface="Calibri" pitchFamily="34" charset="0"/>
        </a:defRPr>
      </a:lvl6pPr>
      <a:lvl7pPr marL="914400" algn="ctr" rtl="0" eaLnBrk="0" fontAlgn="base" hangingPunct="0">
        <a:spcBef>
          <a:spcPct val="0"/>
        </a:spcBef>
        <a:spcAft>
          <a:spcPct val="0"/>
        </a:spcAft>
        <a:defRPr sz="4400">
          <a:solidFill>
            <a:schemeClr val="tx2"/>
          </a:solidFill>
          <a:latin typeface="Calibri" pitchFamily="34" charset="0"/>
        </a:defRPr>
      </a:lvl7pPr>
      <a:lvl8pPr marL="1371600" algn="ctr" rtl="0" eaLnBrk="0" fontAlgn="base" hangingPunct="0">
        <a:spcBef>
          <a:spcPct val="0"/>
        </a:spcBef>
        <a:spcAft>
          <a:spcPct val="0"/>
        </a:spcAft>
        <a:defRPr sz="4400">
          <a:solidFill>
            <a:schemeClr val="tx2"/>
          </a:solidFill>
          <a:latin typeface="Calibri" pitchFamily="34" charset="0"/>
        </a:defRPr>
      </a:lvl8pPr>
      <a:lvl9pPr marL="1828800" algn="ctr" rtl="0" eaLnBrk="0" fontAlgn="base" hangingPunct="0">
        <a:spcBef>
          <a:spcPct val="0"/>
        </a:spcBef>
        <a:spcAft>
          <a:spcPct val="0"/>
        </a:spcAft>
        <a:defRPr sz="4400">
          <a:solidFill>
            <a:schemeClr val="tx2"/>
          </a:solidFill>
          <a:latin typeface="Calibri" pitchFamily="34" charset="0"/>
        </a:defRPr>
      </a:lvl9pPr>
    </p:titleStyle>
    <p:bodyStyle>
      <a:lvl1pPr marL="342900" indent="-342900" algn="l" rtl="0" eaLnBrk="0" fontAlgn="base" hangingPunct="0">
        <a:spcBef>
          <a:spcPct val="20000"/>
        </a:spcBef>
        <a:spcAft>
          <a:spcPct val="0"/>
        </a:spcAft>
        <a:buFont typeface="Arial" charset="0"/>
        <a:defRPr sz="2800" i="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i="1">
          <a:solidFill>
            <a:schemeClr val="tx1"/>
          </a:solidFill>
          <a:latin typeface="+mn-lt"/>
        </a:defRPr>
      </a:lvl2pPr>
      <a:lvl3pPr marL="1143000" indent="-228600" algn="l" rtl="0" eaLnBrk="0" fontAlgn="base" hangingPunct="0">
        <a:spcBef>
          <a:spcPct val="20000"/>
        </a:spcBef>
        <a:spcAft>
          <a:spcPct val="0"/>
        </a:spcAft>
        <a:buFont typeface="Arial" charset="0"/>
        <a:buChar char="•"/>
        <a:defRPr sz="2400" i="1">
          <a:solidFill>
            <a:schemeClr val="tx1"/>
          </a:solidFill>
          <a:latin typeface="+mn-lt"/>
        </a:defRPr>
      </a:lvl3pPr>
      <a:lvl4pPr marL="1600200" indent="-228600" algn="l" rtl="0" eaLnBrk="0" fontAlgn="base" hangingPunct="0">
        <a:spcBef>
          <a:spcPct val="20000"/>
        </a:spcBef>
        <a:spcAft>
          <a:spcPct val="0"/>
        </a:spcAft>
        <a:buFont typeface="Arial" charset="0"/>
        <a:buChar char="–"/>
        <a:defRPr sz="2000" i="1">
          <a:solidFill>
            <a:schemeClr val="tx1"/>
          </a:solidFill>
          <a:latin typeface="+mn-lt"/>
        </a:defRPr>
      </a:lvl4pPr>
      <a:lvl5pPr marL="2057400" indent="-228600" algn="l" rtl="0" eaLnBrk="0" fontAlgn="base" hangingPunct="0">
        <a:spcBef>
          <a:spcPct val="20000"/>
        </a:spcBef>
        <a:spcAft>
          <a:spcPct val="0"/>
        </a:spcAft>
        <a:buFont typeface="Arial" charset="0"/>
        <a:buChar char="»"/>
        <a:defRPr sz="2000" i="1">
          <a:solidFill>
            <a:schemeClr val="tx1"/>
          </a:solidFill>
          <a:latin typeface="+mn-lt"/>
        </a:defRPr>
      </a:lvl5pPr>
      <a:lvl6pPr marL="2514600" indent="-228600" algn="l" rtl="0" eaLnBrk="0" fontAlgn="base" hangingPunct="0">
        <a:spcBef>
          <a:spcPct val="20000"/>
        </a:spcBef>
        <a:spcAft>
          <a:spcPct val="0"/>
        </a:spcAft>
        <a:buFont typeface="Arial" pitchFamily="34" charset="0"/>
        <a:buChar char="»"/>
        <a:defRPr sz="2000" i="1">
          <a:solidFill>
            <a:schemeClr val="tx1"/>
          </a:solidFill>
          <a:latin typeface="+mn-lt"/>
        </a:defRPr>
      </a:lvl6pPr>
      <a:lvl7pPr marL="2971800" indent="-228600" algn="l" rtl="0" eaLnBrk="0" fontAlgn="base" hangingPunct="0">
        <a:spcBef>
          <a:spcPct val="20000"/>
        </a:spcBef>
        <a:spcAft>
          <a:spcPct val="0"/>
        </a:spcAft>
        <a:buFont typeface="Arial" pitchFamily="34" charset="0"/>
        <a:buChar char="»"/>
        <a:defRPr sz="2000" i="1">
          <a:solidFill>
            <a:schemeClr val="tx1"/>
          </a:solidFill>
          <a:latin typeface="+mn-lt"/>
        </a:defRPr>
      </a:lvl7pPr>
      <a:lvl8pPr marL="3429000" indent="-228600" algn="l" rtl="0" eaLnBrk="0" fontAlgn="base" hangingPunct="0">
        <a:spcBef>
          <a:spcPct val="20000"/>
        </a:spcBef>
        <a:spcAft>
          <a:spcPct val="0"/>
        </a:spcAft>
        <a:buFont typeface="Arial" pitchFamily="34" charset="0"/>
        <a:buChar char="»"/>
        <a:defRPr sz="2000" i="1">
          <a:solidFill>
            <a:schemeClr val="tx1"/>
          </a:solidFill>
          <a:latin typeface="+mn-lt"/>
        </a:defRPr>
      </a:lvl8pPr>
      <a:lvl9pPr marL="3886200" indent="-228600" algn="l" rtl="0" eaLnBrk="0" fontAlgn="base" hangingPunct="0">
        <a:spcBef>
          <a:spcPct val="20000"/>
        </a:spcBef>
        <a:spcAft>
          <a:spcPct val="0"/>
        </a:spcAft>
        <a:buFont typeface="Arial" pitchFamily="34" charset="0"/>
        <a:buChar char="»"/>
        <a:defRPr sz="2000" 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602" name="Title Placeholder 1"/>
          <p:cNvSpPr>
            <a:spLocks noGrp="1"/>
          </p:cNvSpPr>
          <p:nvPr>
            <p:ph type="title"/>
          </p:nvPr>
        </p:nvSpPr>
        <p:spPr bwMode="auto">
          <a:xfrm>
            <a:off x="457200" y="762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560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948" r:id="rId1"/>
    <p:sldLayoutId id="2147483949" r:id="rId2"/>
  </p:sldLayoutIdLst>
  <p:hf sldNum="0" hdr="0" dt="0"/>
  <p:txStyles>
    <p:titleStyle>
      <a:lvl1pPr algn="ctr" rtl="0" eaLnBrk="0" fontAlgn="base" hangingPunct="0">
        <a:spcBef>
          <a:spcPct val="0"/>
        </a:spcBef>
        <a:spcAft>
          <a:spcPct val="0"/>
        </a:spcAft>
        <a:defRPr sz="4400" kern="1200">
          <a:solidFill>
            <a:srgbClr val="897DBB"/>
          </a:solidFill>
          <a:latin typeface="Arial" charset="0"/>
          <a:ea typeface="+mj-ea"/>
          <a:cs typeface="+mj-cs"/>
        </a:defRPr>
      </a:lvl1pPr>
      <a:lvl2pPr algn="ctr" rtl="0" eaLnBrk="0" fontAlgn="base" hangingPunct="0">
        <a:spcBef>
          <a:spcPct val="0"/>
        </a:spcBef>
        <a:spcAft>
          <a:spcPct val="0"/>
        </a:spcAft>
        <a:defRPr sz="4400">
          <a:solidFill>
            <a:srgbClr val="897DBB"/>
          </a:solidFill>
          <a:latin typeface="Arial" charset="0"/>
        </a:defRPr>
      </a:lvl2pPr>
      <a:lvl3pPr algn="ctr" rtl="0" eaLnBrk="0" fontAlgn="base" hangingPunct="0">
        <a:spcBef>
          <a:spcPct val="0"/>
        </a:spcBef>
        <a:spcAft>
          <a:spcPct val="0"/>
        </a:spcAft>
        <a:defRPr sz="4400">
          <a:solidFill>
            <a:srgbClr val="897DBB"/>
          </a:solidFill>
          <a:latin typeface="Arial" charset="0"/>
        </a:defRPr>
      </a:lvl3pPr>
      <a:lvl4pPr algn="ctr" rtl="0" eaLnBrk="0" fontAlgn="base" hangingPunct="0">
        <a:spcBef>
          <a:spcPct val="0"/>
        </a:spcBef>
        <a:spcAft>
          <a:spcPct val="0"/>
        </a:spcAft>
        <a:defRPr sz="4400">
          <a:solidFill>
            <a:srgbClr val="897DBB"/>
          </a:solidFill>
          <a:latin typeface="Arial" charset="0"/>
        </a:defRPr>
      </a:lvl4pPr>
      <a:lvl5pPr algn="ctr" rtl="0" eaLnBrk="0" fontAlgn="base" hangingPunct="0">
        <a:spcBef>
          <a:spcPct val="0"/>
        </a:spcBef>
        <a:spcAft>
          <a:spcPct val="0"/>
        </a:spcAft>
        <a:defRPr sz="4400">
          <a:solidFill>
            <a:srgbClr val="897DBB"/>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05228FA-C9D4-4733-BF4D-D4F266E4C27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74CAEA2-5233-46BE-BB57-D9DEFFE024C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24628620"/>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05228FA-C9D4-4733-BF4D-D4F266E4C27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Introduction to Project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74CAEA2-5233-46BE-BB57-D9DEFFE024C7}"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071390540"/>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title"/>
          </p:nvPr>
        </p:nvSpPr>
        <p:spPr>
          <a:xfrm>
            <a:off x="1828800" y="3657600"/>
            <a:ext cx="6477000" cy="1524000"/>
          </a:xfrm>
        </p:spPr>
        <p:txBody>
          <a:bodyPr/>
          <a:lstStyle/>
          <a:p>
            <a:pPr algn="ctr" eaLnBrk="1" hangingPunct="1"/>
            <a:r>
              <a:rPr lang="en-US" sz="3600" b="1" dirty="0">
                <a:latin typeface="HelveticaNeue-Light"/>
              </a:rPr>
              <a:t>Being an Effective Leader</a:t>
            </a:r>
            <a:endParaRPr lang="en-US" altLang="en-US" sz="3600" b="1" dirty="0" smtClean="0"/>
          </a:p>
        </p:txBody>
      </p:sp>
      <p:sp>
        <p:nvSpPr>
          <p:cNvPr id="8195" name="Content Placeholder 5"/>
          <p:cNvSpPr>
            <a:spLocks noGrp="1"/>
          </p:cNvSpPr>
          <p:nvPr>
            <p:ph sz="quarter" idx="13"/>
          </p:nvPr>
        </p:nvSpPr>
        <p:spPr/>
        <p:txBody>
          <a:bodyPr/>
          <a:lstStyle/>
          <a:p>
            <a:pPr eaLnBrk="1" hangingPunct="1">
              <a:spcBef>
                <a:spcPct val="0"/>
              </a:spcBef>
            </a:pPr>
            <a:r>
              <a:rPr lang="en-US" altLang="en-US" smtClean="0"/>
              <a:t>Dr. Jayashree Mahesh, </a:t>
            </a:r>
          </a:p>
          <a:p>
            <a:pPr eaLnBrk="1" hangingPunct="1">
              <a:spcBef>
                <a:spcPct val="0"/>
              </a:spcBef>
            </a:pPr>
            <a:r>
              <a:rPr lang="en-US" altLang="en-US" smtClean="0"/>
              <a:t>Department of Management, BITS Pilani.</a:t>
            </a:r>
          </a:p>
        </p:txBody>
      </p:sp>
    </p:spTree>
    <p:extLst>
      <p:ext uri="{BB962C8B-B14F-4D97-AF65-F5344CB8AC3E}">
        <p14:creationId xmlns:p14="http://schemas.microsoft.com/office/powerpoint/2010/main" val="15096833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algn="l"/>
            <a:r>
              <a:rPr lang="en-US" sz="4000" dirty="0" smtClean="0">
                <a:latin typeface="Arial" pitchFamily="34" charset="0"/>
                <a:cs typeface="Arial" pitchFamily="34" charset="0"/>
              </a:rPr>
              <a:t>Learning Objectives</a:t>
            </a:r>
            <a:endParaRPr lang="en-IN" altLang="en-US" sz="4000" b="1" dirty="0" smtClean="0">
              <a:solidFill>
                <a:srgbClr val="C00000"/>
              </a:solidFill>
            </a:endParaRPr>
          </a:p>
        </p:txBody>
      </p:sp>
      <p:sp>
        <p:nvSpPr>
          <p:cNvPr id="10243" name="Content Placeholder 2"/>
          <p:cNvSpPr>
            <a:spLocks noGrp="1"/>
          </p:cNvSpPr>
          <p:nvPr>
            <p:ph idx="1"/>
          </p:nvPr>
        </p:nvSpPr>
        <p:spPr/>
        <p:txBody>
          <a:bodyPr/>
          <a:lstStyle/>
          <a:p>
            <a:pPr marL="571500" indent="-571500" eaLnBrk="1" hangingPunct="1">
              <a:buFont typeface="+mj-lt"/>
              <a:buAutoNum type="arabicPeriod"/>
            </a:pPr>
            <a:r>
              <a:rPr lang="en-US" sz="2300" b="1" i="0" dirty="0" smtClean="0">
                <a:latin typeface="Arial" pitchFamily="34" charset="0"/>
                <a:cs typeface="Arial" pitchFamily="34" charset="0"/>
              </a:rPr>
              <a:t>Define </a:t>
            </a:r>
            <a:r>
              <a:rPr lang="en-US" sz="2300" i="0" dirty="0" smtClean="0">
                <a:latin typeface="Arial" pitchFamily="34" charset="0"/>
                <a:cs typeface="Arial" pitchFamily="34" charset="0"/>
              </a:rPr>
              <a:t>leader and leadership.</a:t>
            </a:r>
          </a:p>
          <a:p>
            <a:pPr marL="571500" indent="-571500" eaLnBrk="1" hangingPunct="1">
              <a:buFont typeface="+mj-lt"/>
              <a:buAutoNum type="arabicPeriod"/>
            </a:pPr>
            <a:r>
              <a:rPr lang="en-US" sz="2300" b="1" i="0" dirty="0" smtClean="0">
                <a:latin typeface="Arial" pitchFamily="34" charset="0"/>
                <a:cs typeface="Arial" pitchFamily="34" charset="0"/>
              </a:rPr>
              <a:t>Compare </a:t>
            </a:r>
            <a:r>
              <a:rPr lang="en-US" sz="2300" i="0" dirty="0" smtClean="0">
                <a:latin typeface="Arial" pitchFamily="34" charset="0"/>
                <a:cs typeface="Arial" pitchFamily="34" charset="0"/>
              </a:rPr>
              <a:t>and contrast early theories of leadership.</a:t>
            </a:r>
          </a:p>
          <a:p>
            <a:pPr marL="571500" indent="-571500" eaLnBrk="1" hangingPunct="1">
              <a:buFont typeface="+mj-lt"/>
              <a:buAutoNum type="arabicPeriod"/>
            </a:pPr>
            <a:r>
              <a:rPr lang="en-US" sz="2300" b="1" i="0" dirty="0" smtClean="0">
                <a:latin typeface="Arial" pitchFamily="34" charset="0"/>
                <a:cs typeface="Arial" pitchFamily="34" charset="0"/>
              </a:rPr>
              <a:t>Describe </a:t>
            </a:r>
            <a:r>
              <a:rPr lang="en-US" sz="2300" i="0" dirty="0" smtClean="0">
                <a:latin typeface="Arial" pitchFamily="34" charset="0"/>
                <a:cs typeface="Arial" pitchFamily="34" charset="0"/>
              </a:rPr>
              <a:t>the three major contingency theories of leadership.</a:t>
            </a:r>
          </a:p>
          <a:p>
            <a:pPr marL="971550" lvl="1" indent="-571500">
              <a:buFont typeface="Wingdings" charset="2"/>
              <a:buChar char="§"/>
            </a:pPr>
            <a:r>
              <a:rPr lang="en-US" sz="2200" b="1" dirty="0" smtClean="0">
                <a:latin typeface="Arial" pitchFamily="34" charset="0"/>
                <a:cs typeface="Arial" pitchFamily="34" charset="0"/>
              </a:rPr>
              <a:t>Develop your skill </a:t>
            </a:r>
            <a:r>
              <a:rPr lang="en-US" sz="2200" dirty="0" smtClean="0">
                <a:latin typeface="Arial" pitchFamily="34" charset="0"/>
                <a:cs typeface="Arial" pitchFamily="34" charset="0"/>
              </a:rPr>
              <a:t>at choosing an effective leadership style.</a:t>
            </a:r>
            <a:endParaRPr lang="en-US" sz="2200" i="0" dirty="0" smtClean="0">
              <a:latin typeface="Arial" pitchFamily="34" charset="0"/>
              <a:cs typeface="Arial" pitchFamily="34" charset="0"/>
            </a:endParaRPr>
          </a:p>
          <a:p>
            <a:pPr marL="571500" indent="-571500" eaLnBrk="1" hangingPunct="1">
              <a:buFont typeface="+mj-lt"/>
              <a:buAutoNum type="arabicPeriod"/>
            </a:pPr>
            <a:r>
              <a:rPr lang="en-US" sz="2300" b="1" i="0" dirty="0" smtClean="0">
                <a:latin typeface="Arial" pitchFamily="34" charset="0"/>
                <a:cs typeface="Arial" pitchFamily="34" charset="0"/>
              </a:rPr>
              <a:t>Describe </a:t>
            </a:r>
            <a:r>
              <a:rPr lang="en-US" sz="2300" i="0" dirty="0" smtClean="0">
                <a:latin typeface="Arial" pitchFamily="34" charset="0"/>
                <a:cs typeface="Arial" pitchFamily="34" charset="0"/>
              </a:rPr>
              <a:t>contemporary views of leadership.</a:t>
            </a:r>
          </a:p>
          <a:p>
            <a:pPr marL="571500" indent="-571500" eaLnBrk="1" hangingPunct="1">
              <a:buFont typeface="+mj-lt"/>
              <a:buAutoNum type="arabicPeriod"/>
            </a:pPr>
            <a:r>
              <a:rPr lang="en-US" sz="2300" b="1" i="0" dirty="0" smtClean="0">
                <a:latin typeface="Arial" pitchFamily="34" charset="0"/>
                <a:cs typeface="Arial" pitchFamily="34" charset="0"/>
              </a:rPr>
              <a:t>Discuss </a:t>
            </a:r>
            <a:r>
              <a:rPr lang="en-US" sz="2300" i="0" dirty="0" smtClean="0">
                <a:latin typeface="Arial" pitchFamily="34" charset="0"/>
                <a:cs typeface="Arial" pitchFamily="34" charset="0"/>
              </a:rPr>
              <a:t>contemporary issues affecting leadership.</a:t>
            </a:r>
          </a:p>
          <a:p>
            <a:pPr marL="971550" lvl="1" indent="-571500">
              <a:buFont typeface="Wingdings" charset="2"/>
              <a:buChar char="§"/>
            </a:pPr>
            <a:r>
              <a:rPr lang="en-US" sz="2200" b="1" dirty="0" smtClean="0">
                <a:latin typeface="Arial" pitchFamily="34" charset="0"/>
                <a:cs typeface="Arial" pitchFamily="34" charset="0"/>
              </a:rPr>
              <a:t>Know how </a:t>
            </a:r>
            <a:r>
              <a:rPr lang="en-US" sz="2200" dirty="0" smtClean="0">
                <a:latin typeface="Arial" pitchFamily="34" charset="0"/>
                <a:cs typeface="Arial" pitchFamily="34" charset="0"/>
              </a:rPr>
              <a:t>to prepare for an effective transition to a leadership position.</a:t>
            </a:r>
            <a:endParaRPr lang="en-US" sz="2200" i="0" dirty="0" smtClean="0">
              <a:latin typeface="Arial" pitchFamily="34" charset="0"/>
              <a:cs typeface="Arial" pitchFamily="34" charset="0"/>
            </a:endParaRPr>
          </a:p>
          <a:p>
            <a:endParaRPr lang="en-IN" altLang="en-US" dirty="0" smtClean="0"/>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AECF8AA-47C5-4224-AE77-132BF5E2B9CE}"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82235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normAutofit fontScale="90000"/>
          </a:bodyPr>
          <a:lstStyle/>
          <a:p>
            <a:pPr algn="ctr"/>
            <a:r>
              <a:rPr lang="en-US" sz="3600" dirty="0" smtClean="0"/>
              <a:t>Who Are Leaders and </a:t>
            </a:r>
            <a:br>
              <a:rPr lang="en-US" sz="3600" dirty="0" smtClean="0"/>
            </a:br>
            <a:r>
              <a:rPr lang="en-US" sz="3600" dirty="0" smtClean="0"/>
              <a:t>What Is Leadership?</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b="1" dirty="0" smtClean="0">
                <a:latin typeface="Arial" pitchFamily="34" charset="0"/>
                <a:cs typeface="Arial" pitchFamily="34" charset="0"/>
              </a:rPr>
              <a:t>Leader</a:t>
            </a: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31746"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lnSpc>
                <a:spcPct val="90000"/>
              </a:lnSpc>
              <a:spcBef>
                <a:spcPct val="45000"/>
              </a:spcBef>
            </a:pPr>
            <a:r>
              <a:rPr lang="en-US" sz="3200" b="1" dirty="0" smtClean="0"/>
              <a:t>    </a:t>
            </a:r>
            <a:r>
              <a:rPr lang="en-US" sz="3600" b="1" dirty="0" smtClean="0"/>
              <a:t>            </a:t>
            </a:r>
            <a:r>
              <a:rPr lang="en-US" sz="3200" dirty="0" smtClean="0"/>
              <a:t>– </a:t>
            </a:r>
            <a:r>
              <a:rPr lang="en-US" sz="3200" dirty="0"/>
              <a:t>s</a:t>
            </a:r>
            <a:r>
              <a:rPr lang="en-US" sz="3200" dirty="0" smtClean="0"/>
              <a:t>omeone </a:t>
            </a:r>
            <a:r>
              <a:rPr lang="en-US" sz="3200" dirty="0"/>
              <a:t>who can influence others and who has managerial authority.</a:t>
            </a:r>
          </a:p>
          <a:p>
            <a:pPr marL="906463" indent="-503238" eaLnBrk="0" hangingPunct="0">
              <a:lnSpc>
                <a:spcPct val="90000"/>
              </a:lnSpc>
              <a:spcBef>
                <a:spcPct val="45000"/>
              </a:spcBef>
              <a:buFont typeface="Arial" charset="0"/>
              <a:buChar char="•"/>
            </a:pPr>
            <a:r>
              <a:rPr lang="en-US" sz="3200" b="1" dirty="0"/>
              <a:t>Leadership</a:t>
            </a:r>
            <a:r>
              <a:rPr lang="en-US" sz="3200" dirty="0"/>
              <a:t> </a:t>
            </a:r>
            <a:r>
              <a:rPr lang="en-US" sz="3200" dirty="0" smtClean="0"/>
              <a:t>– </a:t>
            </a:r>
            <a:r>
              <a:rPr lang="en-US" sz="3200" dirty="0"/>
              <a:t>w</a:t>
            </a:r>
            <a:r>
              <a:rPr lang="en-US" sz="3200" dirty="0" smtClean="0"/>
              <a:t>hat </a:t>
            </a:r>
            <a:r>
              <a:rPr lang="en-US" sz="3200" dirty="0"/>
              <a:t>leaders do; the process of influencing a group to achieve goals.</a:t>
            </a:r>
          </a:p>
          <a:p>
            <a:pPr marL="906463" indent="-503238" eaLnBrk="0" hangingPunct="0">
              <a:lnSpc>
                <a:spcPct val="90000"/>
              </a:lnSpc>
              <a:spcBef>
                <a:spcPct val="45000"/>
              </a:spcBef>
              <a:buFont typeface="Arial" charset="0"/>
              <a:buChar char="•"/>
            </a:pPr>
            <a:r>
              <a:rPr lang="en-US" sz="3200" dirty="0"/>
              <a:t>Ideally, all managers </a:t>
            </a:r>
            <a:r>
              <a:rPr lang="en-US" sz="3200" i="1" dirty="0"/>
              <a:t>should be</a:t>
            </a:r>
            <a:r>
              <a:rPr lang="en-US" sz="3200" dirty="0"/>
              <a:t> leaders.</a:t>
            </a:r>
          </a:p>
        </p:txBody>
      </p:sp>
      <p:sp>
        <p:nvSpPr>
          <p:cNvPr id="6" name="TextBox 5"/>
          <p:cNvSpPr txBox="1"/>
          <p:nvPr/>
        </p:nvSpPr>
        <p:spPr>
          <a:xfrm>
            <a:off x="8001000" y="6477000"/>
            <a:ext cx="838200" cy="246221"/>
          </a:xfrm>
          <a:prstGeom prst="rect">
            <a:avLst/>
          </a:prstGeom>
          <a:noFill/>
        </p:spPr>
        <p:txBody>
          <a:bodyPr wrap="square" rtlCol="0">
            <a:spAutoFit/>
          </a:bodyPr>
          <a:lstStyle/>
          <a:p>
            <a:r>
              <a:rPr lang="en-US" sz="1000" dirty="0" smtClean="0"/>
              <a:t>17 - 3</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p:txBody>
          <a:bodyPr/>
          <a:lstStyle/>
          <a:p>
            <a:pPr algn="ctr"/>
            <a:r>
              <a:rPr lang="en-US" sz="3600" dirty="0" smtClean="0"/>
              <a:t>Early Leadership Theories</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b="1" dirty="0" smtClean="0">
                <a:latin typeface="Arial" pitchFamily="34" charset="0"/>
                <a:cs typeface="Arial" pitchFamily="34" charset="0"/>
              </a:rPr>
              <a:t>Trait Theories</a:t>
            </a: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33794"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50000"/>
              </a:spcBef>
            </a:pPr>
            <a:r>
              <a:rPr lang="en-US" sz="3200" b="1" dirty="0" smtClean="0"/>
              <a:t>                             </a:t>
            </a:r>
            <a:r>
              <a:rPr lang="en-US" sz="3200" dirty="0" smtClean="0"/>
              <a:t>(1920s </a:t>
            </a:r>
            <a:r>
              <a:rPr lang="en-US" sz="3200" dirty="0"/>
              <a:t>-1930s)</a:t>
            </a:r>
          </a:p>
          <a:p>
            <a:pPr marL="742950" lvl="1" indent="-285750" eaLnBrk="0" hangingPunct="0">
              <a:spcBef>
                <a:spcPct val="50000"/>
              </a:spcBef>
              <a:buFont typeface="Arial" charset="0"/>
              <a:buChar char="–"/>
            </a:pPr>
            <a:r>
              <a:rPr lang="en-US" sz="2800" dirty="0"/>
              <a:t>Research focused on identifying personal characteristics that differentiated leaders from non-leaders was unsuccessful. </a:t>
            </a:r>
          </a:p>
          <a:p>
            <a:pPr marL="742950" lvl="1" indent="-285750" eaLnBrk="0" hangingPunct="0">
              <a:spcBef>
                <a:spcPct val="20000"/>
              </a:spcBef>
              <a:buFont typeface="Arial" charset="0"/>
              <a:buChar char="–"/>
            </a:pPr>
            <a:r>
              <a:rPr lang="en-US" sz="2800" dirty="0"/>
              <a:t>It proved impossible to identify a set of traits that would </a:t>
            </a:r>
            <a:r>
              <a:rPr lang="en-US" sz="2800" i="1" dirty="0"/>
              <a:t>always </a:t>
            </a:r>
            <a:r>
              <a:rPr lang="en-US" sz="2800" dirty="0"/>
              <a:t>differentiate a leader (the person) from a </a:t>
            </a:r>
            <a:r>
              <a:rPr lang="en-US" sz="2800" dirty="0" err="1"/>
              <a:t>nonleader</a:t>
            </a:r>
            <a:r>
              <a:rPr lang="en-US" sz="2800" dirty="0"/>
              <a:t>.</a:t>
            </a:r>
          </a:p>
        </p:txBody>
      </p:sp>
      <p:sp>
        <p:nvSpPr>
          <p:cNvPr id="6" name="TextBox 5"/>
          <p:cNvSpPr txBox="1"/>
          <p:nvPr/>
        </p:nvSpPr>
        <p:spPr>
          <a:xfrm>
            <a:off x="8382000" y="6611779"/>
            <a:ext cx="641931" cy="261610"/>
          </a:xfrm>
          <a:prstGeom prst="rect">
            <a:avLst/>
          </a:prstGeom>
          <a:noFill/>
        </p:spPr>
        <p:txBody>
          <a:bodyPr wrap="square" rtlCol="0">
            <a:spAutoFit/>
          </a:bodyPr>
          <a:lstStyle/>
          <a:p>
            <a:pPr algn="ctr"/>
            <a:r>
              <a:rPr lang="en-US" sz="1100" dirty="0" smtClean="0"/>
              <a:t>17 - 4</a:t>
            </a:r>
            <a:endParaRPr lang="en-US" sz="11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normAutofit fontScale="90000"/>
          </a:bodyPr>
          <a:lstStyle/>
          <a:p>
            <a:pPr algn="ctr"/>
            <a:r>
              <a:rPr lang="en-US" sz="3600" dirty="0" smtClean="0"/>
              <a:t>Exhibit 17-1</a:t>
            </a:r>
            <a:br>
              <a:rPr lang="en-US" sz="3600" dirty="0" smtClean="0"/>
            </a:br>
            <a:r>
              <a:rPr lang="en-US" sz="3600" dirty="0" smtClean="0"/>
              <a:t> Eight Traits Associated with Leadership</a:t>
            </a:r>
            <a:endParaRPr lang="en-US" sz="3600" dirty="0" smtClean="0">
              <a:latin typeface="Calibri" pitchFamily="34" charset="0"/>
            </a:endParaRPr>
          </a:p>
        </p:txBody>
      </p:sp>
      <p:sp>
        <p:nvSpPr>
          <p:cNvPr id="3" name="Content Placeholder 2"/>
          <p:cNvSpPr>
            <a:spLocks noGrp="1"/>
          </p:cNvSpPr>
          <p:nvPr>
            <p:ph idx="1"/>
          </p:nvPr>
        </p:nvSpPr>
        <p:spPr/>
        <p:txBody>
          <a:bodyPr/>
          <a:lstStyle/>
          <a:p>
            <a:endParaRPr lang="en-US"/>
          </a:p>
        </p:txBody>
      </p:sp>
      <p:sp>
        <p:nvSpPr>
          <p:cNvPr id="4"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pic>
        <p:nvPicPr>
          <p:cNvPr id="1027" name="Picture 3"/>
          <p:cNvPicPr>
            <a:picLocks noChangeAspect="1" noChangeArrowheads="1"/>
          </p:cNvPicPr>
          <p:nvPr/>
        </p:nvPicPr>
        <p:blipFill>
          <a:blip r:embed="rId3" cstate="print"/>
          <a:srcRect/>
          <a:stretch>
            <a:fillRect/>
          </a:stretch>
        </p:blipFill>
        <p:spPr bwMode="auto">
          <a:xfrm>
            <a:off x="1143000" y="1981200"/>
            <a:ext cx="67818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normAutofit/>
          </a:bodyPr>
          <a:lstStyle/>
          <a:p>
            <a:pPr algn="ctr"/>
            <a:r>
              <a:rPr lang="en-US" sz="3600" dirty="0" smtClean="0"/>
              <a:t>Early Leadership Theories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b="1" dirty="0" smtClean="0">
                <a:latin typeface="Arial" pitchFamily="34" charset="0"/>
                <a:cs typeface="Arial" pitchFamily="34" charset="0"/>
              </a:rPr>
              <a:t>Behavioral theories</a:t>
            </a: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39938" name="Rectangle 3"/>
          <p:cNvSpPr txBox="1">
            <a:spLocks/>
          </p:cNvSpPr>
          <p:nvPr/>
        </p:nvSpPr>
        <p:spPr bwMode="auto">
          <a:xfrm>
            <a:off x="457200" y="1600200"/>
            <a:ext cx="8382000" cy="4525963"/>
          </a:xfrm>
          <a:prstGeom prst="rect">
            <a:avLst/>
          </a:prstGeom>
          <a:noFill/>
          <a:ln w="9525">
            <a:noFill/>
            <a:miter lim="800000"/>
            <a:headEnd/>
            <a:tailEnd/>
          </a:ln>
        </p:spPr>
        <p:txBody>
          <a:bodyPr/>
          <a:lstStyle/>
          <a:p>
            <a:pPr marL="342900" indent="-342900" eaLnBrk="0" hangingPunct="0">
              <a:spcBef>
                <a:spcPct val="20000"/>
              </a:spcBef>
            </a:pPr>
            <a:r>
              <a:rPr lang="en-US" sz="3200" b="1" dirty="0" smtClean="0"/>
              <a:t>                                       </a:t>
            </a:r>
            <a:r>
              <a:rPr lang="en-US" sz="3200" dirty="0"/>
              <a:t>–</a:t>
            </a:r>
            <a:r>
              <a:rPr lang="en-US" sz="3200" b="1" dirty="0" smtClean="0"/>
              <a:t> </a:t>
            </a:r>
            <a:r>
              <a:rPr lang="en-US" sz="3200" dirty="0"/>
              <a:t>leadership theories that identify behaviors that differentiated effective leaders from ineffective leaders.</a:t>
            </a:r>
          </a:p>
          <a:p>
            <a:pPr marL="866775" indent="-403225" eaLnBrk="0" hangingPunct="0">
              <a:spcBef>
                <a:spcPct val="20000"/>
              </a:spcBef>
              <a:buFont typeface="Arial" charset="0"/>
              <a:buChar char="•"/>
            </a:pPr>
            <a:r>
              <a:rPr lang="en-US" sz="2800" b="1" dirty="0"/>
              <a:t>University of Iowa Studies </a:t>
            </a:r>
          </a:p>
          <a:p>
            <a:pPr marL="1249363" lvl="1" indent="-280988" eaLnBrk="0" hangingPunct="0">
              <a:spcBef>
                <a:spcPct val="20000"/>
              </a:spcBef>
              <a:buFont typeface="Arial" charset="0"/>
              <a:buChar char="–"/>
            </a:pPr>
            <a:r>
              <a:rPr lang="en-US" sz="2600" dirty="0"/>
              <a:t>Identified three leadership styles</a:t>
            </a:r>
          </a:p>
          <a:p>
            <a:pPr marL="1431925" lvl="2" indent="-282575" eaLnBrk="0" hangingPunct="0">
              <a:spcBef>
                <a:spcPct val="20000"/>
              </a:spcBef>
              <a:buFont typeface="Arial" charset="0"/>
              <a:buChar char="•"/>
            </a:pPr>
            <a:r>
              <a:rPr lang="en-US" sz="2400" dirty="0"/>
              <a:t>Autocratic</a:t>
            </a:r>
          </a:p>
          <a:p>
            <a:pPr marL="1431925" lvl="2" indent="-282575" eaLnBrk="0" hangingPunct="0">
              <a:spcBef>
                <a:spcPct val="20000"/>
              </a:spcBef>
              <a:buFont typeface="Arial" charset="0"/>
              <a:buChar char="•"/>
            </a:pPr>
            <a:r>
              <a:rPr lang="en-US" sz="2400" dirty="0"/>
              <a:t>Democratic</a:t>
            </a:r>
          </a:p>
          <a:p>
            <a:pPr marL="1431925" lvl="2" indent="-282575" eaLnBrk="0" hangingPunct="0">
              <a:spcBef>
                <a:spcPct val="20000"/>
              </a:spcBef>
              <a:buFont typeface="Arial" charset="0"/>
              <a:buChar char="•"/>
            </a:pPr>
            <a:r>
              <a:rPr lang="en-US" sz="2400" dirty="0"/>
              <a:t>Laissez-faire</a:t>
            </a:r>
          </a:p>
          <a:p>
            <a:pPr marL="742950" lvl="1" indent="-285750" eaLnBrk="0" hangingPunct="0">
              <a:spcBef>
                <a:spcPct val="20000"/>
              </a:spcBef>
              <a:buFont typeface="Arial" charset="0"/>
              <a:buChar char="–"/>
            </a:pPr>
            <a:endParaRPr lang="en-US" sz="2800" dirty="0"/>
          </a:p>
        </p:txBody>
      </p:sp>
      <p:sp>
        <p:nvSpPr>
          <p:cNvPr id="6" name="TextBox 5"/>
          <p:cNvSpPr txBox="1"/>
          <p:nvPr/>
        </p:nvSpPr>
        <p:spPr>
          <a:xfrm>
            <a:off x="8001000" y="6400800"/>
            <a:ext cx="685800" cy="261610"/>
          </a:xfrm>
          <a:prstGeom prst="rect">
            <a:avLst/>
          </a:prstGeom>
          <a:noFill/>
        </p:spPr>
        <p:txBody>
          <a:bodyPr wrap="square" rtlCol="0">
            <a:spAutoFit/>
          </a:bodyPr>
          <a:lstStyle/>
          <a:p>
            <a:r>
              <a:rPr lang="en-US" sz="1100" dirty="0" smtClean="0"/>
              <a:t>17 - 6</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normAutofit/>
          </a:bodyPr>
          <a:lstStyle/>
          <a:p>
            <a:pPr algn="ctr"/>
            <a:r>
              <a:rPr lang="en-US" sz="3600" dirty="0" smtClean="0"/>
              <a:t>University of Iowa Studies (cont.)</a:t>
            </a:r>
          </a:p>
        </p:txBody>
      </p:sp>
      <p:sp>
        <p:nvSpPr>
          <p:cNvPr id="5" name="Content Placeholder 4"/>
          <p:cNvSpPr>
            <a:spLocks noGrp="1"/>
          </p:cNvSpPr>
          <p:nvPr>
            <p:ph idx="1"/>
          </p:nvPr>
        </p:nvSpPr>
        <p:spPr/>
        <p:txBody>
          <a:bodyPr>
            <a:normAutofit/>
          </a:bodyPr>
          <a:lstStyle/>
          <a:p>
            <a:pPr indent="-342900" eaLnBrk="0" hangingPunct="0">
              <a:spcBef>
                <a:spcPct val="20000"/>
              </a:spcBef>
              <a:buClrTx/>
              <a:buFont typeface="Arial"/>
              <a:buChar char="•"/>
            </a:pPr>
            <a:r>
              <a:rPr lang="en-US" sz="2400" b="1" dirty="0" smtClean="0">
                <a:latin typeface="Arial"/>
                <a:cs typeface="Arial"/>
              </a:rPr>
              <a:t>Autocratic style </a:t>
            </a:r>
            <a:r>
              <a:rPr lang="en-US" sz="2400" dirty="0">
                <a:latin typeface="Arial"/>
                <a:cs typeface="Arial"/>
              </a:rPr>
              <a:t>–</a:t>
            </a:r>
            <a:r>
              <a:rPr lang="en-US" sz="2400" b="1" dirty="0">
                <a:latin typeface="Arial"/>
                <a:cs typeface="Arial"/>
              </a:rPr>
              <a:t> </a:t>
            </a:r>
            <a:r>
              <a:rPr lang="en-US" sz="2400" dirty="0">
                <a:latin typeface="Arial"/>
                <a:cs typeface="Arial"/>
              </a:rPr>
              <a:t>A leader who dictates work methods, makes unilateral decisions, and limits employee participation.</a:t>
            </a:r>
          </a:p>
          <a:p>
            <a:pPr indent="-342900" eaLnBrk="0" hangingPunct="0">
              <a:spcBef>
                <a:spcPct val="20000"/>
              </a:spcBef>
              <a:buClrTx/>
              <a:buFont typeface="Arial"/>
              <a:buChar char="•"/>
            </a:pPr>
            <a:r>
              <a:rPr lang="en-US" sz="2400" b="1" dirty="0">
                <a:latin typeface="Arial"/>
                <a:cs typeface="Arial"/>
              </a:rPr>
              <a:t>Democratic style </a:t>
            </a:r>
            <a:r>
              <a:rPr lang="en-US" sz="2400" dirty="0">
                <a:latin typeface="Arial"/>
                <a:cs typeface="Arial"/>
              </a:rPr>
              <a:t>–</a:t>
            </a:r>
            <a:r>
              <a:rPr lang="en-US" sz="2400" b="1" dirty="0">
                <a:latin typeface="Arial"/>
                <a:cs typeface="Arial"/>
              </a:rPr>
              <a:t> </a:t>
            </a:r>
            <a:r>
              <a:rPr lang="en-US" sz="2400" dirty="0">
                <a:latin typeface="Arial"/>
                <a:cs typeface="Arial"/>
              </a:rPr>
              <a:t>A leader who involves employees in decision-making, delegates authority, and uses feedback as an opportunity for coaching employees</a:t>
            </a:r>
          </a:p>
          <a:p>
            <a:pPr indent="-342900" eaLnBrk="0" hangingPunct="0">
              <a:spcBef>
                <a:spcPct val="20000"/>
              </a:spcBef>
              <a:buClrTx/>
              <a:buFont typeface="Arial"/>
              <a:buChar char="•"/>
            </a:pPr>
            <a:r>
              <a:rPr lang="en-US" sz="2400" b="1" dirty="0">
                <a:latin typeface="Arial"/>
                <a:cs typeface="Arial"/>
              </a:rPr>
              <a:t>Laissez-faire style </a:t>
            </a:r>
            <a:r>
              <a:rPr lang="en-US" sz="2400" dirty="0">
                <a:latin typeface="Arial"/>
                <a:cs typeface="Arial"/>
              </a:rPr>
              <a:t>–</a:t>
            </a:r>
            <a:r>
              <a:rPr lang="en-US" sz="2400" b="1" dirty="0">
                <a:latin typeface="Arial"/>
                <a:cs typeface="Arial"/>
              </a:rPr>
              <a:t> </a:t>
            </a:r>
            <a:r>
              <a:rPr lang="en-US" sz="2400" dirty="0">
                <a:latin typeface="Arial"/>
                <a:cs typeface="Arial"/>
              </a:rPr>
              <a:t>A leader who lets the group make decisions and complete the work in whatever way it sees fit.</a:t>
            </a:r>
          </a:p>
          <a:p>
            <a:endParaRPr lang="en-US" sz="24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458200" y="6488668"/>
            <a:ext cx="579119" cy="261610"/>
          </a:xfrm>
          <a:prstGeom prst="rect">
            <a:avLst/>
          </a:prstGeom>
          <a:noFill/>
        </p:spPr>
        <p:txBody>
          <a:bodyPr wrap="square" rtlCol="0">
            <a:spAutoFit/>
          </a:bodyPr>
          <a:lstStyle/>
          <a:p>
            <a:r>
              <a:rPr lang="en-US" sz="1100" dirty="0" smtClean="0"/>
              <a:t>17 - 7</a:t>
            </a:r>
            <a:endParaRPr lang="en-US" sz="1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normAutofit/>
          </a:bodyPr>
          <a:lstStyle/>
          <a:p>
            <a:pPr algn="ctr"/>
            <a:r>
              <a:rPr lang="en-US" sz="3600" dirty="0" smtClean="0"/>
              <a:t>Early Leadership Theories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2800" b="1" dirty="0" smtClean="0">
                <a:latin typeface="Arial" pitchFamily="34" charset="0"/>
                <a:cs typeface="Arial" pitchFamily="34" charset="0"/>
              </a:rPr>
              <a:t>The Ohio State Studies</a:t>
            </a:r>
            <a:endParaRPr lang="en-US" sz="28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44034" name="Rectangle 3"/>
          <p:cNvSpPr txBox="1">
            <a:spLocks/>
          </p:cNvSpPr>
          <p:nvPr/>
        </p:nvSpPr>
        <p:spPr bwMode="auto">
          <a:xfrm>
            <a:off x="457200" y="1676400"/>
            <a:ext cx="8229600" cy="4525963"/>
          </a:xfrm>
          <a:prstGeom prst="rect">
            <a:avLst/>
          </a:prstGeom>
          <a:noFill/>
          <a:ln w="9525">
            <a:noFill/>
            <a:miter lim="800000"/>
            <a:headEnd/>
            <a:tailEnd/>
          </a:ln>
        </p:spPr>
        <p:txBody>
          <a:bodyPr/>
          <a:lstStyle/>
          <a:p>
            <a:pPr marL="342900" indent="-342900" eaLnBrk="0" hangingPunct="0">
              <a:spcBef>
                <a:spcPct val="40000"/>
              </a:spcBef>
            </a:pPr>
            <a:endParaRPr lang="en-US" sz="2400" b="1" dirty="0"/>
          </a:p>
          <a:p>
            <a:pPr marL="742950" lvl="1" indent="-285750" eaLnBrk="0" hangingPunct="0">
              <a:spcBef>
                <a:spcPct val="40000"/>
              </a:spcBef>
              <a:buFont typeface="Arial" charset="0"/>
              <a:buChar char="–"/>
            </a:pPr>
            <a:r>
              <a:rPr lang="en-US" sz="2600" dirty="0"/>
              <a:t>Identified two dimensions of leader behavior:</a:t>
            </a:r>
          </a:p>
          <a:p>
            <a:pPr marL="1143000" lvl="2" indent="-228600" eaLnBrk="0" hangingPunct="0">
              <a:spcBef>
                <a:spcPct val="40000"/>
              </a:spcBef>
              <a:buFont typeface="Arial" charset="0"/>
              <a:buChar char="•"/>
            </a:pPr>
            <a:r>
              <a:rPr lang="en-US" sz="2400" b="1" dirty="0"/>
              <a:t>Initiating structure:</a:t>
            </a:r>
            <a:r>
              <a:rPr lang="en-US" sz="2400" dirty="0"/>
              <a:t> the role of the leader in defining his or her role and the roles of group members.</a:t>
            </a:r>
          </a:p>
          <a:p>
            <a:pPr marL="1143000" lvl="2" indent="-228600" eaLnBrk="0" hangingPunct="0">
              <a:spcBef>
                <a:spcPct val="40000"/>
              </a:spcBef>
              <a:buFont typeface="Arial" charset="0"/>
              <a:buChar char="•"/>
            </a:pPr>
            <a:r>
              <a:rPr lang="en-US" sz="2400" b="1" dirty="0"/>
              <a:t>Consideration:</a:t>
            </a:r>
            <a:r>
              <a:rPr lang="en-US" sz="2400" dirty="0"/>
              <a:t> the leader’s mutual trust and respect for group members’ ideas and feelings.</a:t>
            </a:r>
          </a:p>
        </p:txBody>
      </p:sp>
      <p:sp>
        <p:nvSpPr>
          <p:cNvPr id="6" name="TextBox 5"/>
          <p:cNvSpPr txBox="1"/>
          <p:nvPr/>
        </p:nvSpPr>
        <p:spPr>
          <a:xfrm>
            <a:off x="8229600" y="6611779"/>
            <a:ext cx="718131" cy="261610"/>
          </a:xfrm>
          <a:prstGeom prst="rect">
            <a:avLst/>
          </a:prstGeom>
          <a:noFill/>
        </p:spPr>
        <p:txBody>
          <a:bodyPr wrap="square" rtlCol="0">
            <a:spAutoFit/>
          </a:bodyPr>
          <a:lstStyle/>
          <a:p>
            <a:r>
              <a:rPr lang="en-US" sz="1100" dirty="0" smtClean="0"/>
              <a:t>17 - 8</a:t>
            </a:r>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algn="ctr"/>
            <a:r>
              <a:rPr lang="en-US" sz="3600" dirty="0" smtClean="0"/>
              <a:t>Results of Ohio State Studies</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40000"/>
              </a:spcBef>
              <a:buClrTx/>
              <a:buFont typeface="Arial"/>
              <a:buChar char="•"/>
            </a:pPr>
            <a:r>
              <a:rPr lang="en-US" sz="2800" dirty="0" smtClean="0">
                <a:latin typeface="Arial"/>
                <a:cs typeface="Arial"/>
              </a:rPr>
              <a:t>High consideration</a:t>
            </a:r>
            <a:r>
              <a:rPr lang="en-US" sz="2800" dirty="0">
                <a:latin typeface="Arial"/>
                <a:cs typeface="Arial"/>
              </a:rPr>
              <a:t>/high structure leaders generally, but not always, achieved high scores on group task performance and satisfaction.</a:t>
            </a:r>
          </a:p>
          <a:p>
            <a:pPr marL="457200" indent="-457200" eaLnBrk="0" hangingPunct="0">
              <a:spcBef>
                <a:spcPct val="40000"/>
              </a:spcBef>
              <a:buClrTx/>
              <a:buFont typeface="Arial"/>
              <a:buChar char="•"/>
            </a:pPr>
            <a:r>
              <a:rPr lang="en-US" sz="2800" dirty="0">
                <a:latin typeface="Arial"/>
                <a:cs typeface="Arial"/>
              </a:rPr>
              <a:t>Evidence indicated that situational factors appeared to strongly influence leadership effectiveness.</a:t>
            </a:r>
          </a:p>
          <a:p>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229600" y="6611779"/>
            <a:ext cx="685800" cy="261610"/>
          </a:xfrm>
          <a:prstGeom prst="rect">
            <a:avLst/>
          </a:prstGeom>
          <a:noFill/>
        </p:spPr>
        <p:txBody>
          <a:bodyPr wrap="square" rtlCol="0">
            <a:spAutoFit/>
          </a:bodyPr>
          <a:lstStyle/>
          <a:p>
            <a:r>
              <a:rPr lang="en-US" sz="1100" dirty="0" smtClean="0"/>
              <a:t>17 - 9</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extLst/>
        </p:spPr>
        <p:txBody>
          <a:bodyPr>
            <a:normAutofit/>
          </a:bodyPr>
          <a:lstStyle/>
          <a:p>
            <a:pPr algn="ctr">
              <a:defRPr/>
            </a:pPr>
            <a:r>
              <a:rPr lang="en-US" sz="3600" dirty="0">
                <a:solidFill>
                  <a:schemeClr val="tx2"/>
                </a:solidFill>
              </a:rPr>
              <a:t>University of Michigan Studies</a:t>
            </a:r>
            <a:endParaRPr lang="en-US" sz="3600" dirty="0" smtClean="0">
              <a:solidFill>
                <a:schemeClr val="tx2"/>
              </a:solidFill>
              <a:latin typeface="Calibri" pitchFamily="34" charset="0"/>
            </a:endParaRPr>
          </a:p>
        </p:txBody>
      </p:sp>
      <p:sp>
        <p:nvSpPr>
          <p:cNvPr id="5" name="Content Placeholder 4"/>
          <p:cNvSpPr>
            <a:spLocks noGrp="1"/>
          </p:cNvSpPr>
          <p:nvPr>
            <p:ph idx="1"/>
          </p:nvPr>
        </p:nvSpPr>
        <p:spPr/>
        <p:txBody>
          <a:bodyPr>
            <a:normAutofit/>
          </a:bodyPr>
          <a:lstStyle/>
          <a:p>
            <a:r>
              <a:rPr lang="en-US" sz="2800" dirty="0" smtClean="0">
                <a:latin typeface="Arial" pitchFamily="34" charset="0"/>
                <a:cs typeface="Arial" pitchFamily="34" charset="0"/>
              </a:rPr>
              <a:t>Identified</a:t>
            </a:r>
            <a:endParaRPr lang="en-US" sz="28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48130" name="Rectangle 3"/>
          <p:cNvSpPr txBox="1">
            <a:spLocks/>
          </p:cNvSpPr>
          <p:nvPr/>
        </p:nvSpPr>
        <p:spPr bwMode="auto">
          <a:xfrm>
            <a:off x="381000" y="1600201"/>
            <a:ext cx="8610600" cy="4190999"/>
          </a:xfrm>
          <a:prstGeom prst="rect">
            <a:avLst/>
          </a:prstGeom>
          <a:noFill/>
          <a:ln w="9525">
            <a:noFill/>
            <a:miter lim="800000"/>
            <a:headEnd/>
            <a:tailEnd/>
          </a:ln>
        </p:spPr>
        <p:txBody>
          <a:bodyPr/>
          <a:lstStyle/>
          <a:p>
            <a:pPr marL="342900" indent="-342900" eaLnBrk="0" hangingPunct="0">
              <a:spcBef>
                <a:spcPct val="50000"/>
              </a:spcBef>
            </a:pPr>
            <a:r>
              <a:rPr lang="en-US" sz="2800" dirty="0" smtClean="0"/>
              <a:t>                     two </a:t>
            </a:r>
            <a:r>
              <a:rPr lang="en-US" sz="2800" dirty="0"/>
              <a:t>dimensions of leader behavior:</a:t>
            </a:r>
          </a:p>
          <a:p>
            <a:pPr marL="742950" lvl="1" indent="-285750" eaLnBrk="0" hangingPunct="0">
              <a:spcBef>
                <a:spcPct val="50000"/>
              </a:spcBef>
              <a:buFont typeface="Arial" charset="0"/>
              <a:buChar char="–"/>
            </a:pPr>
            <a:r>
              <a:rPr lang="en-US" sz="2400" b="1" dirty="0"/>
              <a:t>Employee oriented:</a:t>
            </a:r>
            <a:r>
              <a:rPr lang="en-US" sz="2400" dirty="0"/>
              <a:t> emphasizing personal relationships</a:t>
            </a:r>
          </a:p>
          <a:p>
            <a:pPr marL="742950" lvl="1" indent="-285750" eaLnBrk="0" hangingPunct="0">
              <a:spcBef>
                <a:spcPct val="50000"/>
              </a:spcBef>
              <a:buFont typeface="Arial" charset="0"/>
              <a:buChar char="–"/>
            </a:pPr>
            <a:r>
              <a:rPr lang="en-US" sz="2400" b="1" dirty="0"/>
              <a:t>Production oriented:</a:t>
            </a:r>
            <a:r>
              <a:rPr lang="en-US" sz="2400" dirty="0"/>
              <a:t> emphasizing task accomplishment</a:t>
            </a:r>
          </a:p>
          <a:p>
            <a:pPr marL="866775" indent="-403225" eaLnBrk="0" hangingPunct="0">
              <a:spcBef>
                <a:spcPct val="50000"/>
              </a:spcBef>
              <a:buFont typeface="Arial" charset="0"/>
              <a:buChar char="•"/>
            </a:pPr>
            <a:r>
              <a:rPr lang="en-US" sz="2800" dirty="0"/>
              <a:t>Research findings: </a:t>
            </a:r>
          </a:p>
          <a:p>
            <a:pPr marL="1370013" lvl="1" indent="-463550" eaLnBrk="0" hangingPunct="0">
              <a:spcBef>
                <a:spcPct val="50000"/>
              </a:spcBef>
              <a:buFont typeface="Arial" charset="0"/>
              <a:buChar char="–"/>
            </a:pPr>
            <a:r>
              <a:rPr lang="en-US" sz="2400" dirty="0"/>
              <a:t>Leaders who are employee oriented are strongly associated with high group productivity and high job satisfaction.</a:t>
            </a:r>
          </a:p>
        </p:txBody>
      </p:sp>
      <p:sp>
        <p:nvSpPr>
          <p:cNvPr id="6" name="TextBox 5"/>
          <p:cNvSpPr txBox="1"/>
          <p:nvPr/>
        </p:nvSpPr>
        <p:spPr>
          <a:xfrm>
            <a:off x="8229600" y="6488668"/>
            <a:ext cx="794331" cy="261610"/>
          </a:xfrm>
          <a:prstGeom prst="rect">
            <a:avLst/>
          </a:prstGeom>
          <a:noFill/>
        </p:spPr>
        <p:txBody>
          <a:bodyPr wrap="square" rtlCol="0">
            <a:spAutoFit/>
          </a:bodyPr>
          <a:lstStyle/>
          <a:p>
            <a:r>
              <a:rPr lang="en-US" sz="1100" dirty="0" smtClean="0"/>
              <a:t>17 - 10</a:t>
            </a:r>
            <a:endParaRPr lang="en-US" sz="11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pPr algn="ctr"/>
            <a:r>
              <a:rPr lang="en-US" sz="3600" dirty="0" smtClean="0"/>
              <a:t>The Managerial Grid</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b="1" dirty="0" smtClean="0">
                <a:latin typeface="Arial" pitchFamily="34" charset="0"/>
                <a:cs typeface="Arial" pitchFamily="34" charset="0"/>
              </a:rPr>
              <a:t>Managerial grid</a:t>
            </a: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50178" name="Rectangle 3"/>
          <p:cNvSpPr txBox="1">
            <a:spLocks/>
          </p:cNvSpPr>
          <p:nvPr/>
        </p:nvSpPr>
        <p:spPr bwMode="auto">
          <a:xfrm>
            <a:off x="457200" y="1600201"/>
            <a:ext cx="8229600" cy="4191000"/>
          </a:xfrm>
          <a:prstGeom prst="rect">
            <a:avLst/>
          </a:prstGeom>
          <a:noFill/>
          <a:ln w="9525">
            <a:noFill/>
            <a:miter lim="800000"/>
            <a:headEnd/>
            <a:tailEnd/>
          </a:ln>
        </p:spPr>
        <p:txBody>
          <a:bodyPr/>
          <a:lstStyle/>
          <a:p>
            <a:pPr marL="342900" indent="-342900" eaLnBrk="0" hangingPunct="0">
              <a:spcBef>
                <a:spcPct val="20000"/>
              </a:spcBef>
            </a:pPr>
            <a:r>
              <a:rPr lang="en-US" sz="3200" b="1" dirty="0" smtClean="0"/>
              <a:t>                                </a:t>
            </a:r>
            <a:r>
              <a:rPr lang="en-US" sz="3200" dirty="0" smtClean="0"/>
              <a:t>–</a:t>
            </a:r>
            <a:r>
              <a:rPr lang="en-US" sz="3200" b="1" dirty="0" smtClean="0"/>
              <a:t> </a:t>
            </a:r>
            <a:r>
              <a:rPr lang="en-US" sz="3200" dirty="0"/>
              <a:t>a two-dimensional grid for appraising leadership </a:t>
            </a:r>
            <a:r>
              <a:rPr lang="en-US" sz="3200" dirty="0" smtClean="0"/>
              <a:t>styles.</a:t>
            </a:r>
            <a:endParaRPr lang="en-US" sz="3200" dirty="0"/>
          </a:p>
          <a:p>
            <a:pPr marL="906463" indent="-442913" eaLnBrk="0" hangingPunct="0">
              <a:spcBef>
                <a:spcPct val="30000"/>
              </a:spcBef>
              <a:buFont typeface="Arial" charset="0"/>
              <a:buChar char="•"/>
            </a:pPr>
            <a:r>
              <a:rPr lang="en-US" sz="2400" dirty="0"/>
              <a:t>Places managerial styles in five categories:</a:t>
            </a:r>
          </a:p>
          <a:p>
            <a:pPr marL="1370013" lvl="1" indent="-220663" eaLnBrk="0" hangingPunct="0">
              <a:spcBef>
                <a:spcPct val="30000"/>
              </a:spcBef>
              <a:buFont typeface="Arial" charset="0"/>
              <a:buChar char="–"/>
            </a:pPr>
            <a:r>
              <a:rPr lang="en-US" sz="2400" dirty="0"/>
              <a:t>Impoverished management</a:t>
            </a:r>
          </a:p>
          <a:p>
            <a:pPr marL="1370013" lvl="1" indent="-220663" eaLnBrk="0" hangingPunct="0">
              <a:spcBef>
                <a:spcPct val="30000"/>
              </a:spcBef>
              <a:buFont typeface="Arial" charset="0"/>
              <a:buChar char="–"/>
            </a:pPr>
            <a:r>
              <a:rPr lang="en-US" sz="2400" dirty="0"/>
              <a:t>Task management</a:t>
            </a:r>
          </a:p>
          <a:p>
            <a:pPr marL="1370013" lvl="1" indent="-220663" eaLnBrk="0" hangingPunct="0">
              <a:spcBef>
                <a:spcPct val="30000"/>
              </a:spcBef>
              <a:buFont typeface="Arial" charset="0"/>
              <a:buChar char="–"/>
            </a:pPr>
            <a:r>
              <a:rPr lang="en-US" sz="2400" dirty="0"/>
              <a:t>Middle-of-the-road management</a:t>
            </a:r>
          </a:p>
          <a:p>
            <a:pPr marL="1370013" lvl="1" indent="-220663" eaLnBrk="0" hangingPunct="0">
              <a:spcBef>
                <a:spcPct val="30000"/>
              </a:spcBef>
              <a:buFont typeface="Arial" charset="0"/>
              <a:buChar char="–"/>
            </a:pPr>
            <a:r>
              <a:rPr lang="en-US" sz="2400" dirty="0"/>
              <a:t>Country club management</a:t>
            </a:r>
          </a:p>
          <a:p>
            <a:pPr marL="1370013" lvl="1" indent="-220663" eaLnBrk="0" hangingPunct="0">
              <a:spcBef>
                <a:spcPct val="30000"/>
              </a:spcBef>
              <a:buFont typeface="Arial" charset="0"/>
              <a:buChar char="–"/>
            </a:pPr>
            <a:r>
              <a:rPr lang="en-US" sz="2400" dirty="0"/>
              <a:t>Team management</a:t>
            </a:r>
          </a:p>
          <a:p>
            <a:pPr marL="342900" indent="-342900" eaLnBrk="0" hangingPunct="0">
              <a:spcBef>
                <a:spcPct val="20000"/>
              </a:spcBef>
              <a:buFont typeface="Arial" charset="0"/>
              <a:buChar char="•"/>
            </a:pPr>
            <a:endParaRPr lang="en-US" sz="3200" dirty="0"/>
          </a:p>
        </p:txBody>
      </p:sp>
      <p:sp>
        <p:nvSpPr>
          <p:cNvPr id="6" name="TextBox 5"/>
          <p:cNvSpPr txBox="1"/>
          <p:nvPr/>
        </p:nvSpPr>
        <p:spPr>
          <a:xfrm>
            <a:off x="8044869" y="6488668"/>
            <a:ext cx="1099131" cy="261610"/>
          </a:xfrm>
          <a:prstGeom prst="rect">
            <a:avLst/>
          </a:prstGeom>
          <a:noFill/>
        </p:spPr>
        <p:txBody>
          <a:bodyPr wrap="square" rtlCol="0">
            <a:spAutoFit/>
          </a:bodyPr>
          <a:lstStyle/>
          <a:p>
            <a:r>
              <a:rPr lang="en-US" sz="1100" dirty="0" smtClean="0"/>
              <a:t>17 - 11</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normAutofit fontScale="90000"/>
          </a:bodyPr>
          <a:lstStyle/>
          <a:p>
            <a:pPr algn="ctr"/>
            <a:r>
              <a:rPr lang="en-US" sz="3600" dirty="0" smtClean="0"/>
              <a:t>Exhibit 17-2</a:t>
            </a:r>
            <a:r>
              <a:rPr lang="en-US" dirty="0"/>
              <a:t/>
            </a:r>
            <a:br>
              <a:rPr lang="en-US" dirty="0"/>
            </a:br>
            <a:r>
              <a:rPr lang="en-US" sz="3600" dirty="0" smtClean="0"/>
              <a:t>Behavioral Theories of Leadership </a:t>
            </a:r>
            <a:endParaRPr lang="en-US" sz="3600" dirty="0" smtClean="0">
              <a:latin typeface="Calibri" pitchFamily="34" charset="0"/>
            </a:endParaRPr>
          </a:p>
        </p:txBody>
      </p:sp>
      <p:pic>
        <p:nvPicPr>
          <p:cNvPr id="2050" name="Picture 2"/>
          <p:cNvPicPr>
            <a:picLocks noGrp="1" noChangeAspect="1" noChangeArrowheads="1"/>
          </p:cNvPicPr>
          <p:nvPr>
            <p:ph idx="1"/>
          </p:nvPr>
        </p:nvPicPr>
        <p:blipFill>
          <a:blip r:embed="rId3" cstate="print"/>
          <a:stretch>
            <a:fillRect/>
          </a:stretch>
        </p:blipFill>
        <p:spPr bwMode="auto">
          <a:xfrm>
            <a:off x="2578309" y="1600200"/>
            <a:ext cx="3987382" cy="4525963"/>
          </a:xfrm>
          <a:prstGeom prst="rect">
            <a:avLst/>
          </a:prstGeom>
          <a:noFill/>
          <a:ln w="9525">
            <a:noFill/>
            <a:miter lim="800000"/>
            <a:headEnd/>
            <a:tailEnd/>
          </a:ln>
        </p:spPr>
      </p:pic>
      <p:sp>
        <p:nvSpPr>
          <p:cNvPr id="6"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54274"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buFont typeface="Arial" charset="0"/>
              <a:buChar char="•"/>
            </a:pPr>
            <a:endParaRPr lang="en-US" sz="3200"/>
          </a:p>
        </p:txBody>
      </p:sp>
      <p:sp>
        <p:nvSpPr>
          <p:cNvPr id="11" name="TextBox 10"/>
          <p:cNvSpPr txBox="1"/>
          <p:nvPr/>
        </p:nvSpPr>
        <p:spPr>
          <a:xfrm>
            <a:off x="8229600" y="6488668"/>
            <a:ext cx="794331" cy="261610"/>
          </a:xfrm>
          <a:prstGeom prst="rect">
            <a:avLst/>
          </a:prstGeom>
          <a:noFill/>
        </p:spPr>
        <p:txBody>
          <a:bodyPr wrap="square" rtlCol="0">
            <a:spAutoFit/>
          </a:bodyPr>
          <a:lstStyle/>
          <a:p>
            <a:r>
              <a:rPr lang="en-US" sz="1100" dirty="0" smtClean="0"/>
              <a:t>17 - 12</a:t>
            </a:r>
            <a:endParaRPr lang="en-US" sz="11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normAutofit/>
          </a:bodyPr>
          <a:lstStyle/>
          <a:p>
            <a:pPr algn="ctr"/>
            <a:r>
              <a:rPr lang="en-US" sz="3600" dirty="0" smtClean="0"/>
              <a:t>Contingency Theories of Leadership</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2800" b="1" dirty="0" smtClean="0">
                <a:latin typeface="Arial"/>
                <a:cs typeface="Arial"/>
              </a:rPr>
              <a:t>Fieldler contingency model </a:t>
            </a:r>
            <a:r>
              <a:rPr lang="en-US" sz="2800" dirty="0">
                <a:latin typeface="Arial"/>
                <a:cs typeface="Arial"/>
              </a:rPr>
              <a:t>–</a:t>
            </a:r>
            <a:r>
              <a:rPr lang="en-US" sz="2800" b="1" dirty="0">
                <a:latin typeface="Arial"/>
                <a:cs typeface="Arial"/>
              </a:rPr>
              <a:t> </a:t>
            </a:r>
            <a:r>
              <a:rPr lang="en-US" sz="2800" dirty="0">
                <a:latin typeface="Arial"/>
                <a:cs typeface="Arial"/>
              </a:rPr>
              <a:t>a leadership theory proposing that effective group performance depends on the proper match between a leader’s style and the degree to which the situation allows the leader to control and influence.</a:t>
            </a:r>
            <a:endParaRPr lang="en-US" sz="2800" b="1" dirty="0">
              <a:latin typeface="Arial"/>
              <a:cs typeface="Arial"/>
            </a:endParaRPr>
          </a:p>
          <a:p>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153400" y="6611779"/>
            <a:ext cx="718131" cy="261610"/>
          </a:xfrm>
          <a:prstGeom prst="rect">
            <a:avLst/>
          </a:prstGeom>
          <a:noFill/>
        </p:spPr>
        <p:txBody>
          <a:bodyPr wrap="square" rtlCol="0">
            <a:spAutoFit/>
          </a:bodyPr>
          <a:lstStyle/>
          <a:p>
            <a:r>
              <a:rPr lang="en-US" sz="1100" dirty="0" smtClean="0"/>
              <a:t>17 - 13</a:t>
            </a:r>
            <a:endParaRPr lang="en-US" sz="11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algn="ctr"/>
            <a:r>
              <a:rPr lang="en-US" sz="3600" dirty="0" smtClean="0"/>
              <a:t>The Fiedler Model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2800" b="1" dirty="0" smtClean="0">
                <a:latin typeface="Arial"/>
                <a:cs typeface="Arial"/>
              </a:rPr>
              <a:t>Least-preferred coworker (LPC) </a:t>
            </a:r>
            <a:r>
              <a:rPr lang="en-US" sz="2800" b="1" dirty="0">
                <a:latin typeface="Arial"/>
                <a:cs typeface="Arial"/>
              </a:rPr>
              <a:t>questionnaire </a:t>
            </a:r>
            <a:r>
              <a:rPr lang="en-US" sz="2800" dirty="0">
                <a:latin typeface="Arial"/>
                <a:cs typeface="Arial"/>
              </a:rPr>
              <a:t>– </a:t>
            </a:r>
            <a:r>
              <a:rPr lang="en-US" sz="2800" b="1" dirty="0">
                <a:latin typeface="Arial"/>
                <a:cs typeface="Arial"/>
              </a:rPr>
              <a:t> </a:t>
            </a:r>
            <a:r>
              <a:rPr lang="en-US" sz="2800" dirty="0">
                <a:latin typeface="Arial"/>
                <a:cs typeface="Arial"/>
              </a:rPr>
              <a:t>a questionnaire that measures whether a leader is task or relationship oriented.</a:t>
            </a:r>
          </a:p>
          <a:p>
            <a:pPr marL="68580" indent="0">
              <a:buNone/>
            </a:pP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273469" y="6611779"/>
            <a:ext cx="870531" cy="261610"/>
          </a:xfrm>
          <a:prstGeom prst="rect">
            <a:avLst/>
          </a:prstGeom>
          <a:noFill/>
        </p:spPr>
        <p:txBody>
          <a:bodyPr wrap="square" rtlCol="0">
            <a:spAutoFit/>
          </a:bodyPr>
          <a:lstStyle/>
          <a:p>
            <a:r>
              <a:rPr lang="en-US" sz="1100" dirty="0" smtClean="0"/>
              <a:t>17 - 14</a:t>
            </a:r>
            <a:endParaRPr lang="en-US" sz="11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pPr algn="ctr"/>
            <a:r>
              <a:rPr lang="en-US" sz="3600" dirty="0" smtClean="0"/>
              <a:t>The Fiedler Model (cont.)</a:t>
            </a:r>
            <a:endParaRPr lang="en-US" sz="3600" dirty="0" smtClean="0">
              <a:latin typeface="Calibri" pitchFamily="34" charset="0"/>
            </a:endParaRPr>
          </a:p>
        </p:txBody>
      </p:sp>
      <p:sp>
        <p:nvSpPr>
          <p:cNvPr id="5" name="Content Placeholder 4"/>
          <p:cNvSpPr>
            <a:spLocks noGrp="1"/>
          </p:cNvSpPr>
          <p:nvPr>
            <p:ph idx="1"/>
          </p:nvPr>
        </p:nvSpPr>
        <p:spPr/>
        <p:txBody>
          <a:bodyPr>
            <a:normAutofit fontScale="92500" lnSpcReduction="10000"/>
          </a:bodyPr>
          <a:lstStyle/>
          <a:p>
            <a:pPr indent="-342900" eaLnBrk="0" hangingPunct="0">
              <a:spcBef>
                <a:spcPct val="20000"/>
              </a:spcBef>
              <a:buClrTx/>
              <a:buFont typeface="Arial"/>
              <a:buChar char="•"/>
            </a:pPr>
            <a:r>
              <a:rPr lang="en-US" sz="3000" b="1" dirty="0" smtClean="0">
                <a:latin typeface="Arial" pitchFamily="34" charset="0"/>
                <a:cs typeface="Arial" pitchFamily="34" charset="0"/>
              </a:rPr>
              <a:t>L</a:t>
            </a:r>
            <a:r>
              <a:rPr lang="en-US" sz="3000" b="1" dirty="0" smtClean="0">
                <a:latin typeface="Arial"/>
                <a:cs typeface="Arial"/>
              </a:rPr>
              <a:t>eader-member relations </a:t>
            </a:r>
            <a:r>
              <a:rPr lang="en-US" sz="3000" dirty="0" smtClean="0">
                <a:latin typeface="Arial"/>
                <a:cs typeface="Arial"/>
              </a:rPr>
              <a:t>– </a:t>
            </a:r>
            <a:r>
              <a:rPr lang="en-US" sz="3000" dirty="0">
                <a:latin typeface="Arial"/>
                <a:cs typeface="Arial"/>
              </a:rPr>
              <a:t>the degree of confidence, trust, and respect employees had for their leader; rated as either good or poor.</a:t>
            </a:r>
          </a:p>
          <a:p>
            <a:pPr indent="-342900" eaLnBrk="0" hangingPunct="0">
              <a:spcBef>
                <a:spcPct val="20000"/>
              </a:spcBef>
              <a:buClrTx/>
              <a:buFont typeface="Arial"/>
              <a:buChar char="•"/>
            </a:pPr>
            <a:r>
              <a:rPr lang="en-US" sz="3000" b="1" dirty="0">
                <a:latin typeface="Arial"/>
                <a:cs typeface="Arial"/>
              </a:rPr>
              <a:t>Task structure</a:t>
            </a:r>
            <a:r>
              <a:rPr lang="en-US" sz="3000" dirty="0">
                <a:latin typeface="Arial"/>
                <a:cs typeface="Arial"/>
              </a:rPr>
              <a:t> – the degree to which job assignments were formalized and structured; rated as either high or low.</a:t>
            </a:r>
          </a:p>
          <a:p>
            <a:pPr indent="-342900" eaLnBrk="0" hangingPunct="0">
              <a:spcBef>
                <a:spcPct val="20000"/>
              </a:spcBef>
              <a:buClrTx/>
              <a:buFont typeface="Arial"/>
              <a:buChar char="•"/>
            </a:pPr>
            <a:r>
              <a:rPr lang="en-US" sz="3000" b="1" dirty="0">
                <a:latin typeface="Arial"/>
                <a:cs typeface="Arial"/>
              </a:rPr>
              <a:t>Position power</a:t>
            </a:r>
            <a:r>
              <a:rPr lang="en-US" sz="3000" dirty="0">
                <a:latin typeface="Arial"/>
                <a:cs typeface="Arial"/>
              </a:rPr>
              <a:t> – the degree of influence a leader had over activities such as hiring, firing, discipline, promotions, and </a:t>
            </a:r>
            <a:r>
              <a:rPr lang="en-US" sz="3000" dirty="0" smtClean="0">
                <a:latin typeface="Arial"/>
                <a:cs typeface="Arial"/>
              </a:rPr>
              <a:t>salary </a:t>
            </a:r>
            <a:r>
              <a:rPr lang="en-US" sz="3000" dirty="0">
                <a:latin typeface="Arial"/>
                <a:cs typeface="Arial"/>
              </a:rPr>
              <a:t>increases; rated as either strong or weak.</a:t>
            </a:r>
          </a:p>
          <a:p>
            <a:endParaRPr lang="en-US" sz="24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153400" y="6477000"/>
            <a:ext cx="870531" cy="261610"/>
          </a:xfrm>
          <a:prstGeom prst="rect">
            <a:avLst/>
          </a:prstGeom>
          <a:noFill/>
        </p:spPr>
        <p:txBody>
          <a:bodyPr wrap="square" rtlCol="0">
            <a:spAutoFit/>
          </a:bodyPr>
          <a:lstStyle/>
          <a:p>
            <a:r>
              <a:rPr lang="en-US" sz="1100" dirty="0" smtClean="0"/>
              <a:t>17 - 15</a:t>
            </a:r>
            <a:endParaRPr lang="en-US" sz="1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normAutofit fontScale="90000"/>
          </a:bodyPr>
          <a:lstStyle/>
          <a:p>
            <a:pPr algn="ctr"/>
            <a:r>
              <a:rPr lang="en-US" sz="3600" dirty="0" smtClean="0"/>
              <a:t>Exhibit 17-3</a:t>
            </a:r>
            <a:br>
              <a:rPr lang="en-US" sz="3600" dirty="0" smtClean="0"/>
            </a:br>
            <a:r>
              <a:rPr lang="en-US" sz="3600" dirty="0" smtClean="0"/>
              <a:t>The Fiedler Model</a:t>
            </a:r>
            <a:endParaRPr lang="en-US" sz="3600" dirty="0" smtClean="0">
              <a:latin typeface="Calibri" pitchFamily="34" charset="0"/>
            </a:endParaRPr>
          </a:p>
        </p:txBody>
      </p:sp>
      <p:sp>
        <p:nvSpPr>
          <p:cNvPr id="4" name="Content Placeholder 3"/>
          <p:cNvSpPr>
            <a:spLocks noGrp="1"/>
          </p:cNvSpPr>
          <p:nvPr>
            <p:ph idx="1"/>
          </p:nvPr>
        </p:nvSpPr>
        <p:spPr/>
        <p:txBody>
          <a:bodyPr/>
          <a:lstStyle/>
          <a:p>
            <a:endParaRPr lang="en-US"/>
          </a:p>
        </p:txBody>
      </p:sp>
      <p:sp>
        <p:nvSpPr>
          <p:cNvPr id="5"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7" name="TextBox 6"/>
          <p:cNvSpPr txBox="1"/>
          <p:nvPr/>
        </p:nvSpPr>
        <p:spPr>
          <a:xfrm>
            <a:off x="8382000" y="6488668"/>
            <a:ext cx="762000" cy="261610"/>
          </a:xfrm>
          <a:prstGeom prst="rect">
            <a:avLst/>
          </a:prstGeom>
          <a:noFill/>
        </p:spPr>
        <p:txBody>
          <a:bodyPr wrap="square" rtlCol="0">
            <a:spAutoFit/>
          </a:bodyPr>
          <a:lstStyle/>
          <a:p>
            <a:r>
              <a:rPr lang="en-US" sz="1100" dirty="0" smtClean="0"/>
              <a:t>17 - 16</a:t>
            </a:r>
            <a:endParaRPr lang="en-US" sz="1100" dirty="0"/>
          </a:p>
        </p:txBody>
      </p:sp>
      <p:pic>
        <p:nvPicPr>
          <p:cNvPr id="2" name="Picture 1"/>
          <p:cNvPicPr>
            <a:picLocks noChangeAspect="1"/>
          </p:cNvPicPr>
          <p:nvPr/>
        </p:nvPicPr>
        <p:blipFill>
          <a:blip r:embed="rId3"/>
          <a:stretch>
            <a:fillRect/>
          </a:stretch>
        </p:blipFill>
        <p:spPr>
          <a:xfrm>
            <a:off x="0" y="1676400"/>
            <a:ext cx="9144000" cy="398220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normAutofit fontScale="90000"/>
          </a:bodyPr>
          <a:lstStyle/>
          <a:p>
            <a:pPr algn="ctr"/>
            <a:r>
              <a:rPr lang="en-US" sz="3600" dirty="0" smtClean="0"/>
              <a:t>Hersey and Blanchard’s Situational Leadership Theory (SLT)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b="1" dirty="0" smtClean="0">
                <a:latin typeface="Arial"/>
                <a:cs typeface="Arial"/>
              </a:rPr>
              <a:t>Situational Leadership Theory </a:t>
            </a:r>
            <a:r>
              <a:rPr lang="en-US" sz="2800" b="1" dirty="0">
                <a:latin typeface="Arial"/>
                <a:cs typeface="Arial"/>
              </a:rPr>
              <a:t>(SLT) </a:t>
            </a:r>
            <a:r>
              <a:rPr lang="en-US" sz="2800" dirty="0">
                <a:latin typeface="Arial"/>
                <a:cs typeface="Arial"/>
              </a:rPr>
              <a:t>–</a:t>
            </a:r>
            <a:r>
              <a:rPr lang="en-US" sz="2800" b="1" dirty="0">
                <a:latin typeface="Arial"/>
                <a:cs typeface="Arial"/>
              </a:rPr>
              <a:t> </a:t>
            </a:r>
            <a:r>
              <a:rPr lang="en-US" sz="2800" dirty="0">
                <a:latin typeface="Arial"/>
                <a:cs typeface="Arial"/>
              </a:rPr>
              <a:t>a leadership contingency theory that focuses on followers’ readiness.</a:t>
            </a:r>
          </a:p>
          <a:p>
            <a:pPr marL="457200" indent="-457200" eaLnBrk="0" hangingPunct="0">
              <a:spcBef>
                <a:spcPct val="35000"/>
              </a:spcBef>
              <a:buClrTx/>
              <a:buFont typeface="Arial"/>
              <a:buChar char="•"/>
            </a:pPr>
            <a:r>
              <a:rPr lang="en-US" sz="2800" b="1" dirty="0">
                <a:latin typeface="Arial"/>
                <a:cs typeface="Arial"/>
              </a:rPr>
              <a:t>Readiness </a:t>
            </a:r>
            <a:r>
              <a:rPr lang="en-US" sz="2800" dirty="0">
                <a:latin typeface="Arial"/>
                <a:cs typeface="Arial"/>
              </a:rPr>
              <a:t>– the extent to which followers have the ability and willingness to accomplish a specific task</a:t>
            </a:r>
            <a:r>
              <a:rPr lang="en-US" sz="2800" dirty="0" smtClean="0">
                <a:latin typeface="Arial"/>
                <a:cs typeface="Arial"/>
              </a:rPr>
              <a:t>.</a:t>
            </a:r>
            <a:endParaRPr lang="en-US" sz="2800" dirty="0">
              <a:latin typeface="Arial"/>
              <a:cs typeface="Arial"/>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82000" y="6488668"/>
            <a:ext cx="762000" cy="261610"/>
          </a:xfrm>
          <a:prstGeom prst="rect">
            <a:avLst/>
          </a:prstGeom>
          <a:noFill/>
        </p:spPr>
        <p:txBody>
          <a:bodyPr wrap="square" rtlCol="0">
            <a:spAutoFit/>
          </a:bodyPr>
          <a:lstStyle/>
          <a:p>
            <a:r>
              <a:rPr lang="en-US" sz="1100" dirty="0" smtClean="0"/>
              <a:t>17 - 17</a:t>
            </a:r>
            <a:endParaRPr lang="en-US" sz="11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p:txBody>
          <a:bodyPr/>
          <a:lstStyle/>
          <a:p>
            <a:pPr algn="ctr"/>
            <a:r>
              <a:rPr lang="en-US" sz="3600" dirty="0" smtClean="0">
                <a:cs typeface="Arial" charset="0"/>
              </a:rPr>
              <a:t>SLT</a:t>
            </a:r>
            <a:r>
              <a:rPr lang="en-US" sz="3600" dirty="0" smtClean="0">
                <a:latin typeface="Calibri" pitchFamily="34" charset="0"/>
              </a:rPr>
              <a:t> </a:t>
            </a:r>
            <a:r>
              <a:rPr lang="en-US" sz="3600" dirty="0" smtClean="0"/>
              <a:t>Leadership Styles</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i="1" dirty="0" smtClean="0">
                <a:latin typeface="Arial"/>
                <a:cs typeface="Arial"/>
              </a:rPr>
              <a:t>Telling</a:t>
            </a:r>
            <a:r>
              <a:rPr lang="en-US" sz="2800" dirty="0" smtClean="0">
                <a:latin typeface="Arial"/>
                <a:cs typeface="Arial"/>
              </a:rPr>
              <a:t> </a:t>
            </a:r>
            <a:r>
              <a:rPr lang="en-US" sz="2800" dirty="0">
                <a:latin typeface="Arial"/>
                <a:cs typeface="Arial"/>
              </a:rPr>
              <a:t>(high task–low relationship): The leader defines roles and tells people what, how, when, and where to do various tasks.</a:t>
            </a:r>
          </a:p>
          <a:p>
            <a:pPr marL="457200" indent="-457200" eaLnBrk="0" hangingPunct="0">
              <a:spcBef>
                <a:spcPct val="20000"/>
              </a:spcBef>
              <a:buClrTx/>
              <a:buFont typeface="Arial"/>
              <a:buChar char="•"/>
            </a:pPr>
            <a:r>
              <a:rPr lang="en-US" sz="2800" i="1" dirty="0">
                <a:latin typeface="Arial"/>
                <a:cs typeface="Arial"/>
              </a:rPr>
              <a:t>Selling </a:t>
            </a:r>
            <a:r>
              <a:rPr lang="en-US" sz="2800" dirty="0">
                <a:latin typeface="Arial"/>
                <a:cs typeface="Arial"/>
              </a:rPr>
              <a:t>(high task–high relationship): The leader provides both directive and supportive behavior.</a:t>
            </a:r>
          </a:p>
          <a:p>
            <a:pPr marL="68580" indent="0">
              <a:buNone/>
            </a:pPr>
            <a:endParaRPr lang="en-US" sz="3200" dirty="0">
              <a:latin typeface="Arial" pitchFamily="34" charset="0"/>
              <a:cs typeface="Arial" pitchFamily="34" charset="0"/>
            </a:endParaRPr>
          </a:p>
        </p:txBody>
      </p:sp>
      <p:sp>
        <p:nvSpPr>
          <p:cNvPr id="6"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7" name="TextBox 6"/>
          <p:cNvSpPr txBox="1"/>
          <p:nvPr/>
        </p:nvSpPr>
        <p:spPr>
          <a:xfrm>
            <a:off x="8305800" y="6477000"/>
            <a:ext cx="838200" cy="261610"/>
          </a:xfrm>
          <a:prstGeom prst="rect">
            <a:avLst/>
          </a:prstGeom>
          <a:noFill/>
        </p:spPr>
        <p:txBody>
          <a:bodyPr wrap="square" rtlCol="0">
            <a:spAutoFit/>
          </a:bodyPr>
          <a:lstStyle/>
          <a:p>
            <a:r>
              <a:rPr lang="en-US" sz="1100" dirty="0" smtClean="0"/>
              <a:t>17 - 18</a:t>
            </a:r>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pPr algn="ctr"/>
            <a:r>
              <a:rPr lang="en-US" sz="3600" dirty="0" smtClean="0">
                <a:cs typeface="Arial" charset="0"/>
              </a:rPr>
              <a:t>SLT</a:t>
            </a:r>
            <a:r>
              <a:rPr lang="en-US" sz="3600" dirty="0" smtClean="0">
                <a:latin typeface="Calibri" pitchFamily="34" charset="0"/>
              </a:rPr>
              <a:t> </a:t>
            </a:r>
            <a:r>
              <a:rPr lang="en-US" sz="3600" dirty="0" smtClean="0"/>
              <a:t>Leadership Styles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i="1" dirty="0" smtClean="0">
                <a:latin typeface="Arial"/>
                <a:cs typeface="Arial"/>
              </a:rPr>
              <a:t>Participating </a:t>
            </a:r>
            <a:r>
              <a:rPr lang="en-US" sz="2800" dirty="0">
                <a:latin typeface="Arial"/>
                <a:cs typeface="Arial"/>
              </a:rPr>
              <a:t>(low task–high relationship): The leader and followers share in decision-making; the main role of the leader is facilitating and communicating.</a:t>
            </a:r>
          </a:p>
          <a:p>
            <a:pPr marL="457200" indent="-457200" eaLnBrk="0" hangingPunct="0">
              <a:spcBef>
                <a:spcPct val="20000"/>
              </a:spcBef>
              <a:buClrTx/>
              <a:buFont typeface="Arial"/>
              <a:buChar char="•"/>
            </a:pPr>
            <a:r>
              <a:rPr lang="en-US" sz="2800" i="1" dirty="0">
                <a:latin typeface="Arial"/>
                <a:cs typeface="Arial"/>
              </a:rPr>
              <a:t>Delegating </a:t>
            </a:r>
            <a:r>
              <a:rPr lang="en-US" sz="2800" dirty="0">
                <a:latin typeface="Arial"/>
                <a:cs typeface="Arial"/>
              </a:rPr>
              <a:t>(low task–low relationship): The leader provides little direction or support.</a:t>
            </a:r>
          </a:p>
          <a:p>
            <a:pPr marL="68580" indent="0">
              <a:buNone/>
            </a:pPr>
            <a:endParaRPr lang="en-US" sz="3200" i="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49669" y="6488668"/>
            <a:ext cx="794331" cy="261610"/>
          </a:xfrm>
          <a:prstGeom prst="rect">
            <a:avLst/>
          </a:prstGeom>
          <a:noFill/>
        </p:spPr>
        <p:txBody>
          <a:bodyPr wrap="square" rtlCol="0">
            <a:spAutoFit/>
          </a:bodyPr>
          <a:lstStyle/>
          <a:p>
            <a:r>
              <a:rPr lang="en-US" sz="1100" dirty="0" smtClean="0"/>
              <a:t>17 - 19</a:t>
            </a:r>
            <a:endParaRPr lang="en-US" sz="11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p:txBody>
          <a:bodyPr>
            <a:normAutofit/>
          </a:bodyPr>
          <a:lstStyle/>
          <a:p>
            <a:pPr algn="ctr"/>
            <a:r>
              <a:rPr lang="en-US" sz="3600" dirty="0" smtClean="0"/>
              <a:t>Four Stages of Follower Readiness</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indent="-342900" eaLnBrk="0" hangingPunct="0">
              <a:spcBef>
                <a:spcPct val="20000"/>
              </a:spcBef>
              <a:buClrTx/>
              <a:buFont typeface="Arial" pitchFamily="34" charset="0"/>
              <a:buChar char="•"/>
            </a:pPr>
            <a:r>
              <a:rPr lang="en-US" sz="2800" i="1" dirty="0" smtClean="0">
                <a:latin typeface="Arial"/>
                <a:cs typeface="Arial"/>
              </a:rPr>
              <a:t>R1</a:t>
            </a:r>
            <a:r>
              <a:rPr lang="en-US" sz="2800" i="1" dirty="0">
                <a:latin typeface="Arial"/>
                <a:cs typeface="Arial"/>
              </a:rPr>
              <a:t>: </a:t>
            </a:r>
            <a:r>
              <a:rPr lang="en-US" sz="2800" dirty="0">
                <a:latin typeface="Arial"/>
                <a:cs typeface="Arial"/>
              </a:rPr>
              <a:t>People are both </a:t>
            </a:r>
            <a:r>
              <a:rPr lang="en-US" sz="2800" i="1" dirty="0">
                <a:latin typeface="Arial"/>
                <a:cs typeface="Arial"/>
              </a:rPr>
              <a:t>unable and unwilling </a:t>
            </a:r>
            <a:r>
              <a:rPr lang="en-US" sz="2800" dirty="0">
                <a:latin typeface="Arial"/>
                <a:cs typeface="Arial"/>
              </a:rPr>
              <a:t>to take responsibility for doing something. Followers aren’t competent or confident.</a:t>
            </a:r>
          </a:p>
          <a:p>
            <a:pPr indent="-342900" eaLnBrk="0" hangingPunct="0">
              <a:spcBef>
                <a:spcPct val="20000"/>
              </a:spcBef>
              <a:buClrTx/>
              <a:buFont typeface="Arial" charset="0"/>
              <a:buChar char="•"/>
            </a:pPr>
            <a:r>
              <a:rPr lang="en-US" sz="2800" i="1" dirty="0">
                <a:latin typeface="Arial"/>
                <a:cs typeface="Arial"/>
              </a:rPr>
              <a:t>R2</a:t>
            </a:r>
            <a:r>
              <a:rPr lang="en-US" sz="2800" dirty="0">
                <a:latin typeface="Arial"/>
                <a:cs typeface="Arial"/>
              </a:rPr>
              <a:t>: People are </a:t>
            </a:r>
            <a:r>
              <a:rPr lang="en-US" sz="2800" i="1" dirty="0">
                <a:latin typeface="Arial"/>
                <a:cs typeface="Arial"/>
              </a:rPr>
              <a:t>unable but willing </a:t>
            </a:r>
            <a:r>
              <a:rPr lang="en-US" sz="2800" dirty="0">
                <a:latin typeface="Arial"/>
                <a:cs typeface="Arial"/>
              </a:rPr>
              <a:t>to do the necessary job tasks. Followers are motivated but lack the appropriate skills.</a:t>
            </a:r>
          </a:p>
          <a:p>
            <a:pPr>
              <a:buNone/>
            </a:pPr>
            <a:endParaRPr lang="en-US" sz="3200" i="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197269" y="6611779"/>
            <a:ext cx="946731" cy="261610"/>
          </a:xfrm>
          <a:prstGeom prst="rect">
            <a:avLst/>
          </a:prstGeom>
          <a:noFill/>
        </p:spPr>
        <p:txBody>
          <a:bodyPr wrap="square" rtlCol="0">
            <a:spAutoFit/>
          </a:bodyPr>
          <a:lstStyle/>
          <a:p>
            <a:r>
              <a:rPr lang="en-US" sz="1100" dirty="0" smtClean="0"/>
              <a:t>17 - 20</a:t>
            </a:r>
            <a:endParaRPr lang="en-US" sz="11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normAutofit/>
          </a:bodyPr>
          <a:lstStyle/>
          <a:p>
            <a:pPr algn="ctr"/>
            <a:r>
              <a:rPr lang="en-US" sz="3200" dirty="0" smtClean="0"/>
              <a:t>Four Stages of Follower Readiness (cont.)</a:t>
            </a:r>
            <a:endParaRPr lang="en-US" sz="32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i="1" dirty="0" smtClean="0">
                <a:latin typeface="Arial"/>
                <a:cs typeface="Arial"/>
              </a:rPr>
              <a:t>R3</a:t>
            </a:r>
            <a:r>
              <a:rPr lang="en-US" sz="2800" i="1" dirty="0">
                <a:latin typeface="Arial"/>
                <a:cs typeface="Arial"/>
              </a:rPr>
              <a:t>: </a:t>
            </a:r>
            <a:r>
              <a:rPr lang="en-US" sz="2800" dirty="0">
                <a:latin typeface="Arial"/>
                <a:cs typeface="Arial"/>
              </a:rPr>
              <a:t>People are </a:t>
            </a:r>
            <a:r>
              <a:rPr lang="en-US" sz="2800" i="1" dirty="0">
                <a:latin typeface="Arial"/>
                <a:cs typeface="Arial"/>
              </a:rPr>
              <a:t>able but unwilling </a:t>
            </a:r>
            <a:r>
              <a:rPr lang="en-US" sz="2800" dirty="0">
                <a:latin typeface="Arial"/>
                <a:cs typeface="Arial"/>
              </a:rPr>
              <a:t>to do what the leader wants. Followers are competent, but don’t want to do something. </a:t>
            </a:r>
          </a:p>
          <a:p>
            <a:pPr marL="457200" indent="-457200" eaLnBrk="0" hangingPunct="0">
              <a:spcBef>
                <a:spcPct val="20000"/>
              </a:spcBef>
              <a:buClrTx/>
              <a:buFont typeface="Arial"/>
              <a:buChar char="•"/>
            </a:pPr>
            <a:r>
              <a:rPr lang="en-US" sz="2800" i="1" dirty="0">
                <a:latin typeface="Arial"/>
                <a:cs typeface="Arial"/>
              </a:rPr>
              <a:t>R4</a:t>
            </a:r>
            <a:r>
              <a:rPr lang="en-US" sz="2800" dirty="0">
                <a:latin typeface="Arial"/>
                <a:cs typeface="Arial"/>
              </a:rPr>
              <a:t>: People are both </a:t>
            </a:r>
            <a:r>
              <a:rPr lang="en-US" sz="2800" i="1" dirty="0">
                <a:latin typeface="Arial"/>
                <a:cs typeface="Arial"/>
              </a:rPr>
              <a:t>able and willing </a:t>
            </a:r>
            <a:r>
              <a:rPr lang="en-US" sz="2800" dirty="0">
                <a:latin typeface="Arial"/>
                <a:cs typeface="Arial"/>
              </a:rPr>
              <a:t>to do what is asked of them</a:t>
            </a:r>
            <a:r>
              <a:rPr lang="en-US" sz="2800" dirty="0" smtClean="0">
                <a:latin typeface="Arial"/>
                <a:cs typeface="Arial"/>
              </a:rPr>
              <a:t>.</a:t>
            </a:r>
            <a:endParaRPr lang="en-US" sz="2800" dirty="0">
              <a:latin typeface="Arial"/>
              <a:cs typeface="Arial"/>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05800" y="6477000"/>
            <a:ext cx="718131" cy="261610"/>
          </a:xfrm>
          <a:prstGeom prst="rect">
            <a:avLst/>
          </a:prstGeom>
          <a:noFill/>
        </p:spPr>
        <p:txBody>
          <a:bodyPr wrap="square" rtlCol="0">
            <a:spAutoFit/>
          </a:bodyPr>
          <a:lstStyle/>
          <a:p>
            <a:r>
              <a:rPr lang="en-US" sz="1100" dirty="0" smtClean="0"/>
              <a:t>17 - 21</a:t>
            </a:r>
            <a:endParaRPr lang="en-US" sz="11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p:txBody>
          <a:bodyPr/>
          <a:lstStyle/>
          <a:p>
            <a:pPr algn="ctr"/>
            <a:r>
              <a:rPr lang="en-US" sz="3600" dirty="0" smtClean="0"/>
              <a:t>Path-Goal Model</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2800" b="1" dirty="0" smtClean="0">
                <a:latin typeface="Arial" pitchFamily="34" charset="0"/>
                <a:cs typeface="Arial" pitchFamily="34" charset="0"/>
              </a:rPr>
              <a:t>Path-goal theory </a:t>
            </a:r>
            <a:r>
              <a:rPr lang="en-US" sz="3200" dirty="0"/>
              <a:t>– a leadership theory that says the leader’s job is to assist followers in attaining their goals and to provide direction or support needed to ensure that their goals are compatible with the goals of the group or organization.</a:t>
            </a:r>
          </a:p>
          <a:p>
            <a:pPr marL="68580" indent="0">
              <a:buNone/>
            </a:pPr>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05800" y="6477000"/>
            <a:ext cx="838200" cy="261610"/>
          </a:xfrm>
          <a:prstGeom prst="rect">
            <a:avLst/>
          </a:prstGeom>
          <a:noFill/>
        </p:spPr>
        <p:txBody>
          <a:bodyPr wrap="square" rtlCol="0">
            <a:spAutoFit/>
          </a:bodyPr>
          <a:lstStyle/>
          <a:p>
            <a:r>
              <a:rPr lang="en-US" sz="1100" dirty="0" smtClean="0"/>
              <a:t>17 - 22</a:t>
            </a:r>
            <a:endParaRPr lang="en-US" sz="11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algn="ctr"/>
            <a:r>
              <a:rPr lang="en-US" sz="3600" dirty="0" smtClean="0"/>
              <a:t>Path-Goal Model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Four leadership behaviors</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78850"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800" i="1" dirty="0"/>
              <a:t>Directive leader: </a:t>
            </a:r>
            <a:r>
              <a:rPr lang="en-US" sz="2800" dirty="0"/>
              <a:t>Lets subordinates know what’s expected of them, schedules work to be done, and gives specific guidance on how to accomplish tasks.</a:t>
            </a:r>
          </a:p>
          <a:p>
            <a:pPr marL="742950" lvl="1" indent="-285750" eaLnBrk="0" hangingPunct="0">
              <a:spcBef>
                <a:spcPct val="20000"/>
              </a:spcBef>
              <a:buFont typeface="Arial" charset="0"/>
              <a:buChar char="–"/>
            </a:pPr>
            <a:r>
              <a:rPr lang="en-US" sz="2800" i="1" dirty="0"/>
              <a:t>Supportive leader: </a:t>
            </a:r>
            <a:r>
              <a:rPr lang="en-US" sz="2800" dirty="0"/>
              <a:t>Shows concern for the needs of followers and is friendly.</a:t>
            </a:r>
          </a:p>
        </p:txBody>
      </p:sp>
      <p:sp>
        <p:nvSpPr>
          <p:cNvPr id="6" name="TextBox 5"/>
          <p:cNvSpPr txBox="1"/>
          <p:nvPr/>
        </p:nvSpPr>
        <p:spPr>
          <a:xfrm>
            <a:off x="8229600" y="6477000"/>
            <a:ext cx="914400" cy="261610"/>
          </a:xfrm>
          <a:prstGeom prst="rect">
            <a:avLst/>
          </a:prstGeom>
          <a:noFill/>
        </p:spPr>
        <p:txBody>
          <a:bodyPr wrap="square" rtlCol="0">
            <a:spAutoFit/>
          </a:bodyPr>
          <a:lstStyle/>
          <a:p>
            <a:r>
              <a:rPr lang="en-US" sz="1100" dirty="0" smtClean="0"/>
              <a:t>17 - 23</a:t>
            </a:r>
            <a:endParaRPr lang="en-US" sz="11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pPr algn="ctr"/>
            <a:r>
              <a:rPr lang="en-US" sz="3600" dirty="0" smtClean="0"/>
              <a:t>Path-Goal Model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Four </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80898"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r>
              <a:rPr lang="en-US" sz="3200" dirty="0" smtClean="0"/>
              <a:t>             leadership </a:t>
            </a:r>
            <a:r>
              <a:rPr lang="en-US" sz="3200" dirty="0"/>
              <a:t>behaviors (cont.)</a:t>
            </a:r>
            <a:endParaRPr lang="en-US" sz="3200" i="1" dirty="0"/>
          </a:p>
          <a:p>
            <a:pPr marL="742950" lvl="1" indent="-285750" eaLnBrk="0" hangingPunct="0">
              <a:spcBef>
                <a:spcPct val="20000"/>
              </a:spcBef>
              <a:buFont typeface="Arial" charset="0"/>
              <a:buChar char="–"/>
            </a:pPr>
            <a:r>
              <a:rPr lang="en-US" sz="2800" i="1" dirty="0"/>
              <a:t>Participative leader: </a:t>
            </a:r>
            <a:r>
              <a:rPr lang="en-US" sz="2800" dirty="0"/>
              <a:t>Consults with group members and uses their suggestions before making a decision.</a:t>
            </a:r>
          </a:p>
          <a:p>
            <a:pPr marL="742950" lvl="1" indent="-285750" eaLnBrk="0" hangingPunct="0">
              <a:spcBef>
                <a:spcPct val="20000"/>
              </a:spcBef>
              <a:buFont typeface="Arial" charset="0"/>
              <a:buChar char="–"/>
            </a:pPr>
            <a:r>
              <a:rPr lang="en-US" sz="2800" i="1" dirty="0"/>
              <a:t>Achievement oriented leader: </a:t>
            </a:r>
            <a:r>
              <a:rPr lang="en-US" sz="2800" dirty="0"/>
              <a:t>Sets challenging goals and expects followers to perform at their highest level.</a:t>
            </a:r>
          </a:p>
        </p:txBody>
      </p:sp>
      <p:sp>
        <p:nvSpPr>
          <p:cNvPr id="6" name="TextBox 5"/>
          <p:cNvSpPr txBox="1"/>
          <p:nvPr/>
        </p:nvSpPr>
        <p:spPr>
          <a:xfrm>
            <a:off x="8534400" y="6477000"/>
            <a:ext cx="762000" cy="261610"/>
          </a:xfrm>
          <a:prstGeom prst="rect">
            <a:avLst/>
          </a:prstGeom>
          <a:noFill/>
        </p:spPr>
        <p:txBody>
          <a:bodyPr wrap="square" rtlCol="0">
            <a:spAutoFit/>
          </a:bodyPr>
          <a:lstStyle/>
          <a:p>
            <a:r>
              <a:rPr lang="en-US" sz="1100" dirty="0" smtClean="0"/>
              <a:t>17 - 24</a:t>
            </a:r>
            <a:endParaRPr lang="en-US" sz="11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p:txBody>
          <a:bodyPr>
            <a:normAutofit fontScale="90000"/>
          </a:bodyPr>
          <a:lstStyle/>
          <a:p>
            <a:pPr algn="ctr"/>
            <a:r>
              <a:rPr lang="en-US" sz="3600" dirty="0" smtClean="0"/>
              <a:t>Exhibit 17-4</a:t>
            </a:r>
            <a:br>
              <a:rPr lang="en-US" sz="3600" dirty="0" smtClean="0"/>
            </a:br>
            <a:r>
              <a:rPr lang="en-US" sz="3600" dirty="0" smtClean="0"/>
              <a:t>Path-Goal Model</a:t>
            </a:r>
            <a:endParaRPr lang="en-US" sz="3600" dirty="0" smtClean="0">
              <a:latin typeface="Calibri" pitchFamily="34" charset="0"/>
            </a:endParaRPr>
          </a:p>
        </p:txBody>
      </p:sp>
      <p:sp>
        <p:nvSpPr>
          <p:cNvPr id="4" name="Content Placeholder 3"/>
          <p:cNvSpPr>
            <a:spLocks noGrp="1"/>
          </p:cNvSpPr>
          <p:nvPr>
            <p:ph idx="1"/>
          </p:nvPr>
        </p:nvSpPr>
        <p:spPr/>
        <p:txBody>
          <a:bodyPr/>
          <a:lstStyle/>
          <a:p>
            <a:endParaRPr lang="en-US"/>
          </a:p>
        </p:txBody>
      </p:sp>
      <p:sp>
        <p:nvSpPr>
          <p:cNvPr id="5"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458200" y="6400800"/>
            <a:ext cx="685800" cy="261610"/>
          </a:xfrm>
          <a:prstGeom prst="rect">
            <a:avLst/>
          </a:prstGeom>
          <a:noFill/>
        </p:spPr>
        <p:txBody>
          <a:bodyPr wrap="square" rtlCol="0">
            <a:spAutoFit/>
          </a:bodyPr>
          <a:lstStyle/>
          <a:p>
            <a:r>
              <a:rPr lang="en-US" sz="1100" dirty="0" smtClean="0"/>
              <a:t>17 - 25</a:t>
            </a:r>
            <a:endParaRPr lang="en-US" sz="1100" dirty="0"/>
          </a:p>
        </p:txBody>
      </p:sp>
      <p:pic>
        <p:nvPicPr>
          <p:cNvPr id="2" name="Picture 1"/>
          <p:cNvPicPr>
            <a:picLocks noChangeAspect="1"/>
          </p:cNvPicPr>
          <p:nvPr/>
        </p:nvPicPr>
        <p:blipFill>
          <a:blip r:embed="rId3"/>
          <a:stretch>
            <a:fillRect/>
          </a:stretch>
        </p:blipFill>
        <p:spPr>
          <a:xfrm>
            <a:off x="0" y="1447800"/>
            <a:ext cx="9144000" cy="461667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p:txBody>
          <a:bodyPr>
            <a:normAutofit/>
          </a:bodyPr>
          <a:lstStyle/>
          <a:p>
            <a:pPr algn="ctr"/>
            <a:r>
              <a:rPr lang="en-US" sz="3600" dirty="0" smtClean="0"/>
              <a:t>Contemporary Views of Leadership</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pPr>
              <a:buClrTx/>
              <a:buFont typeface="Arial"/>
              <a:buChar char="•"/>
            </a:pPr>
            <a:r>
              <a:rPr lang="en-US" sz="2800" b="1" dirty="0" smtClean="0">
                <a:latin typeface="Arial"/>
                <a:cs typeface="Arial"/>
              </a:rPr>
              <a:t>Leader-</a:t>
            </a:r>
            <a:r>
              <a:rPr lang="en-US" sz="2800" b="1" dirty="0">
                <a:latin typeface="Arial"/>
                <a:cs typeface="Arial"/>
              </a:rPr>
              <a:t>member exchange theory (LMX) – </a:t>
            </a:r>
            <a:r>
              <a:rPr lang="en-US" sz="2800" dirty="0">
                <a:latin typeface="Arial"/>
                <a:cs typeface="Arial"/>
              </a:rPr>
              <a:t>the leadership theory that says leaders create in-groups and out-groups and those in the in-group will have higher performance ratings, less turnover, and greater job satisfaction.</a:t>
            </a:r>
          </a:p>
          <a:p>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05800" y="6488668"/>
            <a:ext cx="641931" cy="261610"/>
          </a:xfrm>
          <a:prstGeom prst="rect">
            <a:avLst/>
          </a:prstGeom>
          <a:noFill/>
        </p:spPr>
        <p:txBody>
          <a:bodyPr wrap="square" rtlCol="0">
            <a:spAutoFit/>
          </a:bodyPr>
          <a:lstStyle/>
          <a:p>
            <a:r>
              <a:rPr lang="en-US" sz="1100" dirty="0" smtClean="0"/>
              <a:t>17 - 26</a:t>
            </a:r>
            <a:endParaRPr lang="en-US" sz="11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normAutofit/>
          </a:bodyPr>
          <a:lstStyle/>
          <a:p>
            <a:pPr algn="ctr"/>
            <a:r>
              <a:rPr lang="en-US" sz="3200" dirty="0" smtClean="0"/>
              <a:t>Contemporary Views of Leadership (cont.)</a:t>
            </a:r>
            <a:endParaRPr lang="en-US" sz="32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b="1" dirty="0" smtClean="0">
                <a:latin typeface="Arial"/>
                <a:cs typeface="Arial"/>
              </a:rPr>
              <a:t>Transactional leaders </a:t>
            </a:r>
            <a:r>
              <a:rPr lang="en-US" sz="2800" dirty="0">
                <a:latin typeface="Arial"/>
                <a:cs typeface="Arial"/>
              </a:rPr>
              <a:t>–</a:t>
            </a:r>
            <a:r>
              <a:rPr lang="en-US" sz="2800" b="1" dirty="0">
                <a:latin typeface="Arial"/>
                <a:cs typeface="Arial"/>
              </a:rPr>
              <a:t> </a:t>
            </a:r>
            <a:r>
              <a:rPr lang="en-US" sz="2800" dirty="0">
                <a:latin typeface="Arial"/>
                <a:cs typeface="Arial"/>
              </a:rPr>
              <a:t>leaders who lead primarily by using social exchanges (or transactions).</a:t>
            </a:r>
          </a:p>
          <a:p>
            <a:pPr marL="457200" indent="-457200" eaLnBrk="0" hangingPunct="0">
              <a:spcBef>
                <a:spcPct val="20000"/>
              </a:spcBef>
              <a:buClrTx/>
              <a:buFont typeface="Arial"/>
              <a:buChar char="•"/>
            </a:pPr>
            <a:r>
              <a:rPr lang="en-US" sz="2800" b="1" dirty="0">
                <a:latin typeface="Arial"/>
                <a:cs typeface="Arial"/>
              </a:rPr>
              <a:t>Transformational leaders </a:t>
            </a:r>
            <a:r>
              <a:rPr lang="en-US" sz="2800" dirty="0">
                <a:latin typeface="Arial"/>
                <a:cs typeface="Arial"/>
              </a:rPr>
              <a:t>–</a:t>
            </a:r>
            <a:r>
              <a:rPr lang="en-US" sz="2800" b="1" dirty="0">
                <a:latin typeface="Arial"/>
                <a:cs typeface="Arial"/>
              </a:rPr>
              <a:t> </a:t>
            </a:r>
            <a:r>
              <a:rPr lang="en-US" sz="2800" dirty="0">
                <a:latin typeface="Arial"/>
                <a:cs typeface="Arial"/>
              </a:rPr>
              <a:t>leaders who stimulate and inspire (transform) followers to achieve extraordinary outcomes.</a:t>
            </a:r>
          </a:p>
          <a:p>
            <a:endParaRPr lang="en-US" sz="3200" b="1" dirty="0">
              <a:latin typeface="Arial" pitchFamily="34" charset="0"/>
              <a:cs typeface="Arial" pitchFamily="34" charset="0"/>
            </a:endParaRPr>
          </a:p>
        </p:txBody>
      </p:sp>
      <p:sp>
        <p:nvSpPr>
          <p:cNvPr id="6"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8" name="TextBox 7"/>
          <p:cNvSpPr txBox="1"/>
          <p:nvPr/>
        </p:nvSpPr>
        <p:spPr>
          <a:xfrm>
            <a:off x="8197269" y="6611779"/>
            <a:ext cx="946731" cy="261610"/>
          </a:xfrm>
          <a:prstGeom prst="rect">
            <a:avLst/>
          </a:prstGeom>
          <a:noFill/>
        </p:spPr>
        <p:txBody>
          <a:bodyPr wrap="square" rtlCol="0">
            <a:spAutoFit/>
          </a:bodyPr>
          <a:lstStyle/>
          <a:p>
            <a:r>
              <a:rPr lang="en-US" sz="1100" dirty="0" smtClean="0"/>
              <a:t>17 - 27</a:t>
            </a:r>
            <a:endParaRPr lang="en-US" sz="11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p:txBody>
          <a:bodyPr>
            <a:normAutofit/>
          </a:bodyPr>
          <a:lstStyle/>
          <a:p>
            <a:pPr algn="ctr"/>
            <a:r>
              <a:rPr lang="en-US" sz="3200" dirty="0" smtClean="0"/>
              <a:t>Contemporary Views of Leadership (cont.)</a:t>
            </a:r>
            <a:endParaRPr lang="en-US" sz="3200" dirty="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2800" b="1" dirty="0" smtClean="0">
                <a:latin typeface="Arial"/>
                <a:cs typeface="Arial"/>
              </a:rPr>
              <a:t>Charismatic leader </a:t>
            </a:r>
            <a:r>
              <a:rPr lang="en-US" sz="2800" dirty="0">
                <a:latin typeface="Arial"/>
                <a:cs typeface="Arial"/>
              </a:rPr>
              <a:t>–</a:t>
            </a:r>
            <a:r>
              <a:rPr lang="en-US" sz="2800" b="1" dirty="0">
                <a:latin typeface="Arial"/>
                <a:cs typeface="Arial"/>
              </a:rPr>
              <a:t> </a:t>
            </a:r>
            <a:r>
              <a:rPr lang="en-US" sz="2800" dirty="0">
                <a:latin typeface="Arial"/>
                <a:cs typeface="Arial"/>
              </a:rPr>
              <a:t>an enthusiastic, self-confident leader whose personality and actions influence people to behave in certain ways.</a:t>
            </a:r>
          </a:p>
          <a:p>
            <a:pPr marL="457200" indent="-457200" eaLnBrk="0" hangingPunct="0">
              <a:spcBef>
                <a:spcPct val="20000"/>
              </a:spcBef>
              <a:buClrTx/>
              <a:buFont typeface="Arial"/>
              <a:buChar char="•"/>
            </a:pPr>
            <a:r>
              <a:rPr lang="en-US" sz="2800" b="1" dirty="0">
                <a:latin typeface="Arial"/>
                <a:cs typeface="Arial"/>
              </a:rPr>
              <a:t>Visionary leadership </a:t>
            </a:r>
            <a:r>
              <a:rPr lang="en-US" sz="2800" dirty="0">
                <a:latin typeface="Arial"/>
                <a:cs typeface="Arial"/>
              </a:rPr>
              <a:t>–</a:t>
            </a:r>
            <a:r>
              <a:rPr lang="en-US" sz="2800" b="1" dirty="0">
                <a:latin typeface="Arial"/>
                <a:cs typeface="Arial"/>
              </a:rPr>
              <a:t> </a:t>
            </a:r>
            <a:r>
              <a:rPr lang="en-US" sz="2800" dirty="0">
                <a:latin typeface="Arial"/>
                <a:cs typeface="Arial"/>
              </a:rPr>
              <a:t>the ability to create and articulate a realistic, credible, and attractive vision of the future that improves upon the present situation.</a:t>
            </a:r>
          </a:p>
          <a:p>
            <a:endParaRPr lang="en-US" sz="3200" b="1"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077200" y="6488668"/>
            <a:ext cx="685800" cy="261610"/>
          </a:xfrm>
          <a:prstGeom prst="rect">
            <a:avLst/>
          </a:prstGeom>
          <a:noFill/>
        </p:spPr>
        <p:txBody>
          <a:bodyPr wrap="square" rtlCol="0">
            <a:spAutoFit/>
          </a:bodyPr>
          <a:lstStyle/>
          <a:p>
            <a:r>
              <a:rPr lang="en-US" sz="1100" dirty="0" smtClean="0"/>
              <a:t>17 - 28</a:t>
            </a:r>
            <a:endParaRPr lang="en-US" sz="11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p:txBody>
          <a:bodyPr>
            <a:normAutofit/>
          </a:bodyPr>
          <a:lstStyle/>
          <a:p>
            <a:pPr algn="ctr"/>
            <a:r>
              <a:rPr lang="en-US" sz="3200" smtClean="0"/>
              <a:t>Contemporary Views of Leadership (cont.)</a:t>
            </a:r>
            <a:endParaRPr lang="en-US" sz="3200" smtClean="0">
              <a:latin typeface="Calibri" pitchFamily="34" charset="0"/>
            </a:endParaRPr>
          </a:p>
        </p:txBody>
      </p:sp>
      <p:sp>
        <p:nvSpPr>
          <p:cNvPr id="5" name="Content Placeholder 4"/>
          <p:cNvSpPr>
            <a:spLocks noGrp="1"/>
          </p:cNvSpPr>
          <p:nvPr>
            <p:ph idx="1"/>
          </p:nvPr>
        </p:nvSpPr>
        <p:spPr/>
        <p:txBody>
          <a:bodyPr>
            <a:normAutofit/>
          </a:bodyPr>
          <a:lstStyle/>
          <a:p>
            <a:pPr marL="457200" indent="-457200" eaLnBrk="0" hangingPunct="0">
              <a:spcBef>
                <a:spcPct val="20000"/>
              </a:spcBef>
              <a:buClrTx/>
              <a:buFont typeface="Arial"/>
              <a:buChar char="•"/>
            </a:pPr>
            <a:r>
              <a:rPr lang="en-US" sz="3000" dirty="0" smtClean="0">
                <a:latin typeface="Arial"/>
                <a:cs typeface="Arial"/>
              </a:rPr>
              <a:t>Team </a:t>
            </a:r>
            <a:r>
              <a:rPr lang="en-US" sz="3000" dirty="0">
                <a:latin typeface="Arial"/>
                <a:cs typeface="Arial"/>
              </a:rPr>
              <a:t>Leadership – many leaders are not equipped to handle the change to </a:t>
            </a:r>
            <a:r>
              <a:rPr lang="en-US" sz="3000" dirty="0" smtClean="0">
                <a:latin typeface="Arial"/>
                <a:cs typeface="Arial"/>
              </a:rPr>
              <a:t>employee </a:t>
            </a:r>
            <a:r>
              <a:rPr lang="en-US" sz="3000" dirty="0">
                <a:latin typeface="Arial"/>
                <a:cs typeface="Arial"/>
              </a:rPr>
              <a:t>teams.</a:t>
            </a:r>
          </a:p>
          <a:p>
            <a:pPr indent="-342900" eaLnBrk="0" hangingPunct="0">
              <a:spcBef>
                <a:spcPct val="20000"/>
              </a:spcBef>
              <a:buClrTx/>
              <a:buFont typeface="Arial" charset="0"/>
              <a:buChar char="•"/>
            </a:pPr>
            <a:r>
              <a:rPr lang="en-US" sz="3000" dirty="0">
                <a:latin typeface="Arial"/>
                <a:cs typeface="Arial"/>
              </a:rPr>
              <a:t>A team leader’s job is to focus on two priorities: </a:t>
            </a:r>
          </a:p>
          <a:p>
            <a:pPr marL="971550" lvl="1" indent="-514350" eaLnBrk="0" hangingPunct="0">
              <a:spcBef>
                <a:spcPct val="20000"/>
              </a:spcBef>
              <a:buClrTx/>
              <a:buFontTx/>
              <a:buAutoNum type="arabicPeriod"/>
            </a:pPr>
            <a:r>
              <a:rPr lang="en-US" sz="2600" dirty="0" smtClean="0">
                <a:latin typeface="Arial"/>
                <a:cs typeface="Arial"/>
              </a:rPr>
              <a:t>Managing </a:t>
            </a:r>
            <a:r>
              <a:rPr lang="en-US" sz="2600" dirty="0">
                <a:latin typeface="Arial"/>
                <a:cs typeface="Arial"/>
              </a:rPr>
              <a:t>the team’s external boundary.</a:t>
            </a:r>
          </a:p>
          <a:p>
            <a:pPr marL="971550" lvl="1" indent="-514350" eaLnBrk="0" hangingPunct="0">
              <a:spcBef>
                <a:spcPct val="20000"/>
              </a:spcBef>
              <a:buClrTx/>
              <a:buFontTx/>
              <a:buAutoNum type="arabicPeriod"/>
            </a:pPr>
            <a:r>
              <a:rPr lang="en-US" sz="2600" dirty="0">
                <a:latin typeface="Arial"/>
                <a:cs typeface="Arial"/>
              </a:rPr>
              <a:t>Facilitating the team process.</a:t>
            </a:r>
          </a:p>
          <a:p>
            <a:pPr marL="68580" indent="0">
              <a:buNone/>
            </a:pPr>
            <a:r>
              <a:rPr lang="en-US" sz="3200" dirty="0" smtClean="0">
                <a:latin typeface="Arial" pitchFamily="34" charset="0"/>
                <a:cs typeface="Arial" pitchFamily="34" charset="0"/>
              </a:rPr>
              <a:t> </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001000" y="6488668"/>
            <a:ext cx="946731" cy="261610"/>
          </a:xfrm>
          <a:prstGeom prst="rect">
            <a:avLst/>
          </a:prstGeom>
          <a:noFill/>
        </p:spPr>
        <p:txBody>
          <a:bodyPr wrap="square" rtlCol="0">
            <a:spAutoFit/>
          </a:bodyPr>
          <a:lstStyle/>
          <a:p>
            <a:r>
              <a:rPr lang="en-US" sz="1100" dirty="0" smtClean="0"/>
              <a:t>17 - 29</a:t>
            </a:r>
            <a:endParaRPr lang="en-US" sz="11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normAutofit fontScale="90000"/>
          </a:bodyPr>
          <a:lstStyle/>
          <a:p>
            <a:pPr algn="ctr"/>
            <a:r>
              <a:rPr lang="en-US" sz="3600" dirty="0" smtClean="0"/>
              <a:t>Exhibit 17-5</a:t>
            </a:r>
            <a:br>
              <a:rPr lang="en-US" sz="3600" dirty="0" smtClean="0"/>
            </a:br>
            <a:r>
              <a:rPr lang="en-US" sz="3600" dirty="0" smtClean="0"/>
              <a:t>Team Leadership Roles</a:t>
            </a:r>
            <a:endParaRPr lang="en-US" sz="3600" dirty="0" smtClean="0">
              <a:latin typeface="Calibri" pitchFamily="34" charset="0"/>
            </a:endParaRPr>
          </a:p>
        </p:txBody>
      </p:sp>
      <p:sp>
        <p:nvSpPr>
          <p:cNvPr id="4" name="Content Placeholder 3"/>
          <p:cNvSpPr>
            <a:spLocks noGrp="1"/>
          </p:cNvSpPr>
          <p:nvPr>
            <p:ph idx="1"/>
          </p:nvPr>
        </p:nvSpPr>
        <p:spPr/>
        <p:txBody>
          <a:bodyPr/>
          <a:lstStyle/>
          <a:p>
            <a:endParaRPr lang="en-US"/>
          </a:p>
        </p:txBody>
      </p:sp>
      <p:sp>
        <p:nvSpPr>
          <p:cNvPr id="5"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305800" y="6488668"/>
            <a:ext cx="838200" cy="261610"/>
          </a:xfrm>
          <a:prstGeom prst="rect">
            <a:avLst/>
          </a:prstGeom>
          <a:noFill/>
        </p:spPr>
        <p:txBody>
          <a:bodyPr wrap="square" rtlCol="0">
            <a:spAutoFit/>
          </a:bodyPr>
          <a:lstStyle/>
          <a:p>
            <a:r>
              <a:rPr lang="en-US" sz="1100" dirty="0" smtClean="0"/>
              <a:t>17 - 30</a:t>
            </a:r>
            <a:endParaRPr lang="en-US" sz="1100" dirty="0"/>
          </a:p>
        </p:txBody>
      </p:sp>
      <p:pic>
        <p:nvPicPr>
          <p:cNvPr id="2" name="Picture 1"/>
          <p:cNvPicPr>
            <a:picLocks noChangeAspect="1"/>
          </p:cNvPicPr>
          <p:nvPr/>
        </p:nvPicPr>
        <p:blipFill>
          <a:blip r:embed="rId3"/>
          <a:stretch>
            <a:fillRect/>
          </a:stretch>
        </p:blipFill>
        <p:spPr>
          <a:xfrm>
            <a:off x="749300" y="1600200"/>
            <a:ext cx="7632700" cy="47625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p:txBody>
          <a:bodyPr>
            <a:normAutofit fontScale="90000"/>
          </a:bodyPr>
          <a:lstStyle/>
          <a:p>
            <a:pPr algn="ctr"/>
            <a:r>
              <a:rPr lang="en-US" sz="3600" dirty="0" smtClean="0"/>
              <a:t>Leadership Issues in the Twenty-First</a:t>
            </a:r>
            <a:br>
              <a:rPr lang="en-US" sz="3600" dirty="0" smtClean="0"/>
            </a:br>
            <a:r>
              <a:rPr lang="en-US" sz="3600" dirty="0" smtClean="0"/>
              <a:t>Century</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Managing Power</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95234"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800" b="1" dirty="0"/>
              <a:t>Legitimate power </a:t>
            </a:r>
            <a:r>
              <a:rPr lang="en-US" sz="2800" dirty="0" smtClean="0"/>
              <a:t>–</a:t>
            </a:r>
            <a:r>
              <a:rPr lang="en-US" sz="2800" b="1" dirty="0" smtClean="0"/>
              <a:t> </a:t>
            </a:r>
            <a:r>
              <a:rPr lang="en-US" sz="2800" dirty="0"/>
              <a:t>the power a leader has as a result of his or her position.</a:t>
            </a:r>
          </a:p>
          <a:p>
            <a:pPr marL="742950" lvl="1" indent="-285750" eaLnBrk="0" hangingPunct="0">
              <a:spcBef>
                <a:spcPct val="20000"/>
              </a:spcBef>
              <a:buFont typeface="Arial" charset="0"/>
              <a:buChar char="–"/>
            </a:pPr>
            <a:r>
              <a:rPr lang="en-US" sz="2800" b="1" dirty="0"/>
              <a:t>Coercive power </a:t>
            </a:r>
            <a:r>
              <a:rPr lang="en-US" sz="2800" dirty="0" smtClean="0"/>
              <a:t>–</a:t>
            </a:r>
            <a:r>
              <a:rPr lang="en-US" sz="2800" b="1" dirty="0" smtClean="0"/>
              <a:t> </a:t>
            </a:r>
            <a:r>
              <a:rPr lang="en-US" sz="2800" dirty="0"/>
              <a:t>the power a leader has to punish or control.</a:t>
            </a:r>
          </a:p>
          <a:p>
            <a:pPr marL="742950" lvl="1" indent="-285750" eaLnBrk="0" hangingPunct="0">
              <a:spcBef>
                <a:spcPct val="20000"/>
              </a:spcBef>
              <a:buFont typeface="Arial" charset="0"/>
              <a:buChar char="–"/>
            </a:pPr>
            <a:r>
              <a:rPr lang="en-US" sz="2800" b="1" dirty="0"/>
              <a:t>Reward power </a:t>
            </a:r>
            <a:r>
              <a:rPr lang="en-US" sz="2800" dirty="0" smtClean="0"/>
              <a:t>– </a:t>
            </a:r>
            <a:r>
              <a:rPr lang="en-US" sz="2800" dirty="0"/>
              <a:t>the power to give positive benefits or rewards.</a:t>
            </a:r>
          </a:p>
        </p:txBody>
      </p:sp>
      <p:sp>
        <p:nvSpPr>
          <p:cNvPr id="6" name="TextBox 5"/>
          <p:cNvSpPr txBox="1"/>
          <p:nvPr/>
        </p:nvSpPr>
        <p:spPr>
          <a:xfrm>
            <a:off x="8044869" y="6488668"/>
            <a:ext cx="1099131" cy="261610"/>
          </a:xfrm>
          <a:prstGeom prst="rect">
            <a:avLst/>
          </a:prstGeom>
          <a:noFill/>
        </p:spPr>
        <p:txBody>
          <a:bodyPr wrap="square" rtlCol="0">
            <a:spAutoFit/>
          </a:bodyPr>
          <a:lstStyle/>
          <a:p>
            <a:r>
              <a:rPr lang="en-US" sz="1100" dirty="0" smtClean="0"/>
              <a:t>17 - 31</a:t>
            </a:r>
            <a:endParaRPr lang="en-US" sz="11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p:txBody>
          <a:bodyPr>
            <a:normAutofit fontScale="90000"/>
          </a:bodyPr>
          <a:lstStyle/>
          <a:p>
            <a:pPr algn="ctr"/>
            <a:r>
              <a:rPr lang="en-US" sz="3600" smtClean="0"/>
              <a:t>Leadership Issues in the Twenty-First</a:t>
            </a:r>
            <a:br>
              <a:rPr lang="en-US" sz="3600" smtClean="0"/>
            </a:br>
            <a:r>
              <a:rPr lang="en-US" sz="3600" smtClean="0"/>
              <a:t>Century (cont.)</a:t>
            </a:r>
            <a:endParaRPr lang="en-US" sz="360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Managing Power</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97282"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r>
              <a:rPr lang="en-US" sz="3200" dirty="0" smtClean="0"/>
              <a:t>                                (cont</a:t>
            </a:r>
            <a:r>
              <a:rPr lang="en-US" sz="3200" dirty="0"/>
              <a:t>.)</a:t>
            </a:r>
          </a:p>
          <a:p>
            <a:pPr marL="742950" lvl="1" indent="-285750" eaLnBrk="0" hangingPunct="0">
              <a:spcBef>
                <a:spcPct val="20000"/>
              </a:spcBef>
              <a:buFont typeface="Arial" charset="0"/>
              <a:buChar char="–"/>
            </a:pPr>
            <a:r>
              <a:rPr lang="en-US" sz="2800" b="1" dirty="0"/>
              <a:t>Expert power </a:t>
            </a:r>
            <a:r>
              <a:rPr lang="en-US" sz="2800" dirty="0" smtClean="0"/>
              <a:t>–</a:t>
            </a:r>
            <a:r>
              <a:rPr lang="en-US" sz="2800" b="1" dirty="0" smtClean="0"/>
              <a:t> </a:t>
            </a:r>
            <a:r>
              <a:rPr lang="en-US" sz="2800" dirty="0"/>
              <a:t>the influence a leader can exert as a result of his or her expertise, skills, or knowledge.</a:t>
            </a:r>
          </a:p>
          <a:p>
            <a:pPr marL="742950" lvl="1" indent="-285750" eaLnBrk="0" hangingPunct="0">
              <a:spcBef>
                <a:spcPct val="20000"/>
              </a:spcBef>
              <a:buFont typeface="Arial" charset="0"/>
              <a:buChar char="–"/>
            </a:pPr>
            <a:r>
              <a:rPr lang="en-US" sz="2800" b="1" dirty="0"/>
              <a:t>Referent power </a:t>
            </a:r>
            <a:r>
              <a:rPr lang="en-US" sz="2800" dirty="0"/>
              <a:t>– </a:t>
            </a:r>
            <a:r>
              <a:rPr lang="en-US" sz="2800" dirty="0" smtClean="0"/>
              <a:t>the </a:t>
            </a:r>
            <a:r>
              <a:rPr lang="en-US" sz="2800" dirty="0"/>
              <a:t>power of a leader that arises because of a person’s desirable resources or admired personal </a:t>
            </a:r>
            <a:r>
              <a:rPr lang="en-US" sz="2800" dirty="0" smtClean="0"/>
              <a:t>traits.</a:t>
            </a:r>
            <a:endParaRPr lang="en-US" sz="2800" dirty="0"/>
          </a:p>
        </p:txBody>
      </p:sp>
      <p:sp>
        <p:nvSpPr>
          <p:cNvPr id="6" name="TextBox 5"/>
          <p:cNvSpPr txBox="1"/>
          <p:nvPr/>
        </p:nvSpPr>
        <p:spPr>
          <a:xfrm>
            <a:off x="8077200" y="6553200"/>
            <a:ext cx="1066800" cy="261610"/>
          </a:xfrm>
          <a:prstGeom prst="rect">
            <a:avLst/>
          </a:prstGeom>
          <a:noFill/>
        </p:spPr>
        <p:txBody>
          <a:bodyPr wrap="square" rtlCol="0">
            <a:spAutoFit/>
          </a:bodyPr>
          <a:lstStyle/>
          <a:p>
            <a:r>
              <a:rPr lang="en-US" sz="1100" dirty="0" smtClean="0"/>
              <a:t>17 - 32</a:t>
            </a:r>
            <a:endParaRPr lang="en-US" sz="11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a:normAutofit fontScale="90000"/>
          </a:bodyPr>
          <a:lstStyle/>
          <a:p>
            <a:pPr algn="ctr"/>
            <a:r>
              <a:rPr lang="en-US" sz="3600" smtClean="0"/>
              <a:t>Leadership Issues in the Twenty-First</a:t>
            </a:r>
            <a:br>
              <a:rPr lang="en-US" sz="3600" smtClean="0"/>
            </a:br>
            <a:r>
              <a:rPr lang="en-US" sz="3600" smtClean="0"/>
              <a:t>Century (cont.)</a:t>
            </a:r>
            <a:endParaRPr lang="en-US" sz="360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Developing Trust</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99330"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800" b="1" dirty="0"/>
              <a:t>Credibility </a:t>
            </a:r>
            <a:r>
              <a:rPr lang="en-US" sz="2800" dirty="0" smtClean="0"/>
              <a:t>–</a:t>
            </a:r>
            <a:r>
              <a:rPr lang="en-US" sz="2800" b="1" dirty="0" smtClean="0"/>
              <a:t> </a:t>
            </a:r>
            <a:r>
              <a:rPr lang="en-US" sz="2800" dirty="0"/>
              <a:t>the degree to which followers perceive someone as honest, competent, and able to </a:t>
            </a:r>
            <a:r>
              <a:rPr lang="en-US" sz="2800" dirty="0" smtClean="0"/>
              <a:t>inspire.</a:t>
            </a:r>
            <a:endParaRPr lang="en-US" sz="2800" dirty="0"/>
          </a:p>
          <a:p>
            <a:pPr marL="742950" lvl="1" indent="-285750" eaLnBrk="0" hangingPunct="0">
              <a:spcBef>
                <a:spcPct val="20000"/>
              </a:spcBef>
              <a:buFont typeface="Arial" charset="0"/>
              <a:buChar char="–"/>
            </a:pPr>
            <a:r>
              <a:rPr lang="en-US" sz="2800" b="1" dirty="0"/>
              <a:t>Trust </a:t>
            </a:r>
            <a:r>
              <a:rPr lang="en-US" sz="2800" dirty="0" smtClean="0"/>
              <a:t>–</a:t>
            </a:r>
            <a:r>
              <a:rPr lang="en-US" sz="2800" b="1" dirty="0" smtClean="0"/>
              <a:t> </a:t>
            </a:r>
            <a:r>
              <a:rPr lang="en-US" sz="2800" dirty="0"/>
              <a:t>the belief in the integrity, character, and ability of a </a:t>
            </a:r>
            <a:r>
              <a:rPr lang="en-US" sz="2800" dirty="0" smtClean="0"/>
              <a:t>leader.</a:t>
            </a:r>
            <a:endParaRPr lang="en-US" sz="2800" dirty="0"/>
          </a:p>
        </p:txBody>
      </p:sp>
      <p:sp>
        <p:nvSpPr>
          <p:cNvPr id="6" name="TextBox 5"/>
          <p:cNvSpPr txBox="1"/>
          <p:nvPr/>
        </p:nvSpPr>
        <p:spPr>
          <a:xfrm>
            <a:off x="8077200" y="6488668"/>
            <a:ext cx="762000" cy="261610"/>
          </a:xfrm>
          <a:prstGeom prst="rect">
            <a:avLst/>
          </a:prstGeom>
          <a:noFill/>
        </p:spPr>
        <p:txBody>
          <a:bodyPr wrap="square" rtlCol="0">
            <a:spAutoFit/>
          </a:bodyPr>
          <a:lstStyle/>
          <a:p>
            <a:r>
              <a:rPr lang="en-US" sz="1100" dirty="0" smtClean="0"/>
              <a:t>17 - 33</a:t>
            </a:r>
            <a:endParaRPr lang="en-US" sz="11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p:txBody>
          <a:bodyPr>
            <a:normAutofit fontScale="90000"/>
          </a:bodyPr>
          <a:lstStyle/>
          <a:p>
            <a:pPr algn="ctr"/>
            <a:r>
              <a:rPr lang="en-US" sz="3600" smtClean="0"/>
              <a:t>Leadership Issues in the Twenty-First</a:t>
            </a:r>
            <a:br>
              <a:rPr lang="en-US" sz="3600" smtClean="0"/>
            </a:br>
            <a:r>
              <a:rPr lang="en-US" sz="3600" smtClean="0"/>
              <a:t>Century (cont.)</a:t>
            </a:r>
            <a:endParaRPr lang="en-US" sz="360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Five Dimensions of the Concept of Trust </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101378" name="Rectangle 3"/>
          <p:cNvSpPr txBox="1">
            <a:spLocks/>
          </p:cNvSpPr>
          <p:nvPr/>
        </p:nvSpPr>
        <p:spPr bwMode="auto">
          <a:xfrm>
            <a:off x="457200" y="15240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400" i="1" dirty="0"/>
              <a:t>Integrity: </a:t>
            </a:r>
            <a:r>
              <a:rPr lang="en-US" sz="2400" dirty="0"/>
              <a:t>honesty and truthfulness</a:t>
            </a:r>
          </a:p>
          <a:p>
            <a:pPr marL="742950" lvl="1" indent="-285750" eaLnBrk="0" hangingPunct="0">
              <a:spcBef>
                <a:spcPct val="20000"/>
              </a:spcBef>
              <a:buFont typeface="Arial" charset="0"/>
              <a:buChar char="–"/>
            </a:pPr>
            <a:r>
              <a:rPr lang="en-US" sz="2400" i="1" dirty="0"/>
              <a:t>Competence: </a:t>
            </a:r>
            <a:r>
              <a:rPr lang="en-US" sz="2400" dirty="0"/>
              <a:t>technical and interpersonal knowledge and skills</a:t>
            </a:r>
          </a:p>
          <a:p>
            <a:pPr marL="742950" lvl="1" indent="-285750" eaLnBrk="0" hangingPunct="0">
              <a:spcBef>
                <a:spcPct val="20000"/>
              </a:spcBef>
              <a:buFont typeface="Arial" charset="0"/>
              <a:buChar char="–"/>
            </a:pPr>
            <a:r>
              <a:rPr lang="en-US" sz="2400" i="1" dirty="0"/>
              <a:t>Consistency: </a:t>
            </a:r>
            <a:r>
              <a:rPr lang="en-US" sz="2400" dirty="0"/>
              <a:t>reliability, predictability, and good judgment in handling situations</a:t>
            </a:r>
          </a:p>
          <a:p>
            <a:pPr marL="742950" lvl="1" indent="-285750" eaLnBrk="0" hangingPunct="0">
              <a:spcBef>
                <a:spcPct val="20000"/>
              </a:spcBef>
              <a:buFont typeface="Arial" charset="0"/>
              <a:buChar char="–"/>
            </a:pPr>
            <a:r>
              <a:rPr lang="en-US" sz="2400" i="1" dirty="0"/>
              <a:t>Loyalty: </a:t>
            </a:r>
            <a:r>
              <a:rPr lang="en-US" sz="2400" dirty="0"/>
              <a:t>willingness to protect a person, physically and emotionally</a:t>
            </a:r>
          </a:p>
          <a:p>
            <a:pPr marL="742950" lvl="1" indent="-285750" eaLnBrk="0" hangingPunct="0">
              <a:spcBef>
                <a:spcPct val="20000"/>
              </a:spcBef>
              <a:buFont typeface="Arial" charset="0"/>
              <a:buChar char="–"/>
            </a:pPr>
            <a:r>
              <a:rPr lang="en-US" sz="2400" i="1" dirty="0" smtClean="0"/>
              <a:t>Openness</a:t>
            </a:r>
            <a:r>
              <a:rPr lang="en-US" sz="2400" i="1" dirty="0"/>
              <a:t>: </a:t>
            </a:r>
            <a:r>
              <a:rPr lang="en-US" sz="2400" dirty="0"/>
              <a:t>willingness to share ideas and information freely</a:t>
            </a:r>
          </a:p>
        </p:txBody>
      </p:sp>
      <p:sp>
        <p:nvSpPr>
          <p:cNvPr id="6" name="TextBox 5"/>
          <p:cNvSpPr txBox="1"/>
          <p:nvPr/>
        </p:nvSpPr>
        <p:spPr>
          <a:xfrm>
            <a:off x="8229600" y="6488668"/>
            <a:ext cx="718131" cy="261610"/>
          </a:xfrm>
          <a:prstGeom prst="rect">
            <a:avLst/>
          </a:prstGeom>
          <a:noFill/>
        </p:spPr>
        <p:txBody>
          <a:bodyPr wrap="square" rtlCol="0">
            <a:spAutoFit/>
          </a:bodyPr>
          <a:lstStyle/>
          <a:p>
            <a:r>
              <a:rPr lang="en-US" sz="1100" dirty="0" smtClean="0"/>
              <a:t>17 - 34</a:t>
            </a:r>
            <a:endParaRPr lang="en-US" sz="11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a:normAutofit fontScale="90000"/>
          </a:bodyPr>
          <a:lstStyle/>
          <a:p>
            <a:pPr algn="ctr"/>
            <a:r>
              <a:rPr lang="en-US" sz="3600" dirty="0" smtClean="0"/>
              <a:t>Exhibit 17-6</a:t>
            </a:r>
            <a:br>
              <a:rPr lang="en-US" sz="3600" dirty="0" smtClean="0"/>
            </a:br>
            <a:r>
              <a:rPr lang="en-US" sz="3600" dirty="0" smtClean="0"/>
              <a:t>Building Trust</a:t>
            </a:r>
            <a:endParaRPr lang="en-US" sz="3600" dirty="0" smtClean="0">
              <a:latin typeface="Calibri" pitchFamily="34" charset="0"/>
            </a:endParaRPr>
          </a:p>
        </p:txBody>
      </p:sp>
      <p:pic>
        <p:nvPicPr>
          <p:cNvPr id="3074" name="Picture 2"/>
          <p:cNvPicPr>
            <a:picLocks noGrp="1" noChangeAspect="1" noChangeArrowheads="1"/>
          </p:cNvPicPr>
          <p:nvPr>
            <p:ph idx="1"/>
          </p:nvPr>
        </p:nvPicPr>
        <p:blipFill>
          <a:blip r:embed="rId3" cstate="print"/>
          <a:stretch>
            <a:fillRect/>
          </a:stretch>
        </p:blipFill>
        <p:spPr bwMode="auto">
          <a:xfrm>
            <a:off x="1943100" y="3091656"/>
            <a:ext cx="5257800" cy="1543050"/>
          </a:xfrm>
          <a:prstGeom prst="rect">
            <a:avLst/>
          </a:prstGeom>
          <a:noFill/>
          <a:ln w="9525">
            <a:noFill/>
            <a:miter lim="800000"/>
            <a:headEnd/>
            <a:tailEnd/>
          </a:ln>
        </p:spPr>
      </p:pic>
      <p:sp>
        <p:nvSpPr>
          <p:cNvPr id="5"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7" name="TextBox 6"/>
          <p:cNvSpPr txBox="1"/>
          <p:nvPr/>
        </p:nvSpPr>
        <p:spPr>
          <a:xfrm>
            <a:off x="8229600" y="6477000"/>
            <a:ext cx="794331" cy="261610"/>
          </a:xfrm>
          <a:prstGeom prst="rect">
            <a:avLst/>
          </a:prstGeom>
          <a:noFill/>
        </p:spPr>
        <p:txBody>
          <a:bodyPr wrap="square" rtlCol="0">
            <a:spAutoFit/>
          </a:bodyPr>
          <a:lstStyle/>
          <a:p>
            <a:r>
              <a:rPr lang="en-US" sz="1100" dirty="0" smtClean="0"/>
              <a:t>17 - 35</a:t>
            </a:r>
            <a:endParaRPr lang="en-US" sz="11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p:txBody>
          <a:bodyPr>
            <a:normAutofit fontScale="90000"/>
          </a:bodyPr>
          <a:lstStyle/>
          <a:p>
            <a:pPr algn="ctr"/>
            <a:r>
              <a:rPr lang="en-US" sz="3600" dirty="0" smtClean="0"/>
              <a:t>Leadership Issues in the Twenty-First</a:t>
            </a:r>
            <a:br>
              <a:rPr lang="en-US" sz="3600" dirty="0" smtClean="0"/>
            </a:br>
            <a:r>
              <a:rPr lang="en-US" sz="3600" dirty="0" smtClean="0"/>
              <a:t>Century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Empowering Employees</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105474"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40000"/>
              </a:spcBef>
              <a:buFont typeface="Arial" charset="0"/>
              <a:buChar char="–"/>
            </a:pPr>
            <a:r>
              <a:rPr lang="en-US" sz="2800" b="1" dirty="0"/>
              <a:t>Empowerment </a:t>
            </a:r>
            <a:r>
              <a:rPr lang="en-US" sz="2800" dirty="0" smtClean="0"/>
              <a:t>–</a:t>
            </a:r>
            <a:r>
              <a:rPr lang="en-US" sz="2800" b="1" dirty="0" smtClean="0"/>
              <a:t> </a:t>
            </a:r>
            <a:r>
              <a:rPr lang="en-US" sz="2800" dirty="0"/>
              <a:t>increasing the decision-making discretion of workers such that teams can make key operating decisions in developing budgets, scheduling workloads, controlling inventories, and solving quality problems.</a:t>
            </a:r>
          </a:p>
          <a:p>
            <a:pPr marL="742950" lvl="1" indent="-285750" eaLnBrk="0" hangingPunct="0">
              <a:spcBef>
                <a:spcPct val="20000"/>
              </a:spcBef>
              <a:buFont typeface="Arial" charset="0"/>
              <a:buChar char="–"/>
            </a:pPr>
            <a:endParaRPr lang="en-US" sz="2800" dirty="0"/>
          </a:p>
        </p:txBody>
      </p:sp>
      <p:sp>
        <p:nvSpPr>
          <p:cNvPr id="6" name="TextBox 5"/>
          <p:cNvSpPr txBox="1"/>
          <p:nvPr/>
        </p:nvSpPr>
        <p:spPr>
          <a:xfrm>
            <a:off x="8305800" y="6488668"/>
            <a:ext cx="838200" cy="261610"/>
          </a:xfrm>
          <a:prstGeom prst="rect">
            <a:avLst/>
          </a:prstGeom>
          <a:noFill/>
        </p:spPr>
        <p:txBody>
          <a:bodyPr wrap="square" rtlCol="0">
            <a:spAutoFit/>
          </a:bodyPr>
          <a:lstStyle/>
          <a:p>
            <a:r>
              <a:rPr lang="en-US" sz="1100" dirty="0" smtClean="0"/>
              <a:t>17 - 36</a:t>
            </a:r>
            <a:endParaRPr lang="en-US" sz="11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p:txBody>
          <a:bodyPr>
            <a:normAutofit fontScale="90000"/>
          </a:bodyPr>
          <a:lstStyle/>
          <a:p>
            <a:pPr algn="ctr"/>
            <a:r>
              <a:rPr lang="en-US" sz="3600" dirty="0" smtClean="0"/>
              <a:t>Leadership Issues in the Twenty-First</a:t>
            </a:r>
            <a:br>
              <a:rPr lang="en-US" sz="3600" dirty="0" smtClean="0"/>
            </a:br>
            <a:r>
              <a:rPr lang="en-US" sz="3600" dirty="0" smtClean="0"/>
              <a:t>Century (cont.)</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Leading Across Cultures</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107522"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800" dirty="0" smtClean="0"/>
              <a:t>Effective </a:t>
            </a:r>
            <a:r>
              <a:rPr lang="en-US" sz="2800" dirty="0"/>
              <a:t>leaders do not use a single style. They adjust their style to the situation.</a:t>
            </a:r>
          </a:p>
          <a:p>
            <a:pPr marL="742950" lvl="1" indent="-285750" eaLnBrk="0" hangingPunct="0">
              <a:spcBef>
                <a:spcPct val="20000"/>
              </a:spcBef>
              <a:buFont typeface="Arial" charset="0"/>
              <a:buChar char="–"/>
            </a:pPr>
            <a:r>
              <a:rPr lang="en-US" sz="2800" dirty="0"/>
              <a:t>National culture is certainly an important situational variable in determining which leadership style will be most </a:t>
            </a:r>
            <a:r>
              <a:rPr lang="en-US" sz="2800" dirty="0" smtClean="0"/>
              <a:t>effective.</a:t>
            </a:r>
            <a:endParaRPr lang="en-US" sz="2800" dirty="0"/>
          </a:p>
        </p:txBody>
      </p:sp>
      <p:sp>
        <p:nvSpPr>
          <p:cNvPr id="6" name="TextBox 5"/>
          <p:cNvSpPr txBox="1"/>
          <p:nvPr/>
        </p:nvSpPr>
        <p:spPr>
          <a:xfrm>
            <a:off x="8349669" y="6488668"/>
            <a:ext cx="794331" cy="261610"/>
          </a:xfrm>
          <a:prstGeom prst="rect">
            <a:avLst/>
          </a:prstGeom>
          <a:noFill/>
        </p:spPr>
        <p:txBody>
          <a:bodyPr wrap="square" rtlCol="0">
            <a:spAutoFit/>
          </a:bodyPr>
          <a:lstStyle/>
          <a:p>
            <a:r>
              <a:rPr lang="en-US" sz="1100" dirty="0" smtClean="0"/>
              <a:t>17 - 37</a:t>
            </a:r>
            <a:endParaRPr lang="en-US" sz="11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p:txBody>
          <a:bodyPr>
            <a:normAutofit fontScale="90000"/>
          </a:bodyPr>
          <a:lstStyle/>
          <a:p>
            <a:pPr algn="ctr"/>
            <a:r>
              <a:rPr lang="en-US" sz="3600" dirty="0" smtClean="0"/>
              <a:t>Exhibit 17-7</a:t>
            </a:r>
            <a:br>
              <a:rPr lang="en-US" sz="3600" dirty="0" smtClean="0"/>
            </a:br>
            <a:r>
              <a:rPr lang="en-US" sz="3600" dirty="0" smtClean="0"/>
              <a:t>Cross-Cultural Leadership</a:t>
            </a:r>
            <a:endParaRPr lang="en-US" sz="3600" dirty="0" smtClean="0">
              <a:latin typeface="Calibri" pitchFamily="34" charset="0"/>
            </a:endParaRPr>
          </a:p>
        </p:txBody>
      </p:sp>
      <p:sp>
        <p:nvSpPr>
          <p:cNvPr id="4" name="Content Placeholder 3"/>
          <p:cNvSpPr>
            <a:spLocks noGrp="1"/>
          </p:cNvSpPr>
          <p:nvPr>
            <p:ph idx="1"/>
          </p:nvPr>
        </p:nvSpPr>
        <p:spPr/>
        <p:txBody>
          <a:bodyPr/>
          <a:lstStyle/>
          <a:p>
            <a:endParaRPr lang="en-US"/>
          </a:p>
        </p:txBody>
      </p:sp>
      <p:sp>
        <p:nvSpPr>
          <p:cNvPr id="5"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6" name="TextBox 5"/>
          <p:cNvSpPr txBox="1"/>
          <p:nvPr/>
        </p:nvSpPr>
        <p:spPr>
          <a:xfrm>
            <a:off x="8229600" y="6488668"/>
            <a:ext cx="794331" cy="261610"/>
          </a:xfrm>
          <a:prstGeom prst="rect">
            <a:avLst/>
          </a:prstGeom>
          <a:noFill/>
        </p:spPr>
        <p:txBody>
          <a:bodyPr wrap="square" rtlCol="0">
            <a:spAutoFit/>
          </a:bodyPr>
          <a:lstStyle/>
          <a:p>
            <a:r>
              <a:rPr lang="en-US" sz="1100" dirty="0" smtClean="0"/>
              <a:t>17 - 38</a:t>
            </a:r>
            <a:endParaRPr lang="en-US" sz="1100" dirty="0"/>
          </a:p>
        </p:txBody>
      </p:sp>
      <p:pic>
        <p:nvPicPr>
          <p:cNvPr id="2" name="Picture 1"/>
          <p:cNvPicPr>
            <a:picLocks noChangeAspect="1"/>
          </p:cNvPicPr>
          <p:nvPr/>
        </p:nvPicPr>
        <p:blipFill>
          <a:blip r:embed="rId3"/>
          <a:stretch>
            <a:fillRect/>
          </a:stretch>
        </p:blipFill>
        <p:spPr>
          <a:xfrm>
            <a:off x="0" y="1460500"/>
            <a:ext cx="9144000" cy="3920133"/>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p:txBody>
          <a:bodyPr/>
          <a:lstStyle/>
          <a:p>
            <a:pPr algn="ctr"/>
            <a:r>
              <a:rPr lang="en-US" sz="3600" dirty="0" smtClean="0"/>
              <a:t>Becoming an Effective Leader</a:t>
            </a:r>
            <a:endParaRPr lang="en-US" sz="3600" dirty="0" smtClean="0">
              <a:latin typeface="Calibri" pitchFamily="34" charset="0"/>
            </a:endParaRPr>
          </a:p>
        </p:txBody>
      </p:sp>
      <p:sp>
        <p:nvSpPr>
          <p:cNvPr id="5" name="Content Placeholder 4"/>
          <p:cNvSpPr>
            <a:spLocks noGrp="1"/>
          </p:cNvSpPr>
          <p:nvPr>
            <p:ph idx="1"/>
          </p:nvPr>
        </p:nvSpPr>
        <p:spPr/>
        <p:txBody>
          <a:bodyPr>
            <a:normAutofit/>
          </a:bodyPr>
          <a:lstStyle/>
          <a:p>
            <a:r>
              <a:rPr lang="en-US" sz="3200" dirty="0" smtClean="0">
                <a:latin typeface="Arial" pitchFamily="34" charset="0"/>
                <a:cs typeface="Arial" pitchFamily="34" charset="0"/>
              </a:rPr>
              <a:t>Leader Training</a:t>
            </a:r>
            <a:endParaRPr lang="en-US" sz="3200" dirty="0">
              <a:latin typeface="Arial" pitchFamily="34" charset="0"/>
              <a:cs typeface="Arial" pitchFamily="34" charset="0"/>
            </a:endParaRPr>
          </a:p>
        </p:txBody>
      </p:sp>
      <p:sp>
        <p:nvSpPr>
          <p:cNvPr id="7" name="Footer Placeholder 1"/>
          <p:cNvSpPr>
            <a:spLocks noGrp="1"/>
          </p:cNvSpPr>
          <p:nvPr>
            <p:ph type="ftr" sz="quarter" idx="11"/>
          </p:nvPr>
        </p:nvSpPr>
        <p:spPr/>
        <p:txBody>
          <a:bodyPr/>
          <a:lstStyle/>
          <a:p>
            <a:r>
              <a:rPr lang="en-IN" dirty="0">
                <a:latin typeface="Arial"/>
                <a:cs typeface="Arial"/>
              </a:rPr>
              <a:t>Copyright © 2017 Pearson India Education Services </a:t>
            </a:r>
            <a:r>
              <a:rPr lang="en-IN" dirty="0" err="1">
                <a:latin typeface="Arial"/>
                <a:cs typeface="Arial"/>
              </a:rPr>
              <a:t>Pvt.</a:t>
            </a:r>
            <a:r>
              <a:rPr lang="en-IN" dirty="0">
                <a:latin typeface="Arial"/>
                <a:cs typeface="Arial"/>
              </a:rPr>
              <a:t> Ltd</a:t>
            </a:r>
            <a:endParaRPr lang="en-US" dirty="0">
              <a:latin typeface="Arial"/>
              <a:cs typeface="Arial"/>
            </a:endParaRPr>
          </a:p>
        </p:txBody>
      </p:sp>
      <p:sp>
        <p:nvSpPr>
          <p:cNvPr id="111618"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pPr>
            <a:endParaRPr lang="en-US" sz="3200" dirty="0"/>
          </a:p>
          <a:p>
            <a:pPr marL="742950" lvl="1" indent="-285750" eaLnBrk="0" hangingPunct="0">
              <a:spcBef>
                <a:spcPct val="20000"/>
              </a:spcBef>
              <a:buFont typeface="Arial" charset="0"/>
              <a:buChar char="–"/>
            </a:pPr>
            <a:r>
              <a:rPr lang="en-US" sz="2800" dirty="0"/>
              <a:t>Training is more likely to be successful with individuals who are high self-monitors than those who are low self-monitors.</a:t>
            </a:r>
          </a:p>
          <a:p>
            <a:pPr marL="742950" lvl="1" indent="-285750" eaLnBrk="0" hangingPunct="0">
              <a:spcBef>
                <a:spcPct val="20000"/>
              </a:spcBef>
              <a:buFont typeface="Arial" charset="0"/>
              <a:buChar char="–"/>
            </a:pPr>
            <a:r>
              <a:rPr lang="en-US" sz="2800" dirty="0"/>
              <a:t>Individuals with higher levels of motivation to lead are more receptive to leadership development opportunities.</a:t>
            </a:r>
          </a:p>
          <a:p>
            <a:pPr marL="742950" lvl="1" indent="-285750" eaLnBrk="0" hangingPunct="0">
              <a:spcBef>
                <a:spcPct val="20000"/>
              </a:spcBef>
              <a:buFont typeface="Arial" charset="0"/>
              <a:buChar char="–"/>
            </a:pPr>
            <a:endParaRPr lang="en-US" sz="2800" dirty="0"/>
          </a:p>
        </p:txBody>
      </p:sp>
      <p:sp>
        <p:nvSpPr>
          <p:cNvPr id="6" name="TextBox 5"/>
          <p:cNvSpPr txBox="1"/>
          <p:nvPr/>
        </p:nvSpPr>
        <p:spPr>
          <a:xfrm>
            <a:off x="8382000" y="6488668"/>
            <a:ext cx="762000" cy="261610"/>
          </a:xfrm>
          <a:prstGeom prst="rect">
            <a:avLst/>
          </a:prstGeom>
          <a:noFill/>
        </p:spPr>
        <p:txBody>
          <a:bodyPr wrap="square" rtlCol="0">
            <a:spAutoFit/>
          </a:bodyPr>
          <a:lstStyle/>
          <a:p>
            <a:r>
              <a:rPr lang="en-US" sz="1100" dirty="0" smtClean="0"/>
              <a:t>17 - 39</a:t>
            </a:r>
            <a:endParaRPr lang="en-US" sz="1100"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7.0&quot;&gt;&lt;object type=&quot;1&quot; unique_id=&quot;10001&quot;&gt;&lt;object type=&quot;8&quot; unique_id=&quot;11846&quot;&gt;&lt;/object&gt;&lt;object type=&quot;2&quot; unique_id=&quot;11847&quot;&gt;&lt;object type=&quot;3&quot; unique_id=&quot;11848&quot;&gt;&lt;property id=&quot;20148&quot; value=&quot;5&quot;/&gt;&lt;property id=&quot;20300&quot; value=&quot;Slide 1 - &amp;quot;Managers as Leaders&amp;quot;&quot;/&gt;&lt;property id=&quot;20307&quot; value=&quot;256&quot;/&gt;&lt;/object&gt;&lt;object type=&quot;3&quot; unique_id=&quot;11849&quot;&gt;&lt;property id=&quot;20148&quot; value=&quot;5&quot;/&gt;&lt;property id=&quot;20300&quot; value=&quot;Slide 2&quot;/&gt;&lt;property id=&quot;20307&quot; value=&quot;258&quot;/&gt;&lt;/object&gt;&lt;object type=&quot;3&quot; unique_id=&quot;11884&quot;&gt;&lt;property id=&quot;20148&quot; value=&quot;5&quot;/&gt;&lt;property id=&quot;20300&quot; value=&quot;Slide 49&quot;/&gt;&lt;property id=&quot;20307&quot; value=&quot;260&quot;/&gt;&lt;/object&gt;&lt;object type=&quot;3&quot; unique_id=&quot;18011&quot;&gt;&lt;property id=&quot;20148&quot; value=&quot;5&quot;/&gt;&lt;property id=&quot;20300&quot; value=&quot;Slide 3 - &amp;quot;Who Are Leaders and &amp;#x0D;&amp;#x0A;What Is Leadership?&amp;quot;&quot;/&gt;&lt;property id=&quot;20307&quot; value=&quot;393&quot;/&gt;&lt;/object&gt;&lt;object type=&quot;3&quot; unique_id=&quot;40475&quot;&gt;&lt;property id=&quot;20148&quot; value=&quot;5&quot;/&gt;&lt;property id=&quot;20300&quot; value=&quot;Slide 4 - &amp;quot;Early Leadership Theories&amp;quot;&quot;/&gt;&lt;property id=&quot;20307&quot; value=&quot;655&quot;/&gt;&lt;/object&gt;&lt;object type=&quot;3&quot; unique_id=&quot;40476&quot;&gt;&lt;property id=&quot;20148&quot; value=&quot;5&quot;/&gt;&lt;property id=&quot;20300&quot; value=&quot;Slide 5 - &amp;quot;Exhibit 18-1 Seven Traits Associated with Leadership&amp;quot;&quot;/&gt;&lt;property id=&quot;20307&quot; value=&quot;642&quot;/&gt;&lt;/object&gt;&lt;object type=&quot;3&quot; unique_id=&quot;40477&quot;&gt;&lt;property id=&quot;20148&quot; value=&quot;5&quot;/&gt;&lt;property id=&quot;20300&quot; value=&quot;Slide 6 - &amp;quot;Early Leadership Theories (cont.)&amp;quot;&quot;/&gt;&lt;property id=&quot;20307&quot; value=&quot;656&quot;/&gt;&lt;/object&gt;&lt;object type=&quot;3&quot; unique_id=&quot;40478&quot;&gt;&lt;property id=&quot;20148&quot; value=&quot;5&quot;/&gt;&lt;property id=&quot;20300&quot; value=&quot;Slide 7 - &amp;quot;University of Iowa Studies (cont.)&amp;quot;&quot;/&gt;&lt;property id=&quot;20307&quot; value=&quot;654&quot;/&gt;&lt;/object&gt;&lt;object type=&quot;3&quot; unique_id=&quot;40479&quot;&gt;&lt;property id=&quot;20148&quot; value=&quot;5&quot;/&gt;&lt;property id=&quot;20300&quot; value=&quot;Slide 8 - &amp;quot;Early Leadership Theories (cont.)&amp;quot;&quot;/&gt;&lt;property id=&quot;20307&quot; value=&quot;653&quot;/&gt;&lt;/object&gt;&lt;object type=&quot;3&quot; unique_id=&quot;40480&quot;&gt;&lt;property id=&quot;20148&quot; value=&quot;5&quot;/&gt;&lt;property id=&quot;20300&quot; value=&quot;Slide 9 - &amp;quot;Results of Ohio State Studies&amp;quot;&quot;/&gt;&lt;property id=&quot;20307&quot; value=&quot;652&quot;/&gt;&lt;/object&gt;&lt;object type=&quot;3&quot; unique_id=&quot;40481&quot;&gt;&lt;property id=&quot;20148&quot; value=&quot;5&quot;/&gt;&lt;property id=&quot;20300&quot; value=&quot;Slide 10 - &amp;quot;University of Michigan Studies&amp;quot;&quot;/&gt;&lt;property id=&quot;20307&quot; value=&quot;651&quot;/&gt;&lt;/object&gt;&lt;object type=&quot;3&quot; unique_id=&quot;40482&quot;&gt;&lt;property id=&quot;20148&quot; value=&quot;5&quot;/&gt;&lt;property id=&quot;20300&quot; value=&quot;Slide 11 - &amp;quot;The Managerial Grid&amp;quot;&quot;/&gt;&lt;property id=&quot;20307&quot; value=&quot;650&quot;/&gt;&lt;/object&gt;&lt;object type=&quot;3&quot; unique_id=&quot;40483&quot;&gt;&lt;property id=&quot;20148&quot; value=&quot;5&quot;/&gt;&lt;property id=&quot;20300&quot; value=&quot;Slide 12 - &amp;quot;Exhibit 18-2&amp;#x0D;&amp;#x0A;Behavioral Theories of Leadership&amp;quot;&quot;/&gt;&lt;property id=&quot;20307&quot; value=&quot;649&quot;/&gt;&lt;/object&gt;&lt;object type=&quot;3&quot; unique_id=&quot;40484&quot;&gt;&lt;property id=&quot;20148&quot; value=&quot;5&quot;/&gt;&lt;property id=&quot;20300&quot; value=&quot;Slide 13 - &amp;quot;Exhibit 18-2 Behavioral Theories of Leadership (cont.)&amp;quot;&quot;/&gt;&lt;property id=&quot;20307&quot; value=&quot;648&quot;/&gt;&lt;/object&gt;&lt;object type=&quot;3&quot; unique_id=&quot;40485&quot;&gt;&lt;property id=&quot;20148&quot; value=&quot;5&quot;/&gt;&lt;property id=&quot;20300&quot; value=&quot;Slide 14 - &amp;quot;Exhibit 18-2 Behavioral Theories of Leadership (cont.)&amp;quot;&quot;/&gt;&lt;property id=&quot;20307&quot; value=&quot;647&quot;/&gt;&lt;/object&gt;&lt;object type=&quot;3&quot; unique_id=&quot;40486&quot;&gt;&lt;property id=&quot;20148&quot; value=&quot;5&quot;/&gt;&lt;property id=&quot;20300&quot; value=&quot;Slide 15 - &amp;quot;Contingency Theories of Leadership&amp;quot;&quot;/&gt;&lt;property id=&quot;20307&quot; value=&quot;646&quot;/&gt;&lt;/object&gt;&lt;object type=&quot;3&quot; unique_id=&quot;40487&quot;&gt;&lt;property id=&quot;20148&quot; value=&quot;5&quot;/&gt;&lt;property id=&quot;20300&quot; value=&quot;Slide 16 - &amp;quot;The Fiedler Model (cont.)&amp;quot;&quot;/&gt;&lt;property id=&quot;20307&quot; value=&quot;645&quot;/&gt;&lt;/object&gt;&lt;object type=&quot;3&quot; unique_id=&quot;40488&quot;&gt;&lt;property id=&quot;20148&quot; value=&quot;5&quot;/&gt;&lt;property id=&quot;20300&quot; value=&quot;Slide 17 - &amp;quot;The Fiedler Model (cont.)&amp;quot;&quot;/&gt;&lt;property id=&quot;20307&quot; value=&quot;644&quot;/&gt;&lt;/object&gt;&lt;object type=&quot;3&quot; unique_id=&quot;40489&quot;&gt;&lt;property id=&quot;20148&quot; value=&quot;5&quot;/&gt;&lt;property id=&quot;20300&quot; value=&quot;Slide 19 - &amp;quot;Hersey and Blanchard’s Situational Leadership Theory (SLT)&amp;quot;&quot;/&gt;&lt;property id=&quot;20307&quot; value=&quot;643&quot;/&gt;&lt;/object&gt;&lt;object type=&quot;3&quot; unique_id=&quot;40710&quot;&gt;&lt;property id=&quot;20148&quot; value=&quot;5&quot;/&gt;&lt;property id=&quot;20300&quot; value=&quot;Slide 18 - &amp;quot;Exhibit 18-3&amp;#x0D;&amp;#x0A;The Fiedler Model&amp;quot;&quot;/&gt;&lt;property id=&quot;20307&quot; value=&quot;659&quot;/&gt;&lt;/object&gt;&lt;object type=&quot;3&quot; unique_id=&quot;40711&quot;&gt;&lt;property id=&quot;20148&quot; value=&quot;5&quot;/&gt;&lt;property id=&quot;20300&quot; value=&quot;Slide 20 - &amp;quot;SLT Leadership Styles&amp;quot;&quot;/&gt;&lt;property id=&quot;20307&quot; value=&quot;660&quot;/&gt;&lt;/object&gt;&lt;object type=&quot;3&quot; unique_id=&quot;40712&quot;&gt;&lt;property id=&quot;20148&quot; value=&quot;5&quot;/&gt;&lt;property id=&quot;20300&quot; value=&quot;Slide 21 - &amp;quot;SLT Leadership Styles (cont.)&amp;quot;&quot;/&gt;&lt;property id=&quot;20307&quot; value=&quot;658&quot;/&gt;&lt;/object&gt;&lt;object type=&quot;3&quot; unique_id=&quot;40713&quot;&gt;&lt;property id=&quot;20148&quot; value=&quot;5&quot;/&gt;&lt;property id=&quot;20300&quot; value=&quot;Slide 22 - &amp;quot;Four Stages of Follower Readiness&amp;quot;&quot;/&gt;&lt;property id=&quot;20307&quot; value=&quot;657&quot;/&gt;&lt;/object&gt;&lt;object type=&quot;3&quot; unique_id=&quot;40714&quot;&gt;&lt;property id=&quot;20148&quot; value=&quot;5&quot;/&gt;&lt;property id=&quot;20300&quot; value=&quot;Slide 23 - &amp;quot;Four Stages of Follower Readiness (cont.)&amp;quot;&quot;/&gt;&lt;property id=&quot;20307&quot; value=&quot;661&quot;/&gt;&lt;/object&gt;&lt;object type=&quot;3&quot; unique_id=&quot;40715&quot;&gt;&lt;property id=&quot;20148&quot; value=&quot;5&quot;/&gt;&lt;property id=&quot;20300&quot; value=&quot;Slide 24 - &amp;quot;Path-Goal Model&amp;quot;&quot;/&gt;&lt;property id=&quot;20307&quot; value=&quot;662&quot;/&gt;&lt;/object&gt;&lt;object type=&quot;3&quot; unique_id=&quot;40716&quot;&gt;&lt;property id=&quot;20148&quot; value=&quot;5&quot;/&gt;&lt;property id=&quot;20300&quot; value=&quot;Slide 25 - &amp;quot;Path-Goal Model (cont.)&amp;quot;&quot;/&gt;&lt;property id=&quot;20307&quot; value=&quot;663&quot;/&gt;&lt;/object&gt;&lt;object type=&quot;3&quot; unique_id=&quot;40717&quot;&gt;&lt;property id=&quot;20148&quot; value=&quot;5&quot;/&gt;&lt;property id=&quot;20300&quot; value=&quot;Slide 26 - &amp;quot;Path-Goal Model (cont.)&amp;quot;&quot;/&gt;&lt;property id=&quot;20307&quot; value=&quot;664&quot;/&gt;&lt;/object&gt;&lt;object type=&quot;3&quot; unique_id=&quot;41558&quot;&gt;&lt;property id=&quot;20148&quot; value=&quot;5&quot;/&gt;&lt;property id=&quot;20300&quot; value=&quot;Slide 27 - &amp;quot;Exhibit 18-4&amp;#x0D;&amp;#x0A;Path-Goal Model&amp;quot;&quot;/&gt;&lt;property id=&quot;20307&quot; value=&quot;668&quot;/&gt;&lt;/object&gt;&lt;object type=&quot;3&quot; unique_id=&quot;41559&quot;&gt;&lt;property id=&quot;20148&quot; value=&quot;5&quot;/&gt;&lt;property id=&quot;20300&quot; value=&quot;Slide 28 - &amp;quot;Contemporary Views of Leadership&amp;quot;&quot;/&gt;&lt;property id=&quot;20307&quot; value=&quot;667&quot;/&gt;&lt;/object&gt;&lt;object type=&quot;3&quot; unique_id=&quot;41560&quot;&gt;&lt;property id=&quot;20148&quot; value=&quot;5&quot;/&gt;&lt;property id=&quot;20300&quot; value=&quot;Slide 29 - &amp;quot;Contemporary Views of Leadership (cont.)&amp;quot;&quot;/&gt;&lt;property id=&quot;20307&quot; value=&quot;666&quot;/&gt;&lt;/object&gt;&lt;object type=&quot;3&quot; unique_id=&quot;41561&quot;&gt;&lt;property id=&quot;20148&quot; value=&quot;5&quot;/&gt;&lt;property id=&quot;20300&quot; value=&quot;Slide 30 - &amp;quot;Contemporary Views of Leadership (cont.)&amp;quot;&quot;/&gt;&lt;property id=&quot;20307&quot; value=&quot;665&quot;/&gt;&lt;/object&gt;&lt;object type=&quot;3&quot; unique_id=&quot;41562&quot;&gt;&lt;property id=&quot;20148&quot; value=&quot;5&quot;/&gt;&lt;property id=&quot;20300&quot; value=&quot;Slide 31 - &amp;quot;Contemporary Views of Leadership (cont.)&amp;quot;&quot;/&gt;&lt;property id=&quot;20307&quot; value=&quot;669&quot;/&gt;&lt;/object&gt;&lt;object type=&quot;3&quot; unique_id=&quot;41563&quot;&gt;&lt;property id=&quot;20148&quot; value=&quot;5&quot;/&gt;&lt;property id=&quot;20300&quot; value=&quot;Slide 32 - &amp;quot;Exhibit 18-5&amp;#x0D;&amp;#x0A;Team Leadership Roles&amp;quot;&quot;/&gt;&lt;property id=&quot;20307&quot; value=&quot;672&quot;/&gt;&lt;/object&gt;&lt;object type=&quot;3&quot; unique_id=&quot;41564&quot;&gt;&lt;property id=&quot;20148&quot; value=&quot;5&quot;/&gt;&lt;property id=&quot;20300&quot; value=&quot;Slide 33 - &amp;quot;Leadership Issues in the Twenty-First&amp;#x0D;&amp;#x0A;Century&amp;quot;&quot;/&gt;&lt;property id=&quot;20307&quot; value=&quot;673&quot;/&gt;&lt;/object&gt;&lt;object type=&quot;3&quot; unique_id=&quot;41565&quot;&gt;&lt;property id=&quot;20148&quot; value=&quot;5&quot;/&gt;&lt;property id=&quot;20300&quot; value=&quot;Slide 34 - &amp;quot;Leadership Issues in the Twenty-First&amp;#x0D;&amp;#x0A;Century (cont.)&amp;quot;&quot;/&gt;&lt;property id=&quot;20307&quot; value=&quot;671&quot;/&gt;&lt;/object&gt;&lt;object type=&quot;3&quot; unique_id=&quot;41566&quot;&gt;&lt;property id=&quot;20148&quot; value=&quot;5&quot;/&gt;&lt;property id=&quot;20300&quot; value=&quot;Slide 35 - &amp;quot;Leadership Issues in the Twenty-First&amp;#x0D;&amp;#x0A;Century (cont.)&amp;quot;&quot;/&gt;&lt;property id=&quot;20307&quot; value=&quot;670&quot;/&gt;&lt;/object&gt;&lt;object type=&quot;3&quot; unique_id=&quot;41567&quot;&gt;&lt;property id=&quot;20148&quot; value=&quot;5&quot;/&gt;&lt;property id=&quot;20300&quot; value=&quot;Slide 36 - &amp;quot;Leadership Issues in the Twenty-First&amp;#x0D;&amp;#x0A;Century (cont.)&amp;quot;&quot;/&gt;&lt;property id=&quot;20307&quot; value=&quot;675&quot;/&gt;&lt;/object&gt;&lt;object type=&quot;3&quot; unique_id=&quot;41568&quot;&gt;&lt;property id=&quot;20148&quot; value=&quot;5&quot;/&gt;&lt;property id=&quot;20300&quot; value=&quot;Slide 37 - &amp;quot;Exhibit 18-6&amp;#x0D;&amp;#x0A;Building Trust&amp;quot;&quot;/&gt;&lt;property id=&quot;20307&quot; value=&quot;676&quot;/&gt;&lt;/object&gt;&lt;object type=&quot;3&quot; unique_id=&quot;41569&quot;&gt;&lt;property id=&quot;20148&quot; value=&quot;5&quot;/&gt;&lt;property id=&quot;20300&quot; value=&quot;Slide 38 - &amp;quot;Leadership Issues in the Twenty-First&amp;#x0D;&amp;#x0A;Century (cont.)&amp;quot;&quot;/&gt;&lt;property id=&quot;20307&quot; value=&quot;680&quot;/&gt;&lt;/object&gt;&lt;object type=&quot;3&quot; unique_id=&quot;41570&quot;&gt;&lt;property id=&quot;20148&quot; value=&quot;5&quot;/&gt;&lt;property id=&quot;20300&quot; value=&quot;Slide 39 - &amp;quot;Leadership Issues in the Twenty-First&amp;#x0D;&amp;#x0A;Century (cont.)&amp;quot;&quot;/&gt;&lt;property id=&quot;20307&quot; value=&quot;674&quot;/&gt;&lt;/object&gt;&lt;object type=&quot;3&quot; unique_id=&quot;41571&quot;&gt;&lt;property id=&quot;20148&quot; value=&quot;5&quot;/&gt;&lt;property id=&quot;20300&quot; value=&quot;Slide 40 - &amp;quot;Exhibit 18-7&amp;#x0D;&amp;#x0A;Cross-Cultural Leadership&amp;quot;&quot;/&gt;&lt;property id=&quot;20307&quot; value=&quot;679&quot;/&gt;&lt;/object&gt;&lt;object type=&quot;3&quot; unique_id=&quot;41572&quot;&gt;&lt;property id=&quot;20148&quot; value=&quot;5&quot;/&gt;&lt;property id=&quot;20300&quot; value=&quot;Slide 41 - &amp;quot;Becoming an Effective Leader&amp;quot;&quot;/&gt;&lt;property id=&quot;20307&quot; value=&quot;678&quot;/&gt;&lt;/object&gt;&lt;object type=&quot;3&quot; unique_id=&quot;41573&quot;&gt;&lt;property id=&quot;20148&quot; value=&quot;5&quot;/&gt;&lt;property id=&quot;20300&quot; value=&quot;Slide 42 - &amp;quot;Review Learning Outcome 18.1&amp;quot;&quot;/&gt;&lt;property id=&quot;20307&quot; value=&quot;677&quot;/&gt;&lt;/object&gt;&lt;object type=&quot;3&quot; unique_id=&quot;41574&quot;&gt;&lt;property id=&quot;20148&quot; value=&quot;5&quot;/&gt;&lt;property id=&quot;20300&quot; value=&quot;Slide 43 - &amp;quot;Review Learning Outcome 18.2&amp;quot;&quot;/&gt;&lt;property id=&quot;20307&quot; value=&quot;681&quot;/&gt;&lt;/object&gt;&lt;object type=&quot;3&quot; unique_id=&quot;41575&quot;&gt;&lt;property id=&quot;20148&quot; value=&quot;5&quot;/&gt;&lt;property id=&quot;20300&quot; value=&quot;Slide 44 - &amp;quot;Review Learning Outcome 18.2 (cont.)&amp;quot;&quot;/&gt;&lt;property id=&quot;20307&quot; value=&quot;684&quot;/&gt;&lt;/object&gt;&lt;object type=&quot;3&quot; unique_id=&quot;41576&quot;&gt;&lt;property id=&quot;20148&quot; value=&quot;5&quot;/&gt;&lt;property id=&quot;20300&quot; value=&quot;Slide 45 - &amp;quot;Review Learning Outcome 18.3&amp;quot;&quot;/&gt;&lt;property id=&quot;20307&quot; value=&quot;683&quot;/&gt;&lt;/object&gt;&lt;object type=&quot;3&quot; unique_id=&quot;41577&quot;&gt;&lt;property id=&quot;20148&quot; value=&quot;5&quot;/&gt;&lt;property id=&quot;20300&quot; value=&quot;Slide 46 - &amp;quot;Review Learning Outcome 18.4&amp;quot;&quot;/&gt;&lt;property id=&quot;20307&quot; value=&quot;688&quot;/&gt;&lt;/object&gt;&lt;object type=&quot;3&quot; unique_id=&quot;41578&quot;&gt;&lt;property id=&quot;20148&quot; value=&quot;5&quot;/&gt;&lt;property id=&quot;20300&quot; value=&quot;Slide 47 - &amp;quot;Review Learning Outcome 18.4 (cont.)&amp;quot;&quot;/&gt;&lt;property id=&quot;20307&quot; value=&quot;687&quot;/&gt;&lt;/object&gt;&lt;object type=&quot;3&quot; unique_id=&quot;41579&quot;&gt;&lt;property id=&quot;20148&quot; value=&quot;5&quot;/&gt;&lt;property id=&quot;20300&quot; value=&quot;Slide 48 - &amp;quot;Review Learning Outcome 18.5&amp;quot;&quot;/&gt;&lt;property id=&quot;20307&quot; value=&quot;686&quot;/&gt;&lt;/object&gt;&lt;/object&gt;&lt;/object&gt;&lt;/database&gt;"/>
  <p:tag name="SECTOMILLISECCONVERTED" val="1"/>
</p:tagLst>
</file>

<file path=ppt/theme/theme1.xml><?xml version="1.0" encoding="utf-8"?>
<a:theme xmlns:a="http://schemas.openxmlformats.org/drawingml/2006/main" name="mgmt12e (1)">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Office Theme">
  <a:themeElements>
    <a:clrScheme name="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_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mgmt12e (1)</Template>
  <TotalTime>30664</TotalTime>
  <Words>5231</Words>
  <Application>Microsoft Office PowerPoint</Application>
  <PresentationFormat>On-screen Show (4:3)</PresentationFormat>
  <Paragraphs>362</Paragraphs>
  <Slides>39</Slides>
  <Notes>37</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39</vt:i4>
      </vt:variant>
    </vt:vector>
  </HeadingPairs>
  <TitlesOfParts>
    <vt:vector size="49" baseType="lpstr">
      <vt:lpstr>Arial</vt:lpstr>
      <vt:lpstr>Calibri</vt:lpstr>
      <vt:lpstr>HelveticaNeue-Bold</vt:lpstr>
      <vt:lpstr>HelveticaNeue-Light</vt:lpstr>
      <vt:lpstr>Wingdings</vt:lpstr>
      <vt:lpstr>mgmt12e (1)</vt:lpstr>
      <vt:lpstr>3_Office Theme</vt:lpstr>
      <vt:lpstr>4_Office Theme</vt:lpstr>
      <vt:lpstr>Office Theme</vt:lpstr>
      <vt:lpstr>1_Office Theme</vt:lpstr>
      <vt:lpstr>Being an Effective Leader</vt:lpstr>
      <vt:lpstr>Learning Objectives</vt:lpstr>
      <vt:lpstr>Who Are Leaders and  What Is Leadership?</vt:lpstr>
      <vt:lpstr>Early Leadership Theories</vt:lpstr>
      <vt:lpstr>Exhibit 17-1  Eight Traits Associated with Leadership</vt:lpstr>
      <vt:lpstr>Early Leadership Theories (cont.)</vt:lpstr>
      <vt:lpstr>University of Iowa Studies (cont.)</vt:lpstr>
      <vt:lpstr>Early Leadership Theories (cont.)</vt:lpstr>
      <vt:lpstr>Results of Ohio State Studies</vt:lpstr>
      <vt:lpstr>University of Michigan Studies</vt:lpstr>
      <vt:lpstr>The Managerial Grid</vt:lpstr>
      <vt:lpstr>Exhibit 17-2 Behavioral Theories of Leadership </vt:lpstr>
      <vt:lpstr>Contingency Theories of Leadership</vt:lpstr>
      <vt:lpstr>The Fiedler Model (cont.)</vt:lpstr>
      <vt:lpstr>The Fiedler Model (cont.)</vt:lpstr>
      <vt:lpstr>Exhibit 17-3 The Fiedler Model</vt:lpstr>
      <vt:lpstr>Hersey and Blanchard’s Situational Leadership Theory (SLT)</vt:lpstr>
      <vt:lpstr>SLT Leadership Styles</vt:lpstr>
      <vt:lpstr>SLT Leadership Styles (cont.)</vt:lpstr>
      <vt:lpstr>Four Stages of Follower Readiness</vt:lpstr>
      <vt:lpstr>Four Stages of Follower Readiness (cont.)</vt:lpstr>
      <vt:lpstr>Path-Goal Model</vt:lpstr>
      <vt:lpstr>Path-Goal Model (cont.)</vt:lpstr>
      <vt:lpstr>Path-Goal Model (cont.)</vt:lpstr>
      <vt:lpstr>Exhibit 17-4 Path-Goal Model</vt:lpstr>
      <vt:lpstr>Contemporary Views of Leadership</vt:lpstr>
      <vt:lpstr>Contemporary Views of Leadership (cont.)</vt:lpstr>
      <vt:lpstr>Contemporary Views of Leadership (cont.)</vt:lpstr>
      <vt:lpstr>Contemporary Views of Leadership (cont.)</vt:lpstr>
      <vt:lpstr>Exhibit 17-5 Team Leadership Roles</vt:lpstr>
      <vt:lpstr>Leadership Issues in the Twenty-First Century</vt:lpstr>
      <vt:lpstr>Leadership Issues in the Twenty-First Century (cont.)</vt:lpstr>
      <vt:lpstr>Leadership Issues in the Twenty-First Century (cont.)</vt:lpstr>
      <vt:lpstr>Leadership Issues in the Twenty-First Century (cont.)</vt:lpstr>
      <vt:lpstr>Exhibit 17-6 Building Trust</vt:lpstr>
      <vt:lpstr>Leadership Issues in the Twenty-First Century (cont.)</vt:lpstr>
      <vt:lpstr>Leadership Issues in the Twenty-First Century (cont.)</vt:lpstr>
      <vt:lpstr>Exhibit 17-7 Cross-Cultural Leadership</vt:lpstr>
      <vt:lpstr>Becoming an Effective Leader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 Robinson</dc:creator>
  <cp:lastModifiedBy>Dell</cp:lastModifiedBy>
  <cp:revision>371</cp:revision>
  <dcterms:created xsi:type="dcterms:W3CDTF">2012-10-07T22:51:25Z</dcterms:created>
  <dcterms:modified xsi:type="dcterms:W3CDTF">2025-04-09T13:50:23Z</dcterms:modified>
</cp:coreProperties>
</file>