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99" r:id="rId2"/>
    <p:sldId id="302" r:id="rId3"/>
    <p:sldId id="335" r:id="rId4"/>
    <p:sldId id="469" r:id="rId5"/>
    <p:sldId id="474" r:id="rId6"/>
    <p:sldId id="471" r:id="rId7"/>
    <p:sldId id="397" r:id="rId8"/>
    <p:sldId id="388" r:id="rId9"/>
    <p:sldId id="476" r:id="rId10"/>
    <p:sldId id="430" r:id="rId11"/>
    <p:sldId id="431" r:id="rId12"/>
    <p:sldId id="432" r:id="rId13"/>
    <p:sldId id="433" r:id="rId14"/>
    <p:sldId id="477" r:id="rId15"/>
    <p:sldId id="434" r:id="rId16"/>
    <p:sldId id="435" r:id="rId17"/>
    <p:sldId id="436" r:id="rId18"/>
    <p:sldId id="437" r:id="rId19"/>
    <p:sldId id="374" r:id="rId20"/>
    <p:sldId id="468" r:id="rId21"/>
    <p:sldId id="478" r:id="rId22"/>
    <p:sldId id="479" r:id="rId23"/>
    <p:sldId id="480" r:id="rId24"/>
    <p:sldId id="481" r:id="rId25"/>
    <p:sldId id="429"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0631BA-99E6-42C4-92F3-D2C917D07B47}" v="66" dt="2026-04-02T09:40:33.4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6"/>
  </p:normalViewPr>
  <p:slideViewPr>
    <p:cSldViewPr>
      <p:cViewPr varScale="1">
        <p:scale>
          <a:sx n="61" d="100"/>
          <a:sy n="61" d="100"/>
        </p:scale>
        <p:origin x="144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za khan" userId="615da8c4b3234724" providerId="LiveId" clId="{62F3962A-C2E0-4FDB-A5D5-4DA95E0DD3F1}"/>
    <pc:docChg chg="undo custSel addSld delSld modSld">
      <pc:chgData name="Faiza khan" userId="615da8c4b3234724" providerId="LiveId" clId="{62F3962A-C2E0-4FDB-A5D5-4DA95E0DD3F1}" dt="2026-04-03T16:18:19.522" v="1331" actId="12"/>
      <pc:docMkLst>
        <pc:docMk/>
      </pc:docMkLst>
      <pc:sldChg chg="addSp delSp modSp mod">
        <pc:chgData name="Faiza khan" userId="615da8c4b3234724" providerId="LiveId" clId="{62F3962A-C2E0-4FDB-A5D5-4DA95E0DD3F1}" dt="2026-04-01T14:38:08.721" v="1" actId="478"/>
        <pc:sldMkLst>
          <pc:docMk/>
          <pc:sldMk cId="0" sldId="299"/>
        </pc:sldMkLst>
      </pc:sldChg>
      <pc:sldChg chg="modSp mod">
        <pc:chgData name="Faiza khan" userId="615da8c4b3234724" providerId="LiveId" clId="{62F3962A-C2E0-4FDB-A5D5-4DA95E0DD3F1}" dt="2026-04-01T16:02:39.101" v="811" actId="255"/>
        <pc:sldMkLst>
          <pc:docMk/>
          <pc:sldMk cId="0" sldId="302"/>
        </pc:sldMkLst>
        <pc:spChg chg="mod">
          <ac:chgData name="Faiza khan" userId="615da8c4b3234724" providerId="LiveId" clId="{62F3962A-C2E0-4FDB-A5D5-4DA95E0DD3F1}" dt="2026-04-01T16:02:39.101" v="811" actId="255"/>
          <ac:spMkLst>
            <pc:docMk/>
            <pc:sldMk cId="0" sldId="302"/>
            <ac:spMk id="18434" creationId="{00000000-0000-0000-0000-000000000000}"/>
          </ac:spMkLst>
        </pc:spChg>
      </pc:sldChg>
      <pc:sldChg chg="addSp modSp mod">
        <pc:chgData name="Faiza khan" userId="615da8c4b3234724" providerId="LiveId" clId="{62F3962A-C2E0-4FDB-A5D5-4DA95E0DD3F1}" dt="2026-04-01T14:50:16.096" v="152" actId="14100"/>
        <pc:sldMkLst>
          <pc:docMk/>
          <pc:sldMk cId="0" sldId="335"/>
        </pc:sldMkLst>
        <pc:spChg chg="mod">
          <ac:chgData name="Faiza khan" userId="615da8c4b3234724" providerId="LiveId" clId="{62F3962A-C2E0-4FDB-A5D5-4DA95E0DD3F1}" dt="2026-04-01T14:50:09.205" v="150" actId="14100"/>
          <ac:spMkLst>
            <pc:docMk/>
            <pc:sldMk cId="0" sldId="335"/>
            <ac:spMk id="2" creationId="{00000000-0000-0000-0000-000000000000}"/>
          </ac:spMkLst>
        </pc:spChg>
        <pc:spChg chg="mod">
          <ac:chgData name="Faiza khan" userId="615da8c4b3234724" providerId="LiveId" clId="{62F3962A-C2E0-4FDB-A5D5-4DA95E0DD3F1}" dt="2026-04-01T14:43:46.041" v="69" actId="20577"/>
          <ac:spMkLst>
            <pc:docMk/>
            <pc:sldMk cId="0" sldId="335"/>
            <ac:spMk id="3" creationId="{00000000-0000-0000-0000-000000000000}"/>
          </ac:spMkLst>
        </pc:spChg>
        <pc:picChg chg="add mod">
          <ac:chgData name="Faiza khan" userId="615da8c4b3234724" providerId="LiveId" clId="{62F3962A-C2E0-4FDB-A5D5-4DA95E0DD3F1}" dt="2026-04-01T14:50:16.096" v="152" actId="14100"/>
          <ac:picMkLst>
            <pc:docMk/>
            <pc:sldMk cId="0" sldId="335"/>
            <ac:picMk id="5" creationId="{37764C18-521B-CCB4-7968-8B96BFA1EDD4}"/>
          </ac:picMkLst>
        </pc:picChg>
      </pc:sldChg>
      <pc:sldChg chg="modSp mod">
        <pc:chgData name="Faiza khan" userId="615da8c4b3234724" providerId="LiveId" clId="{62F3962A-C2E0-4FDB-A5D5-4DA95E0DD3F1}" dt="2026-04-01T15:58:35.476" v="787" actId="20577"/>
        <pc:sldMkLst>
          <pc:docMk/>
          <pc:sldMk cId="3576449795" sldId="374"/>
        </pc:sldMkLst>
        <pc:spChg chg="mod">
          <ac:chgData name="Faiza khan" userId="615da8c4b3234724" providerId="LiveId" clId="{62F3962A-C2E0-4FDB-A5D5-4DA95E0DD3F1}" dt="2026-04-01T15:58:35.476" v="787" actId="20577"/>
          <ac:spMkLst>
            <pc:docMk/>
            <pc:sldMk cId="3576449795" sldId="374"/>
            <ac:spMk id="2" creationId="{00000000-0000-0000-0000-000000000000}"/>
          </ac:spMkLst>
        </pc:spChg>
        <pc:spChg chg="mod">
          <ac:chgData name="Faiza khan" userId="615da8c4b3234724" providerId="LiveId" clId="{62F3962A-C2E0-4FDB-A5D5-4DA95E0DD3F1}" dt="2026-04-01T15:56:06.495" v="719" actId="20577"/>
          <ac:spMkLst>
            <pc:docMk/>
            <pc:sldMk cId="3576449795" sldId="374"/>
            <ac:spMk id="3" creationId="{00000000-0000-0000-0000-000000000000}"/>
          </ac:spMkLst>
        </pc:spChg>
      </pc:sldChg>
      <pc:sldChg chg="addSp modSp mod">
        <pc:chgData name="Faiza khan" userId="615da8c4b3234724" providerId="LiveId" clId="{62F3962A-C2E0-4FDB-A5D5-4DA95E0DD3F1}" dt="2026-04-02T09:30:10.391" v="1288" actId="1076"/>
        <pc:sldMkLst>
          <pc:docMk/>
          <pc:sldMk cId="2611706149" sldId="388"/>
        </pc:sldMkLst>
        <pc:spChg chg="mod">
          <ac:chgData name="Faiza khan" userId="615da8c4b3234724" providerId="LiveId" clId="{62F3962A-C2E0-4FDB-A5D5-4DA95E0DD3F1}" dt="2026-04-01T14:56:49.508" v="202" actId="20577"/>
          <ac:spMkLst>
            <pc:docMk/>
            <pc:sldMk cId="2611706149" sldId="388"/>
            <ac:spMk id="2" creationId="{00000000-0000-0000-0000-000000000000}"/>
          </ac:spMkLst>
        </pc:spChg>
        <pc:spChg chg="add mod">
          <ac:chgData name="Faiza khan" userId="615da8c4b3234724" providerId="LiveId" clId="{62F3962A-C2E0-4FDB-A5D5-4DA95E0DD3F1}" dt="2026-04-02T09:29:57.823" v="1284" actId="14100"/>
          <ac:spMkLst>
            <pc:docMk/>
            <pc:sldMk cId="2611706149" sldId="388"/>
            <ac:spMk id="5" creationId="{38769EFF-C79F-1392-7657-02B3A7BCD254}"/>
          </ac:spMkLst>
        </pc:spChg>
        <pc:picChg chg="add mod">
          <ac:chgData name="Faiza khan" userId="615da8c4b3234724" providerId="LiveId" clId="{62F3962A-C2E0-4FDB-A5D5-4DA95E0DD3F1}" dt="2026-04-02T09:30:10.391" v="1288" actId="1076"/>
          <ac:picMkLst>
            <pc:docMk/>
            <pc:sldMk cId="2611706149" sldId="388"/>
            <ac:picMk id="6" creationId="{C2EA97C2-C92B-C3EA-D2B1-8BA6AB7206D9}"/>
          </ac:picMkLst>
        </pc:picChg>
      </pc:sldChg>
      <pc:sldChg chg="addSp delSp modSp mod">
        <pc:chgData name="Faiza khan" userId="615da8c4b3234724" providerId="LiveId" clId="{62F3962A-C2E0-4FDB-A5D5-4DA95E0DD3F1}" dt="2026-04-02T09:24:13.533" v="1248" actId="368"/>
        <pc:sldMkLst>
          <pc:docMk/>
          <pc:sldMk cId="254876470" sldId="397"/>
        </pc:sldMkLst>
        <pc:spChg chg="mod">
          <ac:chgData name="Faiza khan" userId="615da8c4b3234724" providerId="LiveId" clId="{62F3962A-C2E0-4FDB-A5D5-4DA95E0DD3F1}" dt="2026-04-01T14:53:39.914" v="153"/>
          <ac:spMkLst>
            <pc:docMk/>
            <pc:sldMk cId="254876470" sldId="397"/>
            <ac:spMk id="3" creationId="{00000000-0000-0000-0000-000000000000}"/>
          </ac:spMkLst>
        </pc:spChg>
        <pc:spChg chg="add mod">
          <ac:chgData name="Faiza khan" userId="615da8c4b3234724" providerId="LiveId" clId="{62F3962A-C2E0-4FDB-A5D5-4DA95E0DD3F1}" dt="2026-04-02T09:24:13.533" v="1248" actId="368"/>
          <ac:spMkLst>
            <pc:docMk/>
            <pc:sldMk cId="254876470" sldId="397"/>
            <ac:spMk id="5" creationId="{2CE2E625-3BA2-3018-5C35-10E7C72F1F3F}"/>
          </ac:spMkLst>
        </pc:spChg>
        <pc:spChg chg="add mod">
          <ac:chgData name="Faiza khan" userId="615da8c4b3234724" providerId="LiveId" clId="{62F3962A-C2E0-4FDB-A5D5-4DA95E0DD3F1}" dt="2026-04-01T15:02:05.768" v="296" actId="1076"/>
          <ac:spMkLst>
            <pc:docMk/>
            <pc:sldMk cId="254876470" sldId="397"/>
            <ac:spMk id="6" creationId="{E3D01BC2-6E8E-76CB-E16F-6C18C608CBE9}"/>
          </ac:spMkLst>
        </pc:spChg>
        <pc:spChg chg="add mod">
          <ac:chgData name="Faiza khan" userId="615da8c4b3234724" providerId="LiveId" clId="{62F3962A-C2E0-4FDB-A5D5-4DA95E0DD3F1}" dt="2026-04-01T15:02:28.498" v="301" actId="1076"/>
          <ac:spMkLst>
            <pc:docMk/>
            <pc:sldMk cId="254876470" sldId="397"/>
            <ac:spMk id="7" creationId="{1279BE68-DD04-88E2-8044-8DA0C832EC2A}"/>
          </ac:spMkLst>
        </pc:spChg>
        <pc:spChg chg="add mod">
          <ac:chgData name="Faiza khan" userId="615da8c4b3234724" providerId="LiveId" clId="{62F3962A-C2E0-4FDB-A5D5-4DA95E0DD3F1}" dt="2026-04-01T15:02:50.130" v="305" actId="1076"/>
          <ac:spMkLst>
            <pc:docMk/>
            <pc:sldMk cId="254876470" sldId="397"/>
            <ac:spMk id="8" creationId="{1FF3788C-B7A6-37B2-7114-8027360A75C0}"/>
          </ac:spMkLst>
        </pc:spChg>
        <pc:spChg chg="add mod">
          <ac:chgData name="Faiza khan" userId="615da8c4b3234724" providerId="LiveId" clId="{62F3962A-C2E0-4FDB-A5D5-4DA95E0DD3F1}" dt="2026-04-01T15:02:55.074" v="306" actId="1076"/>
          <ac:spMkLst>
            <pc:docMk/>
            <pc:sldMk cId="254876470" sldId="397"/>
            <ac:spMk id="9" creationId="{047A9F7C-D5DE-8ACA-BBAF-8AA84741C2D2}"/>
          </ac:spMkLst>
        </pc:spChg>
        <pc:spChg chg="add mod">
          <ac:chgData name="Faiza khan" userId="615da8c4b3234724" providerId="LiveId" clId="{62F3962A-C2E0-4FDB-A5D5-4DA95E0DD3F1}" dt="2026-04-01T15:03:01.974" v="307" actId="1076"/>
          <ac:spMkLst>
            <pc:docMk/>
            <pc:sldMk cId="254876470" sldId="397"/>
            <ac:spMk id="10" creationId="{F4FC9E63-D841-3751-F24C-8F72816AA079}"/>
          </ac:spMkLst>
        </pc:spChg>
      </pc:sldChg>
      <pc:sldChg chg="modSp mod">
        <pc:chgData name="Faiza khan" userId="615da8c4b3234724" providerId="LiveId" clId="{62F3962A-C2E0-4FDB-A5D5-4DA95E0DD3F1}" dt="2026-04-01T15:04:52.615" v="330" actId="20577"/>
        <pc:sldMkLst>
          <pc:docMk/>
          <pc:sldMk cId="1491417275" sldId="430"/>
        </pc:sldMkLst>
        <pc:spChg chg="mod">
          <ac:chgData name="Faiza khan" userId="615da8c4b3234724" providerId="LiveId" clId="{62F3962A-C2E0-4FDB-A5D5-4DA95E0DD3F1}" dt="2026-04-01T15:04:52.615" v="330" actId="20577"/>
          <ac:spMkLst>
            <pc:docMk/>
            <pc:sldMk cId="1491417275" sldId="430"/>
            <ac:spMk id="2" creationId="{0F6746F1-D21B-2C90-35BD-8F676A66347B}"/>
          </ac:spMkLst>
        </pc:spChg>
      </pc:sldChg>
      <pc:sldChg chg="modSp mod">
        <pc:chgData name="Faiza khan" userId="615da8c4b3234724" providerId="LiveId" clId="{62F3962A-C2E0-4FDB-A5D5-4DA95E0DD3F1}" dt="2026-04-01T15:41:09.112" v="582" actId="27636"/>
        <pc:sldMkLst>
          <pc:docMk/>
          <pc:sldMk cId="3142832599" sldId="431"/>
        </pc:sldMkLst>
        <pc:spChg chg="mod">
          <ac:chgData name="Faiza khan" userId="615da8c4b3234724" providerId="LiveId" clId="{62F3962A-C2E0-4FDB-A5D5-4DA95E0DD3F1}" dt="2026-04-01T15:41:09.112" v="582" actId="27636"/>
          <ac:spMkLst>
            <pc:docMk/>
            <pc:sldMk cId="3142832599" sldId="431"/>
            <ac:spMk id="2" creationId="{4320A94C-7447-18A4-1F1F-3ADEF14151D6}"/>
          </ac:spMkLst>
        </pc:spChg>
        <pc:spChg chg="mod">
          <ac:chgData name="Faiza khan" userId="615da8c4b3234724" providerId="LiveId" clId="{62F3962A-C2E0-4FDB-A5D5-4DA95E0DD3F1}" dt="2026-04-01T15:08:57.338" v="357" actId="255"/>
          <ac:spMkLst>
            <pc:docMk/>
            <pc:sldMk cId="3142832599" sldId="431"/>
            <ac:spMk id="3" creationId="{F50C51B1-3A67-FE93-CC24-C4AAA5C30504}"/>
          </ac:spMkLst>
        </pc:spChg>
      </pc:sldChg>
      <pc:sldChg chg="addSp modSp mod">
        <pc:chgData name="Faiza khan" userId="615da8c4b3234724" providerId="LiveId" clId="{62F3962A-C2E0-4FDB-A5D5-4DA95E0DD3F1}" dt="2026-04-01T15:13:17.565" v="410" actId="1076"/>
        <pc:sldMkLst>
          <pc:docMk/>
          <pc:sldMk cId="2179452469" sldId="432"/>
        </pc:sldMkLst>
        <pc:spChg chg="mod">
          <ac:chgData name="Faiza khan" userId="615da8c4b3234724" providerId="LiveId" clId="{62F3962A-C2E0-4FDB-A5D5-4DA95E0DD3F1}" dt="2026-04-01T15:12:28.288" v="403" actId="20577"/>
          <ac:spMkLst>
            <pc:docMk/>
            <pc:sldMk cId="2179452469" sldId="432"/>
            <ac:spMk id="2" creationId="{E9BB0321-BBA7-D8BD-333C-EFB1EA39E23C}"/>
          </ac:spMkLst>
        </pc:spChg>
        <pc:picChg chg="add mod">
          <ac:chgData name="Faiza khan" userId="615da8c4b3234724" providerId="LiveId" clId="{62F3962A-C2E0-4FDB-A5D5-4DA95E0DD3F1}" dt="2026-04-01T15:13:17.565" v="410" actId="1076"/>
          <ac:picMkLst>
            <pc:docMk/>
            <pc:sldMk cId="2179452469" sldId="432"/>
            <ac:picMk id="4" creationId="{56F0DA0F-E92D-12CD-4417-FA7F5E190A49}"/>
          </ac:picMkLst>
        </pc:picChg>
      </pc:sldChg>
      <pc:sldChg chg="addSp modSp mod">
        <pc:chgData name="Faiza khan" userId="615da8c4b3234724" providerId="LiveId" clId="{62F3962A-C2E0-4FDB-A5D5-4DA95E0DD3F1}" dt="2026-04-02T09:41:09.286" v="1324" actId="1076"/>
        <pc:sldMkLst>
          <pc:docMk/>
          <pc:sldMk cId="3586753648" sldId="433"/>
        </pc:sldMkLst>
        <pc:spChg chg="mod">
          <ac:chgData name="Faiza khan" userId="615da8c4b3234724" providerId="LiveId" clId="{62F3962A-C2E0-4FDB-A5D5-4DA95E0DD3F1}" dt="2026-04-02T09:40:47.350" v="1321" actId="20577"/>
          <ac:spMkLst>
            <pc:docMk/>
            <pc:sldMk cId="3586753648" sldId="433"/>
            <ac:spMk id="2" creationId="{EC8A1730-0DD1-6DEE-9FFA-668270C9794E}"/>
          </ac:spMkLst>
        </pc:spChg>
        <pc:picChg chg="add mod">
          <ac:chgData name="Faiza khan" userId="615da8c4b3234724" providerId="LiveId" clId="{62F3962A-C2E0-4FDB-A5D5-4DA95E0DD3F1}" dt="2026-04-02T09:41:09.286" v="1324" actId="1076"/>
          <ac:picMkLst>
            <pc:docMk/>
            <pc:sldMk cId="3586753648" sldId="433"/>
            <ac:picMk id="5" creationId="{A2DBE79C-9E23-2C14-BE60-CB79A9C7487F}"/>
          </ac:picMkLst>
        </pc:picChg>
      </pc:sldChg>
      <pc:sldChg chg="addSp modSp mod">
        <pc:chgData name="Faiza khan" userId="615da8c4b3234724" providerId="LiveId" clId="{62F3962A-C2E0-4FDB-A5D5-4DA95E0DD3F1}" dt="2026-04-01T15:40:45.649" v="580" actId="2711"/>
        <pc:sldMkLst>
          <pc:docMk/>
          <pc:sldMk cId="932210227" sldId="434"/>
        </pc:sldMkLst>
        <pc:spChg chg="mod">
          <ac:chgData name="Faiza khan" userId="615da8c4b3234724" providerId="LiveId" clId="{62F3962A-C2E0-4FDB-A5D5-4DA95E0DD3F1}" dt="2026-04-01T15:40:45.649" v="580" actId="2711"/>
          <ac:spMkLst>
            <pc:docMk/>
            <pc:sldMk cId="932210227" sldId="434"/>
            <ac:spMk id="2" creationId="{184F4D08-2FBE-BACC-FA3E-6D53682B92EA}"/>
          </ac:spMkLst>
        </pc:spChg>
        <pc:spChg chg="mod">
          <ac:chgData name="Faiza khan" userId="615da8c4b3234724" providerId="LiveId" clId="{62F3962A-C2E0-4FDB-A5D5-4DA95E0DD3F1}" dt="2026-04-01T15:24:59.007" v="483" actId="20577"/>
          <ac:spMkLst>
            <pc:docMk/>
            <pc:sldMk cId="932210227" sldId="434"/>
            <ac:spMk id="3" creationId="{1657D67B-A43F-F0C0-2CA4-9A4C4A60883A}"/>
          </ac:spMkLst>
        </pc:spChg>
        <pc:picChg chg="add mod">
          <ac:chgData name="Faiza khan" userId="615da8c4b3234724" providerId="LiveId" clId="{62F3962A-C2E0-4FDB-A5D5-4DA95E0DD3F1}" dt="2026-04-01T15:27:24.248" v="494" actId="14100"/>
          <ac:picMkLst>
            <pc:docMk/>
            <pc:sldMk cId="932210227" sldId="434"/>
            <ac:picMk id="5" creationId="{7A09FE55-5912-3296-2B12-86B6302FDFA1}"/>
          </ac:picMkLst>
        </pc:picChg>
      </pc:sldChg>
      <pc:sldChg chg="modSp mod">
        <pc:chgData name="Faiza khan" userId="615da8c4b3234724" providerId="LiveId" clId="{62F3962A-C2E0-4FDB-A5D5-4DA95E0DD3F1}" dt="2026-04-01T15:37:39.147" v="529" actId="27636"/>
        <pc:sldMkLst>
          <pc:docMk/>
          <pc:sldMk cId="88454622" sldId="435"/>
        </pc:sldMkLst>
        <pc:spChg chg="mod">
          <ac:chgData name="Faiza khan" userId="615da8c4b3234724" providerId="LiveId" clId="{62F3962A-C2E0-4FDB-A5D5-4DA95E0DD3F1}" dt="2026-04-01T15:37:39.147" v="529" actId="27636"/>
          <ac:spMkLst>
            <pc:docMk/>
            <pc:sldMk cId="88454622" sldId="435"/>
            <ac:spMk id="2" creationId="{6D833CEC-02B7-232E-7EDC-D2816D89B3EC}"/>
          </ac:spMkLst>
        </pc:spChg>
        <pc:spChg chg="mod">
          <ac:chgData name="Faiza khan" userId="615da8c4b3234724" providerId="LiveId" clId="{62F3962A-C2E0-4FDB-A5D5-4DA95E0DD3F1}" dt="2026-04-01T15:36:20.481" v="513" actId="20577"/>
          <ac:spMkLst>
            <pc:docMk/>
            <pc:sldMk cId="88454622" sldId="435"/>
            <ac:spMk id="3" creationId="{A0A37A11-0BCF-D889-3F13-6557669B3401}"/>
          </ac:spMkLst>
        </pc:spChg>
      </pc:sldChg>
      <pc:sldChg chg="addSp modSp mod">
        <pc:chgData name="Faiza khan" userId="615da8c4b3234724" providerId="LiveId" clId="{62F3962A-C2E0-4FDB-A5D5-4DA95E0DD3F1}" dt="2026-04-01T15:45:23.109" v="615" actId="1076"/>
        <pc:sldMkLst>
          <pc:docMk/>
          <pc:sldMk cId="1954945539" sldId="436"/>
        </pc:sldMkLst>
        <pc:spChg chg="mod">
          <ac:chgData name="Faiza khan" userId="615da8c4b3234724" providerId="LiveId" clId="{62F3962A-C2E0-4FDB-A5D5-4DA95E0DD3F1}" dt="2026-04-01T15:45:01.367" v="610" actId="20577"/>
          <ac:spMkLst>
            <pc:docMk/>
            <pc:sldMk cId="1954945539" sldId="436"/>
            <ac:spMk id="2" creationId="{4E069593-77B8-2595-0739-E034F7C60B33}"/>
          </ac:spMkLst>
        </pc:spChg>
        <pc:picChg chg="add mod">
          <ac:chgData name="Faiza khan" userId="615da8c4b3234724" providerId="LiveId" clId="{62F3962A-C2E0-4FDB-A5D5-4DA95E0DD3F1}" dt="2026-04-01T15:45:23.109" v="615" actId="1076"/>
          <ac:picMkLst>
            <pc:docMk/>
            <pc:sldMk cId="1954945539" sldId="436"/>
            <ac:picMk id="5" creationId="{8F95FC59-A61A-004D-6FF5-DD558C992A1A}"/>
          </ac:picMkLst>
        </pc:picChg>
      </pc:sldChg>
      <pc:sldChg chg="modSp mod">
        <pc:chgData name="Faiza khan" userId="615da8c4b3234724" providerId="LiveId" clId="{62F3962A-C2E0-4FDB-A5D5-4DA95E0DD3F1}" dt="2026-04-01T15:55:58.530" v="712" actId="12"/>
        <pc:sldMkLst>
          <pc:docMk/>
          <pc:sldMk cId="1210629790" sldId="437"/>
        </pc:sldMkLst>
        <pc:spChg chg="mod">
          <ac:chgData name="Faiza khan" userId="615da8c4b3234724" providerId="LiveId" clId="{62F3962A-C2E0-4FDB-A5D5-4DA95E0DD3F1}" dt="2026-04-01T15:55:58.530" v="712" actId="12"/>
          <ac:spMkLst>
            <pc:docMk/>
            <pc:sldMk cId="1210629790" sldId="437"/>
            <ac:spMk id="2" creationId="{C900BA19-091E-7193-1B9B-8F8CEE4A21D5}"/>
          </ac:spMkLst>
        </pc:spChg>
        <pc:spChg chg="mod">
          <ac:chgData name="Faiza khan" userId="615da8c4b3234724" providerId="LiveId" clId="{62F3962A-C2E0-4FDB-A5D5-4DA95E0DD3F1}" dt="2026-04-01T15:44:55.799" v="609" actId="20577"/>
          <ac:spMkLst>
            <pc:docMk/>
            <pc:sldMk cId="1210629790" sldId="437"/>
            <ac:spMk id="3" creationId="{E3A75C20-2C38-AAA5-215B-8CDACF7531A8}"/>
          </ac:spMkLst>
        </pc:spChg>
      </pc:sldChg>
      <pc:sldChg chg="addSp delSp modSp new del mod">
        <pc:chgData name="Faiza khan" userId="615da8c4b3234724" providerId="LiveId" clId="{62F3962A-C2E0-4FDB-A5D5-4DA95E0DD3F1}" dt="2026-04-02T09:29:46.622" v="1282" actId="47"/>
        <pc:sldMkLst>
          <pc:docMk/>
          <pc:sldMk cId="244121871" sldId="467"/>
        </pc:sldMkLst>
        <pc:picChg chg="add del mod">
          <ac:chgData name="Faiza khan" userId="615da8c4b3234724" providerId="LiveId" clId="{62F3962A-C2E0-4FDB-A5D5-4DA95E0DD3F1}" dt="2026-04-02T09:29:18.944" v="1275" actId="21"/>
          <ac:picMkLst>
            <pc:docMk/>
            <pc:sldMk cId="244121871" sldId="467"/>
            <ac:picMk id="4" creationId="{EC0812FF-A17C-8243-C637-9DE7FA48782C}"/>
          </ac:picMkLst>
        </pc:picChg>
      </pc:sldChg>
      <pc:sldChg chg="modSp new mod">
        <pc:chgData name="Faiza khan" userId="615da8c4b3234724" providerId="LiveId" clId="{62F3962A-C2E0-4FDB-A5D5-4DA95E0DD3F1}" dt="2026-04-01T16:02:09.216" v="810" actId="20577"/>
        <pc:sldMkLst>
          <pc:docMk/>
          <pc:sldMk cId="2314885610" sldId="468"/>
        </pc:sldMkLst>
        <pc:spChg chg="mod">
          <ac:chgData name="Faiza khan" userId="615da8c4b3234724" providerId="LiveId" clId="{62F3962A-C2E0-4FDB-A5D5-4DA95E0DD3F1}" dt="2026-04-01T16:02:09.216" v="810" actId="20577"/>
          <ac:spMkLst>
            <pc:docMk/>
            <pc:sldMk cId="2314885610" sldId="468"/>
            <ac:spMk id="2" creationId="{012481A8-EF7C-CA3B-B733-1E2D66F1272F}"/>
          </ac:spMkLst>
        </pc:spChg>
        <pc:spChg chg="mod">
          <ac:chgData name="Faiza khan" userId="615da8c4b3234724" providerId="LiveId" clId="{62F3962A-C2E0-4FDB-A5D5-4DA95E0DD3F1}" dt="2026-04-01T16:00:02.987" v="795" actId="255"/>
          <ac:spMkLst>
            <pc:docMk/>
            <pc:sldMk cId="2314885610" sldId="468"/>
            <ac:spMk id="3" creationId="{86A74B32-2384-A107-CFE5-B0952C0F8FA7}"/>
          </ac:spMkLst>
        </pc:spChg>
      </pc:sldChg>
      <pc:sldChg chg="addSp delSp modSp new mod">
        <pc:chgData name="Faiza khan" userId="615da8c4b3234724" providerId="LiveId" clId="{62F3962A-C2E0-4FDB-A5D5-4DA95E0DD3F1}" dt="2026-04-01T16:11:54.782" v="980" actId="20577"/>
        <pc:sldMkLst>
          <pc:docMk/>
          <pc:sldMk cId="3653682424" sldId="469"/>
        </pc:sldMkLst>
        <pc:spChg chg="mod">
          <ac:chgData name="Faiza khan" userId="615da8c4b3234724" providerId="LiveId" clId="{62F3962A-C2E0-4FDB-A5D5-4DA95E0DD3F1}" dt="2026-04-01T16:07:51.027" v="827" actId="20577"/>
          <ac:spMkLst>
            <pc:docMk/>
            <pc:sldMk cId="3653682424" sldId="469"/>
            <ac:spMk id="3" creationId="{DA4585FA-6192-1297-4DA1-AC9FEA5A9908}"/>
          </ac:spMkLst>
        </pc:spChg>
        <pc:spChg chg="add mod">
          <ac:chgData name="Faiza khan" userId="615da8c4b3234724" providerId="LiveId" clId="{62F3962A-C2E0-4FDB-A5D5-4DA95E0DD3F1}" dt="2026-04-01T16:11:54.782" v="980" actId="20577"/>
          <ac:spMkLst>
            <pc:docMk/>
            <pc:sldMk cId="3653682424" sldId="469"/>
            <ac:spMk id="4" creationId="{AB369E97-F615-DA5B-6F57-B5AF55B2BBCE}"/>
          </ac:spMkLst>
        </pc:spChg>
      </pc:sldChg>
      <pc:sldChg chg="modSp new mod">
        <pc:chgData name="Faiza khan" userId="615da8c4b3234724" providerId="LiveId" clId="{62F3962A-C2E0-4FDB-A5D5-4DA95E0DD3F1}" dt="2026-04-03T16:18:19.522" v="1331" actId="12"/>
        <pc:sldMkLst>
          <pc:docMk/>
          <pc:sldMk cId="2246882976" sldId="471"/>
        </pc:sldMkLst>
        <pc:spChg chg="mod">
          <ac:chgData name="Faiza khan" userId="615da8c4b3234724" providerId="LiveId" clId="{62F3962A-C2E0-4FDB-A5D5-4DA95E0DD3F1}" dt="2026-04-03T16:18:19.522" v="1331" actId="12"/>
          <ac:spMkLst>
            <pc:docMk/>
            <pc:sldMk cId="2246882976" sldId="471"/>
            <ac:spMk id="2" creationId="{0A2B8DBC-B92F-99E8-56F3-E9877F35C65C}"/>
          </ac:spMkLst>
        </pc:spChg>
        <pc:spChg chg="mod">
          <ac:chgData name="Faiza khan" userId="615da8c4b3234724" providerId="LiveId" clId="{62F3962A-C2E0-4FDB-A5D5-4DA95E0DD3F1}" dt="2026-04-01T16:21:48.503" v="1101" actId="20577"/>
          <ac:spMkLst>
            <pc:docMk/>
            <pc:sldMk cId="2246882976" sldId="471"/>
            <ac:spMk id="3" creationId="{972A4326-392A-19B9-A23F-C1EA3642D86E}"/>
          </ac:spMkLst>
        </pc:spChg>
      </pc:sldChg>
      <pc:sldChg chg="modSp new mod">
        <pc:chgData name="Faiza khan" userId="615da8c4b3234724" providerId="LiveId" clId="{62F3962A-C2E0-4FDB-A5D5-4DA95E0DD3F1}" dt="2026-04-01T16:23:06.165" v="1124" actId="20577"/>
        <pc:sldMkLst>
          <pc:docMk/>
          <pc:sldMk cId="1765077817" sldId="474"/>
        </pc:sldMkLst>
        <pc:spChg chg="mod">
          <ac:chgData name="Faiza khan" userId="615da8c4b3234724" providerId="LiveId" clId="{62F3962A-C2E0-4FDB-A5D5-4DA95E0DD3F1}" dt="2026-04-01T16:21:38.011" v="1094" actId="5793"/>
          <ac:spMkLst>
            <pc:docMk/>
            <pc:sldMk cId="1765077817" sldId="474"/>
            <ac:spMk id="2" creationId="{C0383107-4E0A-F288-AFBE-55B68692298A}"/>
          </ac:spMkLst>
        </pc:spChg>
        <pc:spChg chg="mod">
          <ac:chgData name="Faiza khan" userId="615da8c4b3234724" providerId="LiveId" clId="{62F3962A-C2E0-4FDB-A5D5-4DA95E0DD3F1}" dt="2026-04-01T16:23:06.165" v="1124" actId="20577"/>
          <ac:spMkLst>
            <pc:docMk/>
            <pc:sldMk cId="1765077817" sldId="474"/>
            <ac:spMk id="3" creationId="{D01B064D-A727-08D5-168E-7D79C1BEED08}"/>
          </ac:spMkLst>
        </pc:spChg>
      </pc:sldChg>
      <pc:sldChg chg="new del">
        <pc:chgData name="Faiza khan" userId="615da8c4b3234724" providerId="LiveId" clId="{62F3962A-C2E0-4FDB-A5D5-4DA95E0DD3F1}" dt="2026-04-02T09:28:41.904" v="1261" actId="47"/>
        <pc:sldMkLst>
          <pc:docMk/>
          <pc:sldMk cId="1353626443" sldId="475"/>
        </pc:sldMkLst>
      </pc:sldChg>
      <pc:sldChg chg="addSp modSp new mod">
        <pc:chgData name="Faiza khan" userId="615da8c4b3234724" providerId="LiveId" clId="{62F3962A-C2E0-4FDB-A5D5-4DA95E0DD3F1}" dt="2026-04-02T09:29:43.714" v="1281" actId="1076"/>
        <pc:sldMkLst>
          <pc:docMk/>
          <pc:sldMk cId="1646344231" sldId="476"/>
        </pc:sldMkLst>
        <pc:spChg chg="mod">
          <ac:chgData name="Faiza khan" userId="615da8c4b3234724" providerId="LiveId" clId="{62F3962A-C2E0-4FDB-A5D5-4DA95E0DD3F1}" dt="2026-04-02T09:29:38.789" v="1280" actId="120"/>
          <ac:spMkLst>
            <pc:docMk/>
            <pc:sldMk cId="1646344231" sldId="476"/>
            <ac:spMk id="2" creationId="{CE687314-95D4-E06A-95B1-E28B268047BD}"/>
          </ac:spMkLst>
        </pc:spChg>
        <pc:spChg chg="mod">
          <ac:chgData name="Faiza khan" userId="615da8c4b3234724" providerId="LiveId" clId="{62F3962A-C2E0-4FDB-A5D5-4DA95E0DD3F1}" dt="2026-04-02T09:29:08.615" v="1273" actId="2711"/>
          <ac:spMkLst>
            <pc:docMk/>
            <pc:sldMk cId="1646344231" sldId="476"/>
            <ac:spMk id="3" creationId="{DD0AC413-45A0-9FFB-E777-4D9AFD475F3E}"/>
          </ac:spMkLst>
        </pc:spChg>
        <pc:picChg chg="add mod">
          <ac:chgData name="Faiza khan" userId="615da8c4b3234724" providerId="LiveId" clId="{62F3962A-C2E0-4FDB-A5D5-4DA95E0DD3F1}" dt="2026-04-02T09:29:43.714" v="1281" actId="1076"/>
          <ac:picMkLst>
            <pc:docMk/>
            <pc:sldMk cId="1646344231" sldId="476"/>
            <ac:picMk id="4" creationId="{EC0812FF-A17C-8243-C637-9DE7FA48782C}"/>
          </ac:picMkLst>
        </pc:picChg>
      </pc:sldChg>
      <pc:sldChg chg="addSp delSp modSp new mod">
        <pc:chgData name="Faiza khan" userId="615da8c4b3234724" providerId="LiveId" clId="{62F3962A-C2E0-4FDB-A5D5-4DA95E0DD3F1}" dt="2026-04-02T09:45:47.478" v="1329" actId="1076"/>
        <pc:sldMkLst>
          <pc:docMk/>
          <pc:sldMk cId="3120305811" sldId="477"/>
        </pc:sldMkLst>
        <pc:spChg chg="mod">
          <ac:chgData name="Faiza khan" userId="615da8c4b3234724" providerId="LiveId" clId="{62F3962A-C2E0-4FDB-A5D5-4DA95E0DD3F1}" dt="2026-04-02T09:45:44.532" v="1328" actId="255"/>
          <ac:spMkLst>
            <pc:docMk/>
            <pc:sldMk cId="3120305811" sldId="477"/>
            <ac:spMk id="2" creationId="{A1E221EC-C25D-58F8-935E-8FE9B208837B}"/>
          </ac:spMkLst>
        </pc:spChg>
        <pc:spChg chg="mod">
          <ac:chgData name="Faiza khan" userId="615da8c4b3234724" providerId="LiveId" clId="{62F3962A-C2E0-4FDB-A5D5-4DA95E0DD3F1}" dt="2026-04-02T09:40:43.024" v="1320" actId="20577"/>
          <ac:spMkLst>
            <pc:docMk/>
            <pc:sldMk cId="3120305811" sldId="477"/>
            <ac:spMk id="3" creationId="{BB8C16AD-98A2-B67A-97CA-6DB718E19BB5}"/>
          </ac:spMkLst>
        </pc:spChg>
        <pc:spChg chg="add del">
          <ac:chgData name="Faiza khan" userId="615da8c4b3234724" providerId="LiveId" clId="{62F3962A-C2E0-4FDB-A5D5-4DA95E0DD3F1}" dt="2026-04-02T09:40:30.871" v="1311" actId="22"/>
          <ac:spMkLst>
            <pc:docMk/>
            <pc:sldMk cId="3120305811" sldId="477"/>
            <ac:spMk id="5" creationId="{A3827A1E-18D4-596B-2AD2-547867C24B7E}"/>
          </ac:spMkLst>
        </pc:spChg>
        <pc:picChg chg="add mod">
          <ac:chgData name="Faiza khan" userId="615da8c4b3234724" providerId="LiveId" clId="{62F3962A-C2E0-4FDB-A5D5-4DA95E0DD3F1}" dt="2026-04-02T09:45:47.478" v="1329" actId="1076"/>
          <ac:picMkLst>
            <pc:docMk/>
            <pc:sldMk cId="3120305811" sldId="477"/>
            <ac:picMk id="7" creationId="{E583D3E0-4279-BC37-0029-84514701844F}"/>
          </ac:picMkLst>
        </pc:pic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3BB152-6CA7-444D-8644-77F0D1863435}" type="datetimeFigureOut">
              <a:rPr lang="en-US" smtClean="0"/>
              <a:pPr/>
              <a:t>4/5/2026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56AA6F-6A9E-488C-9B34-0153DDAE6457}"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9" name="Picture 10" descr="BITS_university_logo_whitevert.png"/>
          <p:cNvPicPr>
            <a:picLocks noChangeAspect="1"/>
          </p:cNvPicPr>
          <p:nvPr userDrawn="1"/>
        </p:nvPicPr>
        <p:blipFill>
          <a:blip r:embed="rId3"/>
          <a:srcRect t="2" b="28592"/>
          <a:stretch>
            <a:fillRect/>
          </a:stretch>
        </p:blipFill>
        <p:spPr bwMode="auto">
          <a:xfrm>
            <a:off x="76200" y="3352800"/>
            <a:ext cx="2057400" cy="1979613"/>
          </a:xfrm>
          <a:prstGeom prst="rect">
            <a:avLst/>
          </a:prstGeom>
          <a:noFill/>
          <a:ln w="9525">
            <a:noFill/>
            <a:miter lim="800000"/>
            <a:headEnd/>
            <a:tailEnd/>
          </a:ln>
        </p:spPr>
      </p:pic>
      <p:sp>
        <p:nvSpPr>
          <p:cNvPr id="10" name="TextBox 9"/>
          <p:cNvSpPr txBox="1"/>
          <p:nvPr userDrawn="1"/>
        </p:nvSpPr>
        <p:spPr>
          <a:xfrm>
            <a:off x="-76200" y="5257800"/>
            <a:ext cx="22098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1" name="TextBox 10"/>
          <p:cNvSpPr txBox="1"/>
          <p:nvPr userDrawn="1"/>
        </p:nvSpPr>
        <p:spPr>
          <a:xfrm>
            <a:off x="152400" y="5667375"/>
            <a:ext cx="1905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2514600" y="5410200"/>
            <a:ext cx="60198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2514600" y="3810000"/>
            <a:ext cx="60198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p:nvPr userDrawn="1"/>
        </p:nvSpPr>
        <p:spPr>
          <a:xfrm>
            <a:off x="3276600" y="6596063"/>
            <a:ext cx="58674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a:grpSpLocks/>
          </p:cNvGrpSpPr>
          <p:nvPr userDrawn="1"/>
        </p:nvGrpSpPr>
        <p:grpSpPr bwMode="auto">
          <a:xfrm>
            <a:off x="2084388" y="6550025"/>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9" name="Picture 11" descr="Picture 7.png"/>
          <p:cNvPicPr>
            <a:picLocks noChangeAspect="1"/>
          </p:cNvPicPr>
          <p:nvPr userDrawn="1"/>
        </p:nvPicPr>
        <p:blipFill>
          <a:blip r:embed="rId2"/>
          <a:srcRect l="1923" b="5336"/>
          <a:stretch>
            <a:fillRect/>
          </a:stretch>
        </p:blipFill>
        <p:spPr bwMode="auto">
          <a:xfrm>
            <a:off x="6629400" y="0"/>
            <a:ext cx="2193925" cy="692150"/>
          </a:xfrm>
          <a:prstGeom prst="rect">
            <a:avLst/>
          </a:prstGeom>
          <a:noFill/>
          <a:ln w="9525">
            <a:noFill/>
            <a:miter lim="800000"/>
            <a:headEnd/>
            <a:tailEnd/>
          </a:ln>
        </p:spPr>
      </p:pic>
      <p:grpSp>
        <p:nvGrpSpPr>
          <p:cNvPr id="5" name="Group 18"/>
          <p:cNvGrpSpPr>
            <a:grpSpLocks/>
          </p:cNvGrpSpPr>
          <p:nvPr userDrawn="1"/>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22"/>
          <p:cNvGrpSpPr>
            <a:grpSpLocks/>
          </p:cNvGrpSpPr>
          <p:nvPr userDrawn="1"/>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63" r:id="rId13"/>
    <p:sldLayoutId id="2147483666"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l-MnHBREzG8"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g8p2H7EvoGM" TargetMode="Externa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hyperlink" Target="https://www.netsuite.com/portal/resource/articles/data-warehouse/operational-reporting.shtml" TargetMode="Externa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image" Target="../media/image13.jpeg"/><Relationship Id="rId5" Type="http://schemas.openxmlformats.org/officeDocument/2006/relationships/image" Target="../media/image12.emf"/><Relationship Id="rId4" Type="http://schemas.openxmlformats.org/officeDocument/2006/relationships/oleObject" Target="../embeddings/oleObject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5"/>
          <p:cNvSpPr>
            <a:spLocks noGrp="1"/>
          </p:cNvSpPr>
          <p:nvPr>
            <p:ph sz="quarter" idx="13"/>
          </p:nvPr>
        </p:nvSpPr>
        <p:spPr/>
        <p:txBody>
          <a:bodyPr/>
          <a:lstStyle/>
          <a:p>
            <a:pPr algn="ctr" eaLnBrk="1" hangingPunct="1">
              <a:spcBef>
                <a:spcPct val="0"/>
              </a:spcBef>
            </a:pPr>
            <a:r>
              <a:rPr lang="en-US" sz="2400" dirty="0">
                <a:latin typeface="Arial" charset="0"/>
                <a:cs typeface="Arial" charset="0"/>
              </a:rPr>
              <a:t>Mohammad Faraz Naim</a:t>
            </a:r>
          </a:p>
          <a:p>
            <a:pPr algn="ctr" eaLnBrk="1" hangingPunct="1">
              <a:spcBef>
                <a:spcPct val="0"/>
              </a:spcBef>
            </a:pPr>
            <a:r>
              <a:rPr lang="en-US" dirty="0">
                <a:latin typeface="Arial" charset="0"/>
                <a:cs typeface="Arial" charset="0"/>
              </a:rPr>
              <a:t>Assistant Professor, Department of Management, BITS Pilani, Pilani campus</a:t>
            </a:r>
          </a:p>
        </p:txBody>
      </p:sp>
      <p:sp>
        <p:nvSpPr>
          <p:cNvPr id="4" name="TextBox 3">
            <a:extLst>
              <a:ext uri="{FF2B5EF4-FFF2-40B4-BE49-F238E27FC236}">
                <a16:creationId xmlns:a16="http://schemas.microsoft.com/office/drawing/2014/main" id="{1997A32F-2E6D-4C88-95F9-8933CFCC391D}"/>
              </a:ext>
            </a:extLst>
          </p:cNvPr>
          <p:cNvSpPr txBox="1"/>
          <p:nvPr/>
        </p:nvSpPr>
        <p:spPr>
          <a:xfrm>
            <a:off x="2514600" y="4114800"/>
            <a:ext cx="5738648" cy="592726"/>
          </a:xfrm>
          <a:prstGeom prst="rect">
            <a:avLst/>
          </a:prstGeom>
          <a:noFill/>
        </p:spPr>
        <p:txBody>
          <a:bodyPr wrap="square">
            <a:spAutoFit/>
          </a:bodyPr>
          <a:lstStyle/>
          <a:p>
            <a:pPr algn="ctr">
              <a:lnSpc>
                <a:spcPct val="107000"/>
              </a:lnSpc>
              <a:spcAft>
                <a:spcPts val="800"/>
              </a:spcAft>
            </a:pPr>
            <a:r>
              <a:rPr lang="en-IN" sz="3200" b="1"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Operations Management</a:t>
            </a:r>
            <a:endParaRPr lang="en-IN" sz="3200" b="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a:xfrm>
            <a:off x="304800" y="1752600"/>
            <a:ext cx="8382000" cy="4572000"/>
          </a:xfrm>
        </p:spPr>
        <p:txBody>
          <a:bodyPr>
            <a:normAutofit/>
          </a:bodyPr>
          <a:lstStyle/>
          <a:p>
            <a:pPr marL="914400">
              <a:spcAft>
                <a:spcPts val="0"/>
              </a:spcAft>
              <a:buFont typeface="Arial" panose="020B0604020202020204" pitchFamily="34" charset="0"/>
              <a:buChar char="•"/>
            </a:pPr>
            <a:r>
              <a:rPr lang="en-US" b="0" i="0" dirty="0">
                <a:solidFill>
                  <a:srgbClr val="222222"/>
                </a:solidFill>
                <a:effectLst/>
              </a:rPr>
              <a:t>Operation Management Overview</a:t>
            </a:r>
          </a:p>
          <a:p>
            <a:pPr marL="914400">
              <a:buFont typeface="Arial" panose="020B0604020202020204" pitchFamily="34" charset="0"/>
              <a:buChar char="•"/>
            </a:pPr>
            <a:r>
              <a:rPr lang="en-US" dirty="0"/>
              <a:t>Operations Management using Value Chain Management</a:t>
            </a:r>
          </a:p>
          <a:p>
            <a:pPr marL="914400">
              <a:buFont typeface="Arial" panose="020B0604020202020204" pitchFamily="34" charset="0"/>
              <a:buChar char="•"/>
            </a:pPr>
            <a:r>
              <a:rPr lang="en-IN" dirty="0"/>
              <a:t>Techniques for Allocating Resources in Operations Management</a:t>
            </a:r>
          </a:p>
          <a:p>
            <a:pPr marL="914400">
              <a:buFont typeface="Arial" panose="020B0604020202020204" pitchFamily="34" charset="0"/>
              <a:buChar char="•"/>
            </a:pPr>
            <a:r>
              <a:rPr lang="en-IN" dirty="0"/>
              <a:t>Scenario Planning in Operations Management</a:t>
            </a:r>
          </a:p>
          <a:p>
            <a:pPr marL="914400">
              <a:buFont typeface="Arial" panose="020B0604020202020204" pitchFamily="34" charset="0"/>
              <a:buChar char="•"/>
            </a:pPr>
            <a:r>
              <a:rPr lang="en-US" dirty="0"/>
              <a:t>Integrated Understanding of Operations Management</a:t>
            </a:r>
            <a:endParaRPr lang="en-US" b="0" i="0" dirty="0">
              <a:solidFill>
                <a:srgbClr val="222222"/>
              </a:solidFill>
              <a:effectLst/>
            </a:endParaRPr>
          </a:p>
          <a:p>
            <a:pPr marL="914400">
              <a:spcAft>
                <a:spcPts val="0"/>
              </a:spcAft>
              <a:buFont typeface="Arial" panose="020B0604020202020204" pitchFamily="34" charset="0"/>
              <a:buChar char="•"/>
            </a:pPr>
            <a:endParaRPr lang="en-IN" sz="2800" dirty="0"/>
          </a:p>
        </p:txBody>
      </p:sp>
      <p:sp>
        <p:nvSpPr>
          <p:cNvPr id="3" name="Content Placeholder 2"/>
          <p:cNvSpPr>
            <a:spLocks noGrp="1"/>
          </p:cNvSpPr>
          <p:nvPr>
            <p:ph sz="quarter" idx="10"/>
          </p:nvPr>
        </p:nvSpPr>
        <p:spPr/>
        <p:txBody>
          <a:bodyPr/>
          <a:lstStyle/>
          <a:p>
            <a:pPr eaLnBrk="1" fontAlgn="auto" hangingPunct="1">
              <a:spcAft>
                <a:spcPts val="0"/>
              </a:spcAft>
              <a:defRPr/>
            </a:pPr>
            <a:r>
              <a:rPr lang="en-US" sz="3200" dirty="0"/>
              <a:t>Learning objectives</a:t>
            </a:r>
          </a:p>
        </p:txBody>
      </p:sp>
      <p:sp>
        <p:nvSpPr>
          <p:cNvPr id="7" name="Rounded Rectangle 2"/>
          <p:cNvSpPr/>
          <p:nvPr/>
        </p:nvSpPr>
        <p:spPr>
          <a:xfrm>
            <a:off x="304800" y="1676400"/>
            <a:ext cx="8610600" cy="4086225"/>
          </a:xfrm>
          <a:custGeom>
            <a:avLst/>
            <a:gdLst>
              <a:gd name="connsiteX0" fmla="*/ 0 w 2200275"/>
              <a:gd name="connsiteY0" fmla="*/ 64902 h 2176463"/>
              <a:gd name="connsiteX1" fmla="*/ 64902 w 2200275"/>
              <a:gd name="connsiteY1" fmla="*/ 0 h 2176463"/>
              <a:gd name="connsiteX2" fmla="*/ 2135373 w 2200275"/>
              <a:gd name="connsiteY2" fmla="*/ 0 h 2176463"/>
              <a:gd name="connsiteX3" fmla="*/ 2200275 w 2200275"/>
              <a:gd name="connsiteY3" fmla="*/ 64902 h 2176463"/>
              <a:gd name="connsiteX4" fmla="*/ 2200275 w 2200275"/>
              <a:gd name="connsiteY4" fmla="*/ 2111561 h 2176463"/>
              <a:gd name="connsiteX5" fmla="*/ 2135373 w 2200275"/>
              <a:gd name="connsiteY5" fmla="*/ 2176463 h 2176463"/>
              <a:gd name="connsiteX6" fmla="*/ 64902 w 2200275"/>
              <a:gd name="connsiteY6" fmla="*/ 2176463 h 2176463"/>
              <a:gd name="connsiteX7" fmla="*/ 0 w 2200275"/>
              <a:gd name="connsiteY7" fmla="*/ 2111561 h 2176463"/>
              <a:gd name="connsiteX8" fmla="*/ 0 w 2200275"/>
              <a:gd name="connsiteY8" fmla="*/ 64902 h 2176463"/>
              <a:gd name="connsiteX0" fmla="*/ 0 w 2200275"/>
              <a:gd name="connsiteY0" fmla="*/ 64902 h 2176463"/>
              <a:gd name="connsiteX1" fmla="*/ 64902 w 2200275"/>
              <a:gd name="connsiteY1" fmla="*/ 0 h 2176463"/>
              <a:gd name="connsiteX2" fmla="*/ 1495425 w 2200275"/>
              <a:gd name="connsiteY2" fmla="*/ 0 h 2176463"/>
              <a:gd name="connsiteX3" fmla="*/ 2135373 w 2200275"/>
              <a:gd name="connsiteY3" fmla="*/ 0 h 2176463"/>
              <a:gd name="connsiteX4" fmla="*/ 2200275 w 2200275"/>
              <a:gd name="connsiteY4" fmla="*/ 64902 h 2176463"/>
              <a:gd name="connsiteX5" fmla="*/ 2200275 w 2200275"/>
              <a:gd name="connsiteY5" fmla="*/ 2111561 h 2176463"/>
              <a:gd name="connsiteX6" fmla="*/ 2135373 w 2200275"/>
              <a:gd name="connsiteY6" fmla="*/ 2176463 h 2176463"/>
              <a:gd name="connsiteX7" fmla="*/ 64902 w 2200275"/>
              <a:gd name="connsiteY7" fmla="*/ 2176463 h 2176463"/>
              <a:gd name="connsiteX8" fmla="*/ 0 w 2200275"/>
              <a:gd name="connsiteY8" fmla="*/ 2111561 h 2176463"/>
              <a:gd name="connsiteX9" fmla="*/ 0 w 2200275"/>
              <a:gd name="connsiteY9" fmla="*/ 64902 h 2176463"/>
              <a:gd name="connsiteX0" fmla="*/ 2200275 w 2291715"/>
              <a:gd name="connsiteY0" fmla="*/ 64902 h 2176463"/>
              <a:gd name="connsiteX1" fmla="*/ 2200275 w 2291715"/>
              <a:gd name="connsiteY1" fmla="*/ 2111561 h 2176463"/>
              <a:gd name="connsiteX2" fmla="*/ 2135373 w 2291715"/>
              <a:gd name="connsiteY2" fmla="*/ 2176463 h 2176463"/>
              <a:gd name="connsiteX3" fmla="*/ 64902 w 2291715"/>
              <a:gd name="connsiteY3" fmla="*/ 2176463 h 2176463"/>
              <a:gd name="connsiteX4" fmla="*/ 0 w 2291715"/>
              <a:gd name="connsiteY4" fmla="*/ 2111561 h 2176463"/>
              <a:gd name="connsiteX5" fmla="*/ 0 w 2291715"/>
              <a:gd name="connsiteY5" fmla="*/ 64902 h 2176463"/>
              <a:gd name="connsiteX6" fmla="*/ 64902 w 2291715"/>
              <a:gd name="connsiteY6" fmla="*/ 0 h 2176463"/>
              <a:gd name="connsiteX7" fmla="*/ 1495425 w 2291715"/>
              <a:gd name="connsiteY7" fmla="*/ 0 h 2176463"/>
              <a:gd name="connsiteX8" fmla="*/ 2135373 w 2291715"/>
              <a:gd name="connsiteY8" fmla="*/ 0 h 2176463"/>
              <a:gd name="connsiteX9" fmla="*/ 2291715 w 2291715"/>
              <a:gd name="connsiteY9" fmla="*/ 156342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8" fmla="*/ 2135373 w 2200275"/>
              <a:gd name="connsiteY8" fmla="*/ 0 h 2176463"/>
              <a:gd name="connsiteX0" fmla="*/ 2200275 w 2200275"/>
              <a:gd name="connsiteY0" fmla="*/ 64902 h 2176463"/>
              <a:gd name="connsiteX1" fmla="*/ 2200275 w 2200275"/>
              <a:gd name="connsiteY1" fmla="*/ 2111561 h 2176463"/>
              <a:gd name="connsiteX2" fmla="*/ 2135373 w 2200275"/>
              <a:gd name="connsiteY2" fmla="*/ 2176463 h 2176463"/>
              <a:gd name="connsiteX3" fmla="*/ 64902 w 2200275"/>
              <a:gd name="connsiteY3" fmla="*/ 2176463 h 2176463"/>
              <a:gd name="connsiteX4" fmla="*/ 0 w 2200275"/>
              <a:gd name="connsiteY4" fmla="*/ 2111561 h 2176463"/>
              <a:gd name="connsiteX5" fmla="*/ 0 w 2200275"/>
              <a:gd name="connsiteY5" fmla="*/ 64902 h 2176463"/>
              <a:gd name="connsiteX6" fmla="*/ 64902 w 2200275"/>
              <a:gd name="connsiteY6" fmla="*/ 0 h 2176463"/>
              <a:gd name="connsiteX7" fmla="*/ 1495425 w 2200275"/>
              <a:gd name="connsiteY7" fmla="*/ 0 h 2176463"/>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8" fmla="*/ 1495425 w 2200275"/>
              <a:gd name="connsiteY8" fmla="*/ 4762 h 2181225"/>
              <a:gd name="connsiteX0" fmla="*/ 2200275 w 2200275"/>
              <a:gd name="connsiteY0" fmla="*/ 6966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69664 h 2181225"/>
              <a:gd name="connsiteX1" fmla="*/ 2200275 w 2200275"/>
              <a:gd name="connsiteY1" fmla="*/ 1595437 h 2181225"/>
              <a:gd name="connsiteX2" fmla="*/ 2200275 w 2200275"/>
              <a:gd name="connsiteY2" fmla="*/ 2116323 h 2181225"/>
              <a:gd name="connsiteX3" fmla="*/ 2135373 w 2200275"/>
              <a:gd name="connsiteY3" fmla="*/ 2181225 h 2181225"/>
              <a:gd name="connsiteX4" fmla="*/ 64902 w 2200275"/>
              <a:gd name="connsiteY4" fmla="*/ 2181225 h 2181225"/>
              <a:gd name="connsiteX5" fmla="*/ 0 w 2200275"/>
              <a:gd name="connsiteY5" fmla="*/ 2116323 h 2181225"/>
              <a:gd name="connsiteX6" fmla="*/ 0 w 2200275"/>
              <a:gd name="connsiteY6" fmla="*/ 69664 h 2181225"/>
              <a:gd name="connsiteX7" fmla="*/ 64902 w 2200275"/>
              <a:gd name="connsiteY7" fmla="*/ 4762 h 2181225"/>
              <a:gd name="connsiteX8" fmla="*/ 604838 w 2200275"/>
              <a:gd name="connsiteY8" fmla="*/ 0 h 2181225"/>
              <a:gd name="connsiteX0" fmla="*/ 2200275 w 2200275"/>
              <a:gd name="connsiteY0" fmla="*/ 1595437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6048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 name="connsiteX0" fmla="*/ 2200275 w 2200275"/>
              <a:gd name="connsiteY0" fmla="*/ 1647824 h 2181225"/>
              <a:gd name="connsiteX1" fmla="*/ 2200275 w 2200275"/>
              <a:gd name="connsiteY1" fmla="*/ 2116323 h 2181225"/>
              <a:gd name="connsiteX2" fmla="*/ 2135373 w 2200275"/>
              <a:gd name="connsiteY2" fmla="*/ 2181225 h 2181225"/>
              <a:gd name="connsiteX3" fmla="*/ 64902 w 2200275"/>
              <a:gd name="connsiteY3" fmla="*/ 2181225 h 2181225"/>
              <a:gd name="connsiteX4" fmla="*/ 0 w 2200275"/>
              <a:gd name="connsiteY4" fmla="*/ 2116323 h 2181225"/>
              <a:gd name="connsiteX5" fmla="*/ 0 w 2200275"/>
              <a:gd name="connsiteY5" fmla="*/ 69664 h 2181225"/>
              <a:gd name="connsiteX6" fmla="*/ 64902 w 2200275"/>
              <a:gd name="connsiteY6" fmla="*/ 4762 h 2181225"/>
              <a:gd name="connsiteX7" fmla="*/ 833438 w 2200275"/>
              <a:gd name="connsiteY7" fmla="*/ 0 h 2181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0275" h="2181225">
                <a:moveTo>
                  <a:pt x="2200275" y="1647824"/>
                </a:moveTo>
                <a:lnTo>
                  <a:pt x="2200275" y="2116323"/>
                </a:lnTo>
                <a:cubicBezTo>
                  <a:pt x="2200275" y="2152167"/>
                  <a:pt x="2171217" y="2181225"/>
                  <a:pt x="2135373" y="2181225"/>
                </a:cubicBezTo>
                <a:lnTo>
                  <a:pt x="64902" y="2181225"/>
                </a:lnTo>
                <a:cubicBezTo>
                  <a:pt x="29058" y="2181225"/>
                  <a:pt x="0" y="2152167"/>
                  <a:pt x="0" y="2116323"/>
                </a:cubicBezTo>
                <a:lnTo>
                  <a:pt x="0" y="69664"/>
                </a:lnTo>
                <a:cubicBezTo>
                  <a:pt x="0" y="33820"/>
                  <a:pt x="29058" y="4762"/>
                  <a:pt x="64902" y="4762"/>
                </a:cubicBezTo>
                <a:lnTo>
                  <a:pt x="833438" y="0"/>
                </a:lnTo>
              </a:path>
            </a:pathLst>
          </a:custGeom>
          <a:noFill/>
          <a:ln w="28575">
            <a:solidFill>
              <a:srgbClr val="FB771E"/>
            </a:solidFill>
            <a:headEnd type="oval" w="lg" len="lg"/>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a:defRPr/>
            </a:pPr>
            <a:endParaRPr lang="en-US" sz="1350" dirty="0">
              <a:solidFill>
                <a:prstClr val="white"/>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400" y="1371600"/>
            <a:ext cx="4749800" cy="4525963"/>
          </a:xfrm>
        </p:spPr>
        <p:txBody>
          <a:bodyPr>
            <a:noAutofit/>
          </a:bodyPr>
          <a:lstStyle/>
          <a:p>
            <a:r>
              <a:rPr lang="en-US" sz="1800" dirty="0"/>
              <a:t>	</a:t>
            </a:r>
            <a:r>
              <a:rPr lang="en-US" sz="2000" dirty="0"/>
              <a:t>Operations Management deals with designing, controlling, and improving the processes. It ensures efficient transformation of inputs into outputs.</a:t>
            </a:r>
          </a:p>
          <a:p>
            <a:r>
              <a:rPr lang="en-US" sz="2000" dirty="0"/>
              <a:t>	Example: Managing production in a factory or service delivery in hospitals.</a:t>
            </a:r>
          </a:p>
          <a:p>
            <a:r>
              <a:rPr lang="en-US" sz="2000" dirty="0"/>
              <a:t>	</a:t>
            </a:r>
            <a:r>
              <a:rPr lang="en-US" sz="2000" b="1" dirty="0"/>
              <a:t>Objectives of Operations Management:</a:t>
            </a:r>
          </a:p>
          <a:p>
            <a:pPr>
              <a:buFont typeface="Arial" panose="020B0604020202020204" pitchFamily="34" charset="0"/>
              <a:buChar char="•"/>
            </a:pPr>
            <a:r>
              <a:rPr lang="en-US" sz="2000" dirty="0"/>
              <a:t>Productivity: Maximize output with minimum input.</a:t>
            </a:r>
          </a:p>
          <a:p>
            <a:pPr>
              <a:buFont typeface="Arial" panose="020B0604020202020204" pitchFamily="34" charset="0"/>
              <a:buChar char="•"/>
            </a:pPr>
            <a:r>
              <a:rPr lang="en-US" sz="2000" dirty="0"/>
              <a:t>Quality: Maintain consistent standards.</a:t>
            </a:r>
          </a:p>
          <a:p>
            <a:pPr>
              <a:buFont typeface="Arial" panose="020B0604020202020204" pitchFamily="34" charset="0"/>
              <a:buChar char="•"/>
            </a:pPr>
            <a:r>
              <a:rPr lang="en-US" sz="2000" dirty="0"/>
              <a:t>Cost Efficiency: Reduce wastage and optimize expenses.</a:t>
            </a:r>
          </a:p>
          <a:p>
            <a:pPr>
              <a:buFont typeface="Arial" panose="020B0604020202020204" pitchFamily="34" charset="0"/>
              <a:buChar char="•"/>
            </a:pPr>
            <a:r>
              <a:rPr lang="en-US" sz="2000" dirty="0"/>
              <a:t>Customer Satisfaction: Deliver value and meet expectations.</a:t>
            </a:r>
          </a:p>
          <a:p>
            <a:endParaRPr lang="en-US" sz="2000" dirty="0">
              <a:latin typeface="Times New Roman" panose="02020603050405020304" pitchFamily="18" charset="0"/>
              <a:cs typeface="Times New Roman" panose="02020603050405020304" pitchFamily="18" charset="0"/>
            </a:endParaRPr>
          </a:p>
          <a:p>
            <a:pPr lvl="8" algn="just">
              <a:buFont typeface="Wingdings" panose="05000000000000000000" pitchFamily="2" charset="2"/>
              <a:buChar char="§"/>
            </a:pPr>
            <a:endParaRPr lang="en-US" dirty="0"/>
          </a:p>
          <a:p>
            <a:pPr marL="3657600" lvl="8" indent="0">
              <a:buNone/>
            </a:pPr>
            <a:endParaRPr lang="en-US" sz="1400" dirty="0"/>
          </a:p>
        </p:txBody>
      </p:sp>
      <p:sp>
        <p:nvSpPr>
          <p:cNvPr id="3" name="Content Placeholder 2"/>
          <p:cNvSpPr>
            <a:spLocks noGrp="1"/>
          </p:cNvSpPr>
          <p:nvPr>
            <p:ph sz="quarter" idx="10"/>
          </p:nvPr>
        </p:nvSpPr>
        <p:spPr/>
        <p:txBody>
          <a:bodyPr>
            <a:normAutofit/>
          </a:bodyPr>
          <a:lstStyle/>
          <a:p>
            <a:r>
              <a:rPr lang="en-US" sz="3200" dirty="0"/>
              <a:t>Overview</a:t>
            </a:r>
          </a:p>
        </p:txBody>
      </p:sp>
      <p:pic>
        <p:nvPicPr>
          <p:cNvPr id="5" name="Picture 4">
            <a:extLst>
              <a:ext uri="{FF2B5EF4-FFF2-40B4-BE49-F238E27FC236}">
                <a16:creationId xmlns:a16="http://schemas.microsoft.com/office/drawing/2014/main" id="{37764C18-521B-CCB4-7968-8B96BFA1ED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4400" y="1600200"/>
            <a:ext cx="4267200" cy="3505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B369E97-F615-DA5B-6F57-B5AF55B2BBCE}"/>
              </a:ext>
            </a:extLst>
          </p:cNvPr>
          <p:cNvSpPr>
            <a:spLocks noGrp="1" noChangeArrowheads="1"/>
          </p:cNvSpPr>
          <p:nvPr>
            <p:ph idx="1"/>
          </p:nvPr>
        </p:nvSpPr>
        <p:spPr bwMode="auto">
          <a:xfrm>
            <a:off x="381000" y="1614845"/>
            <a:ext cx="8382000" cy="47089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A0A0A"/>
                </a:solidFill>
                <a:effectLst/>
              </a:rPr>
              <a:t>Key aspects of operations management include: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Production &amp; Service Planning:</a:t>
            </a:r>
            <a:r>
              <a:rPr kumimoji="0" lang="en-US" altLang="en-US" b="0" i="0" u="none" strike="noStrike" cap="none" normalizeH="0" baseline="0" dirty="0">
                <a:ln>
                  <a:noFill/>
                </a:ln>
                <a:solidFill>
                  <a:srgbClr val="0A0A0A"/>
                </a:solidFill>
                <a:effectLst/>
              </a:rPr>
              <a:t> Planning and </a:t>
            </a:r>
            <a:r>
              <a:rPr kumimoji="0" lang="en-US" altLang="en-US" b="0" i="0" u="none" strike="noStrike" cap="none" normalizeH="0" baseline="0" dirty="0" err="1">
                <a:ln>
                  <a:noFill/>
                </a:ln>
                <a:solidFill>
                  <a:srgbClr val="0A0A0A"/>
                </a:solidFill>
                <a:effectLst/>
              </a:rPr>
              <a:t>organising</a:t>
            </a:r>
            <a:r>
              <a:rPr kumimoji="0" lang="en-US" altLang="en-US" b="0" i="0" u="none" strike="noStrike" cap="none" normalizeH="0" baseline="0" dirty="0">
                <a:ln>
                  <a:noFill/>
                </a:ln>
                <a:solidFill>
                  <a:srgbClr val="0A0A0A"/>
                </a:solidFill>
                <a:effectLst/>
              </a:rPr>
              <a:t> the day-to-day activities to create goods or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rgbClr val="0A0A0A"/>
                </a:solidFill>
                <a:effectLst/>
              </a:rPr>
              <a:t>Quality Control: Ensuring products meet standards and client expectations.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Supply Chain Management:</a:t>
            </a:r>
            <a:r>
              <a:rPr kumimoji="0" lang="en-US" altLang="en-US" b="0" i="0" u="none" strike="noStrike" cap="none" normalizeH="0" baseline="0" dirty="0">
                <a:ln>
                  <a:noFill/>
                </a:ln>
                <a:solidFill>
                  <a:srgbClr val="0A0A0A"/>
                </a:solidFill>
                <a:effectLst/>
              </a:rPr>
              <a:t> Overseeing logistics and purchasing to ensure smooth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Process </a:t>
            </a:r>
            <a:r>
              <a:rPr kumimoji="0" lang="en-US" altLang="en-US" b="1" i="0" u="none" strike="noStrike" cap="none" normalizeH="0" baseline="0" dirty="0" err="1">
                <a:ln>
                  <a:noFill/>
                </a:ln>
                <a:solidFill>
                  <a:srgbClr val="0A0A0A"/>
                </a:solidFill>
                <a:effectLst/>
              </a:rPr>
              <a:t>Optimisation</a:t>
            </a:r>
            <a:r>
              <a:rPr kumimoji="0" lang="en-US" altLang="en-US" b="1" i="0" u="none" strike="noStrike" cap="none" normalizeH="0" baseline="0" dirty="0">
                <a:ln>
                  <a:noFill/>
                </a:ln>
                <a:solidFill>
                  <a:srgbClr val="0A0A0A"/>
                </a:solidFill>
                <a:effectLst/>
              </a:rPr>
              <a:t>:</a:t>
            </a:r>
            <a:r>
              <a:rPr kumimoji="0" lang="en-US" altLang="en-US" b="0" i="0" u="none" strike="noStrike" cap="none" normalizeH="0" baseline="0" dirty="0">
                <a:ln>
                  <a:noFill/>
                </a:ln>
                <a:solidFill>
                  <a:srgbClr val="0A0A0A"/>
                </a:solidFill>
                <a:effectLst/>
              </a:rPr>
              <a:t> Improving manufacturing or service procedures for higher productivity.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0A0A0A"/>
                </a:solidFill>
                <a:effectLst/>
              </a:rPr>
              <a:t> Inventory Management:</a:t>
            </a:r>
            <a:r>
              <a:rPr kumimoji="0" lang="en-US" altLang="en-US" b="0" i="0" u="none" strike="noStrike" cap="none" normalizeH="0" baseline="0" dirty="0">
                <a:ln>
                  <a:noFill/>
                </a:ln>
                <a:solidFill>
                  <a:srgbClr val="0A0A0A"/>
                </a:solidFill>
                <a:effectLst/>
              </a:rPr>
              <a:t> Balancing inventory levels to </a:t>
            </a:r>
            <a:r>
              <a:rPr kumimoji="0" lang="en-US" altLang="en-US" b="0" i="0" u="none" strike="noStrike" cap="none" normalizeH="0" baseline="0" dirty="0" err="1">
                <a:ln>
                  <a:noFill/>
                </a:ln>
                <a:solidFill>
                  <a:srgbClr val="0A0A0A"/>
                </a:solidFill>
                <a:effectLst/>
              </a:rPr>
              <a:t>minimise</a:t>
            </a:r>
            <a:r>
              <a:rPr kumimoji="0" lang="en-US" altLang="en-US" b="0" i="0" u="none" strike="noStrike" cap="none" normalizeH="0" baseline="0" dirty="0">
                <a:ln>
                  <a:noFill/>
                </a:ln>
                <a:solidFill>
                  <a:srgbClr val="0A0A0A"/>
                </a:solidFill>
                <a:effectLst/>
              </a:rPr>
              <a:t> costs.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Content Placeholder 2">
            <a:extLst>
              <a:ext uri="{FF2B5EF4-FFF2-40B4-BE49-F238E27FC236}">
                <a16:creationId xmlns:a16="http://schemas.microsoft.com/office/drawing/2014/main" id="{32E42D5C-9DA9-4B53-837C-7D17BDB1F6E2}"/>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3653682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383107-4E0A-F288-AFBE-55B68692298A}"/>
              </a:ext>
            </a:extLst>
          </p:cNvPr>
          <p:cNvSpPr>
            <a:spLocks noGrp="1"/>
          </p:cNvSpPr>
          <p:nvPr>
            <p:ph idx="1"/>
          </p:nvPr>
        </p:nvSpPr>
        <p:spPr>
          <a:xfrm>
            <a:off x="310054" y="1447800"/>
            <a:ext cx="8605345" cy="5410200"/>
          </a:xfrm>
        </p:spPr>
        <p:txBody>
          <a:bodyPr>
            <a:normAutofit fontScale="92500" lnSpcReduction="10000"/>
          </a:bodyPr>
          <a:lstStyle/>
          <a:p>
            <a:pPr marL="0" lvl="0" indent="0" algn="just" eaLnBrk="0" fontAlgn="base" hangingPunct="0">
              <a:spcBef>
                <a:spcPct val="0"/>
              </a:spcBef>
              <a:spcAft>
                <a:spcPct val="0"/>
              </a:spcAft>
              <a:buClrTx/>
            </a:pPr>
            <a:r>
              <a:rPr lang="en-US" altLang="en-US" b="1" dirty="0">
                <a:solidFill>
                  <a:srgbClr val="0A0A0A"/>
                </a:solidFill>
              </a:rPr>
              <a:t>Importance &amp; Benefits:</a:t>
            </a:r>
            <a:endParaRPr lang="en-US" altLang="en-US" dirty="0"/>
          </a:p>
          <a:p>
            <a:pPr marL="0" lvl="0" indent="0" algn="just" eaLnBrk="0" fontAlgn="base" hangingPunct="0">
              <a:spcBef>
                <a:spcPct val="0"/>
              </a:spcBef>
              <a:spcAft>
                <a:spcPct val="0"/>
              </a:spcAft>
              <a:buClrTx/>
              <a:buFontTx/>
              <a:buChar char="•"/>
            </a:pPr>
            <a:r>
              <a:rPr lang="en-US" altLang="en-US" b="1" dirty="0">
                <a:solidFill>
                  <a:srgbClr val="0A0A0A"/>
                </a:solidFill>
              </a:rPr>
              <a:t>Efficiency:</a:t>
            </a:r>
            <a:r>
              <a:rPr lang="en-US" altLang="en-US" dirty="0">
                <a:solidFill>
                  <a:srgbClr val="0A0A0A"/>
                </a:solidFill>
              </a:rPr>
              <a:t> Streamlines production to enhance speed and reduce costs.</a:t>
            </a:r>
          </a:p>
          <a:p>
            <a:pPr marL="0" lvl="0" indent="0" algn="just" eaLnBrk="0" fontAlgn="base" hangingPunct="0">
              <a:spcBef>
                <a:spcPct val="0"/>
              </a:spcBef>
              <a:spcAft>
                <a:spcPct val="0"/>
              </a:spcAft>
              <a:buClrTx/>
              <a:buFontTx/>
              <a:buChar char="•"/>
            </a:pPr>
            <a:r>
              <a:rPr lang="en-US" altLang="en-US" b="1" dirty="0">
                <a:solidFill>
                  <a:srgbClr val="0A0A0A"/>
                </a:solidFill>
              </a:rPr>
              <a:t>Profitability:</a:t>
            </a:r>
            <a:r>
              <a:rPr lang="en-US" altLang="en-US" dirty="0">
                <a:solidFill>
                  <a:srgbClr val="0A0A0A"/>
                </a:solidFill>
              </a:rPr>
              <a:t> Ensures effective resource use to maximize operating profits.</a:t>
            </a:r>
          </a:p>
          <a:p>
            <a:pPr marL="0" lvl="0" indent="0" algn="just" eaLnBrk="0" fontAlgn="base" hangingPunct="0">
              <a:spcBef>
                <a:spcPct val="0"/>
              </a:spcBef>
              <a:spcAft>
                <a:spcPct val="0"/>
              </a:spcAft>
              <a:buClrTx/>
              <a:buFontTx/>
              <a:buChar char="•"/>
            </a:pPr>
            <a:r>
              <a:rPr lang="en-US" altLang="en-US" b="1" dirty="0">
                <a:solidFill>
                  <a:srgbClr val="0A0A0A"/>
                </a:solidFill>
              </a:rPr>
              <a:t>Customer Satisfaction:</a:t>
            </a:r>
            <a:r>
              <a:rPr lang="en-US" altLang="en-US" dirty="0">
                <a:solidFill>
                  <a:srgbClr val="0A0A0A"/>
                </a:solidFill>
              </a:rPr>
              <a:t> Ensures timely delivery of high-quality goods.</a:t>
            </a:r>
          </a:p>
          <a:p>
            <a:pPr marL="0" lvl="0" indent="0" algn="just" eaLnBrk="0" fontAlgn="base" hangingPunct="0">
              <a:spcBef>
                <a:spcPct val="0"/>
              </a:spcBef>
              <a:spcAft>
                <a:spcPct val="0"/>
              </a:spcAft>
              <a:buClrTx/>
              <a:buFontTx/>
              <a:buChar char="•"/>
            </a:pPr>
            <a:r>
              <a:rPr lang="en-US" altLang="en-US" b="1" dirty="0">
                <a:solidFill>
                  <a:srgbClr val="0A0A0A"/>
                </a:solidFill>
              </a:rPr>
              <a:t>Competitive Advantage:</a:t>
            </a:r>
            <a:r>
              <a:rPr lang="en-US" altLang="en-US" dirty="0">
                <a:solidFill>
                  <a:srgbClr val="0A0A0A"/>
                </a:solidFill>
              </a:rPr>
              <a:t> Improves business functioning in fast-paced markets.</a:t>
            </a:r>
          </a:p>
          <a:p>
            <a:pPr marL="0" lvl="0" indent="0" algn="just" eaLnBrk="0" fontAlgn="base" hangingPunct="0">
              <a:spcBef>
                <a:spcPct val="0"/>
              </a:spcBef>
              <a:spcAft>
                <a:spcPct val="0"/>
              </a:spcAft>
              <a:buClrTx/>
            </a:pPr>
            <a:endParaRPr lang="en-US" altLang="en-US" dirty="0">
              <a:solidFill>
                <a:srgbClr val="0A0A0A"/>
              </a:solidFill>
            </a:endParaRPr>
          </a:p>
          <a:p>
            <a:pPr marL="0" lvl="0" indent="0" algn="just" eaLnBrk="0" fontAlgn="base" hangingPunct="0">
              <a:spcBef>
                <a:spcPct val="0"/>
              </a:spcBef>
              <a:spcAft>
                <a:spcPct val="0"/>
              </a:spcAft>
              <a:buClrTx/>
            </a:pPr>
            <a:r>
              <a:rPr lang="en-US" altLang="en-US" b="1" dirty="0">
                <a:solidFill>
                  <a:srgbClr val="0A0A0A"/>
                </a:solidFill>
              </a:rPr>
              <a:t>Core Components of Operations Management</a:t>
            </a:r>
            <a:endParaRPr lang="en-US" altLang="en-US" dirty="0"/>
          </a:p>
          <a:p>
            <a:pPr marL="0" lvl="0" indent="0" algn="just" eaLnBrk="0" fontAlgn="base" hangingPunct="0">
              <a:spcBef>
                <a:spcPct val="0"/>
              </a:spcBef>
              <a:spcAft>
                <a:spcPct val="0"/>
              </a:spcAft>
              <a:buClrTx/>
              <a:buFontTx/>
              <a:buChar char="•"/>
            </a:pPr>
            <a:r>
              <a:rPr lang="en-US" altLang="en-US" b="1" dirty="0">
                <a:solidFill>
                  <a:srgbClr val="0A0A0A"/>
                </a:solidFill>
              </a:rPr>
              <a:t>Operation strategy  &amp; Planning:</a:t>
            </a:r>
            <a:r>
              <a:rPr lang="en-US" altLang="en-US" dirty="0">
                <a:solidFill>
                  <a:srgbClr val="0A0A0A"/>
                </a:solidFill>
              </a:rPr>
              <a:t> Aligning </a:t>
            </a:r>
            <a:r>
              <a:rPr lang="en-US" altLang="en-US" b="1" i="1" dirty="0">
                <a:solidFill>
                  <a:srgbClr val="0A0A0A"/>
                </a:solidFill>
              </a:rPr>
              <a:t>long-term goals </a:t>
            </a:r>
            <a:r>
              <a:rPr lang="en-US" altLang="en-US" dirty="0">
                <a:solidFill>
                  <a:srgbClr val="0A0A0A"/>
                </a:solidFill>
              </a:rPr>
              <a:t>with day-to-day operations, including </a:t>
            </a:r>
            <a:r>
              <a:rPr lang="en-US" altLang="en-US" b="1" i="1" dirty="0">
                <a:solidFill>
                  <a:srgbClr val="0A0A0A"/>
                </a:solidFill>
              </a:rPr>
              <a:t>facility location, capacity planning, and resource allocation.</a:t>
            </a:r>
          </a:p>
          <a:p>
            <a:pPr marL="0" lvl="0" indent="0" algn="just" eaLnBrk="0" fontAlgn="base" hangingPunct="0">
              <a:spcBef>
                <a:spcPct val="0"/>
              </a:spcBef>
              <a:spcAft>
                <a:spcPct val="0"/>
              </a:spcAft>
              <a:buClrTx/>
              <a:buFontTx/>
              <a:buChar char="•"/>
            </a:pPr>
            <a:r>
              <a:rPr lang="en-US" altLang="en-US" b="1" dirty="0">
                <a:solidFill>
                  <a:srgbClr val="0A0A0A"/>
                </a:solidFill>
              </a:rPr>
              <a:t>Product &amp; Service design:</a:t>
            </a:r>
            <a:r>
              <a:rPr lang="en-US" altLang="en-US" dirty="0">
                <a:solidFill>
                  <a:srgbClr val="0A0A0A"/>
                </a:solidFill>
              </a:rPr>
              <a:t> Developing products and services that meet customer needs, balancing cost-effectiveness with quality.</a:t>
            </a:r>
          </a:p>
          <a:p>
            <a:pPr algn="just"/>
            <a:endParaRPr lang="en-IN" dirty="0"/>
          </a:p>
        </p:txBody>
      </p:sp>
      <p:sp>
        <p:nvSpPr>
          <p:cNvPr id="6" name="Content Placeholder 2">
            <a:extLst>
              <a:ext uri="{FF2B5EF4-FFF2-40B4-BE49-F238E27FC236}">
                <a16:creationId xmlns:a16="http://schemas.microsoft.com/office/drawing/2014/main" id="{A798C66F-5DDB-4138-A45B-41121120524F}"/>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1765077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2B8DBC-B92F-99E8-56F3-E9877F35C65C}"/>
              </a:ext>
            </a:extLst>
          </p:cNvPr>
          <p:cNvSpPr>
            <a:spLocks noGrp="1"/>
          </p:cNvSpPr>
          <p:nvPr>
            <p:ph idx="1"/>
          </p:nvPr>
        </p:nvSpPr>
        <p:spPr>
          <a:xfrm>
            <a:off x="304800" y="1493837"/>
            <a:ext cx="8534400" cy="5059363"/>
          </a:xfrm>
        </p:spPr>
        <p:txBody>
          <a:bodyPr>
            <a:normAutofit fontScale="92500"/>
          </a:bodyPr>
          <a:lstStyle/>
          <a:p>
            <a:pPr lvl="0" algn="just" eaLnBrk="0" fontAlgn="base" hangingPunct="0">
              <a:spcBef>
                <a:spcPct val="0"/>
              </a:spcBef>
              <a:spcAft>
                <a:spcPct val="0"/>
              </a:spcAft>
              <a:buClrTx/>
              <a:buFont typeface="Arial" panose="020B0604020202020204" pitchFamily="34" charset="0"/>
              <a:buChar char="•"/>
            </a:pPr>
            <a:r>
              <a:rPr lang="en-US" altLang="en-US" b="1" dirty="0">
                <a:solidFill>
                  <a:srgbClr val="0A0A0A"/>
                </a:solidFill>
              </a:rPr>
              <a:t>Supply Chain Management: </a:t>
            </a:r>
            <a:r>
              <a:rPr lang="en-US" altLang="en-US" dirty="0">
                <a:solidFill>
                  <a:srgbClr val="0A0A0A"/>
                </a:solidFill>
              </a:rPr>
              <a:t>Managing procurement, logistics, and supplier relationships to ensure a smooth flow of materials and goods.</a:t>
            </a:r>
          </a:p>
          <a:p>
            <a:pPr lvl="0" algn="just" eaLnBrk="0" fontAlgn="base" hangingPunct="0">
              <a:spcBef>
                <a:spcPct val="0"/>
              </a:spcBef>
              <a:spcAft>
                <a:spcPct val="0"/>
              </a:spcAft>
              <a:buClrTx/>
              <a:buFont typeface="Arial" panose="020B0604020202020204" pitchFamily="34" charset="0"/>
              <a:buChar char="•"/>
            </a:pPr>
            <a:r>
              <a:rPr lang="en-US" altLang="en-US" b="1" dirty="0">
                <a:solidFill>
                  <a:srgbClr val="0A0A0A"/>
                </a:solidFill>
              </a:rPr>
              <a:t>Inventory Management:</a:t>
            </a:r>
            <a:r>
              <a:rPr lang="en-US" altLang="en-US" dirty="0">
                <a:solidFill>
                  <a:srgbClr val="0A0A0A"/>
                </a:solidFill>
              </a:rPr>
              <a:t> Controlling inventory levels to ensure sufficient raw materials and finished goods are available to avoid shortages while minimizing holding costs.</a:t>
            </a:r>
          </a:p>
          <a:p>
            <a:pPr lvl="0" algn="just" eaLnBrk="0" fontAlgn="base" hangingPunct="0">
              <a:spcBef>
                <a:spcPct val="0"/>
              </a:spcBef>
              <a:spcAft>
                <a:spcPct val="0"/>
              </a:spcAft>
              <a:buClrTx/>
              <a:buFont typeface="Arial" panose="020B0604020202020204" pitchFamily="34" charset="0"/>
              <a:buChar char="•"/>
            </a:pPr>
            <a:r>
              <a:rPr lang="en-US" altLang="en-US" b="1" dirty="0">
                <a:solidFill>
                  <a:srgbClr val="0A0A0A"/>
                </a:solidFill>
              </a:rPr>
              <a:t>Quality control and management:</a:t>
            </a:r>
            <a:r>
              <a:rPr lang="en-US" altLang="en-US" dirty="0">
                <a:solidFill>
                  <a:srgbClr val="0A0A0A"/>
                </a:solidFill>
              </a:rPr>
              <a:t> Setting performance standards, conducting inspections, and implementing improvements (like Lean or Six Sigma) to ensure consistent quality and minimize defects.</a:t>
            </a:r>
          </a:p>
          <a:p>
            <a:pPr lvl="0" algn="just" eaLnBrk="0" fontAlgn="base" hangingPunct="0">
              <a:spcBef>
                <a:spcPct val="0"/>
              </a:spcBef>
              <a:spcAft>
                <a:spcPct val="0"/>
              </a:spcAft>
              <a:buClrTx/>
              <a:buFont typeface="Arial" panose="020B0604020202020204" pitchFamily="34" charset="0"/>
              <a:buChar char="•"/>
            </a:pPr>
            <a:r>
              <a:rPr lang="en-US" altLang="en-US" b="1" dirty="0">
                <a:solidFill>
                  <a:srgbClr val="0A0A0A"/>
                </a:solidFill>
              </a:rPr>
              <a:t>Forecasting and scheduling:</a:t>
            </a:r>
            <a:r>
              <a:rPr lang="en-US" altLang="en-US" dirty="0">
                <a:solidFill>
                  <a:srgbClr val="0A0A0A"/>
                </a:solidFill>
              </a:rPr>
              <a:t> Predicting future demand and planning production schedules to optimize efficiency and resource use.</a:t>
            </a:r>
          </a:p>
          <a:p>
            <a:pPr marL="0" lvl="0" indent="0" algn="just" eaLnBrk="0" fontAlgn="base" hangingPunct="0">
              <a:spcBef>
                <a:spcPct val="0"/>
              </a:spcBef>
              <a:spcAft>
                <a:spcPct val="0"/>
              </a:spcAft>
              <a:buClrTx/>
            </a:pPr>
            <a:endParaRPr lang="en-US" altLang="en-US" sz="2000" dirty="0">
              <a:solidFill>
                <a:srgbClr val="0A0A0A"/>
              </a:solidFill>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ClrTx/>
              <a:buFontTx/>
              <a:buChar char="•"/>
            </a:pPr>
            <a:r>
              <a:rPr lang="en-US" altLang="en-US" sz="2000" dirty="0">
                <a:solidFill>
                  <a:srgbClr val="0A0A0A"/>
                </a:solidFill>
                <a:latin typeface="Times New Roman" panose="02020603050405020304" pitchFamily="18" charset="0"/>
                <a:cs typeface="Times New Roman" panose="02020603050405020304" pitchFamily="18" charset="0"/>
                <a:hlinkClick r:id="rId2"/>
              </a:rPr>
              <a:t>https://www.youtube.com/watch?v=l-MnHBREzG8</a:t>
            </a:r>
            <a:endParaRPr lang="en-US" altLang="en-US" sz="2000" dirty="0">
              <a:solidFill>
                <a:srgbClr val="0A0A0A"/>
              </a:solidFill>
              <a:latin typeface="Times New Roman" panose="02020603050405020304" pitchFamily="18" charset="0"/>
              <a:cs typeface="Times New Roman" panose="02020603050405020304" pitchFamily="18" charset="0"/>
            </a:endParaRPr>
          </a:p>
          <a:p>
            <a:pPr algn="just"/>
            <a:endParaRPr lang="en-IN" dirty="0"/>
          </a:p>
        </p:txBody>
      </p:sp>
      <p:sp>
        <p:nvSpPr>
          <p:cNvPr id="6" name="Content Placeholder 2">
            <a:extLst>
              <a:ext uri="{FF2B5EF4-FFF2-40B4-BE49-F238E27FC236}">
                <a16:creationId xmlns:a16="http://schemas.microsoft.com/office/drawing/2014/main" id="{B2CF4DAA-937A-4232-BE6B-61C7D7254AF6}"/>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2246882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0"/>
          </p:nvPr>
        </p:nvSpPr>
        <p:spPr/>
        <p:txBody>
          <a:bodyPr>
            <a:normAutofit/>
          </a:bodyPr>
          <a:lstStyle/>
          <a:p>
            <a:r>
              <a:rPr lang="en-US" sz="3200" dirty="0"/>
              <a:t>Value Chain Management</a:t>
            </a:r>
            <a:endParaRPr lang="en-IN" sz="3200" dirty="0"/>
          </a:p>
        </p:txBody>
      </p:sp>
      <p:sp>
        <p:nvSpPr>
          <p:cNvPr id="5" name="Content Placeholder 4">
            <a:extLst>
              <a:ext uri="{FF2B5EF4-FFF2-40B4-BE49-F238E27FC236}">
                <a16:creationId xmlns:a16="http://schemas.microsoft.com/office/drawing/2014/main" id="{2CE2E625-3BA2-3018-5C35-10E7C72F1F3F}"/>
              </a:ext>
            </a:extLst>
          </p:cNvPr>
          <p:cNvSpPr>
            <a:spLocks noGrp="1"/>
          </p:cNvSpPr>
          <p:nvPr>
            <p:ph idx="1"/>
          </p:nvPr>
        </p:nvSpPr>
        <p:spPr>
          <a:xfrm>
            <a:off x="304800" y="1493837"/>
            <a:ext cx="8229600" cy="4983163"/>
          </a:xfrm>
        </p:spPr>
        <p:txBody>
          <a:bodyPr>
            <a:normAutofit fontScale="92500" lnSpcReduction="20000"/>
          </a:bodyPr>
          <a:lstStyle/>
          <a:p>
            <a:pPr algn="just"/>
            <a:r>
              <a:rPr lang="en-US" sz="2600" b="1" dirty="0"/>
              <a:t>	</a:t>
            </a:r>
            <a:r>
              <a:rPr lang="en-US" sz="2600" dirty="0"/>
              <a:t>Operations management involves managing processes that convert inputs into outputs efficiently. Using </a:t>
            </a:r>
            <a:r>
              <a:rPr lang="en-US" sz="2600" b="1" dirty="0"/>
              <a:t>Value Chain Management</a:t>
            </a:r>
            <a:r>
              <a:rPr lang="en-US" sz="2600" dirty="0"/>
              <a:t> (by Michael Porter), </a:t>
            </a:r>
            <a:r>
              <a:rPr lang="en-US" sz="2600" b="1" i="1" dirty="0"/>
              <a:t>organizations break down their activities into primary and support functions </a:t>
            </a:r>
            <a:r>
              <a:rPr lang="en-US" sz="2600" dirty="0"/>
              <a:t>to understand how value is created at each stage. This helps in identifying inefficiencies, reducing costs, and improving coordination across departments.</a:t>
            </a:r>
          </a:p>
          <a:p>
            <a:endParaRPr lang="en-US" sz="2600" dirty="0"/>
          </a:p>
          <a:p>
            <a:r>
              <a:rPr lang="en-US" sz="2600" dirty="0"/>
              <a:t>	</a:t>
            </a:r>
            <a:r>
              <a:rPr lang="en-US" sz="2600" b="1" dirty="0"/>
              <a:t>Value Chain Diagram :</a:t>
            </a:r>
          </a:p>
          <a:p>
            <a:endParaRPr lang="en-US" b="1" dirty="0">
              <a:latin typeface="Times New Roman" panose="02020603050405020304" pitchFamily="18" charset="0"/>
              <a:cs typeface="Times New Roman" panose="02020603050405020304" pitchFamily="18" charset="0"/>
            </a:endParaRPr>
          </a:p>
          <a:p>
            <a:endParaRPr lang="en-US" sz="2000" dirty="0"/>
          </a:p>
          <a:p>
            <a:endParaRPr lang="en-US" sz="2000" dirty="0"/>
          </a:p>
          <a:p>
            <a:endParaRPr lang="en-US" sz="2000" dirty="0"/>
          </a:p>
          <a:p>
            <a:endParaRPr lang="en-US" sz="2000" dirty="0"/>
          </a:p>
          <a:p>
            <a:r>
              <a:rPr lang="en-US" sz="2200" b="1" dirty="0">
                <a:latin typeface="Times New Roman" panose="02020603050405020304" pitchFamily="18" charset="0"/>
                <a:cs typeface="Times New Roman" panose="02020603050405020304" pitchFamily="18" charset="0"/>
              </a:rPr>
              <a:t>	Video : </a:t>
            </a:r>
            <a:r>
              <a:rPr lang="en-US" sz="2200" b="1" dirty="0">
                <a:latin typeface="Times New Roman" panose="02020603050405020304" pitchFamily="18" charset="0"/>
                <a:cs typeface="Times New Roman" panose="02020603050405020304" pitchFamily="18" charset="0"/>
                <a:hlinkClick r:id="rId2" tooltip="https://www.youtube.com/watch?v=g8p2H7EvoGM"/>
              </a:rPr>
              <a:t>https</a:t>
            </a:r>
            <a:r>
              <a:rPr lang="en-US" dirty="0">
                <a:hlinkClick r:id="rId2" tooltip="https://www.youtube.com/watch?v=g8p2H7EvoGM"/>
              </a:rPr>
              <a:t>://</a:t>
            </a:r>
            <a:r>
              <a:rPr lang="en-US" sz="2200" b="1" dirty="0">
                <a:latin typeface="Times New Roman" panose="02020603050405020304" pitchFamily="18" charset="0"/>
                <a:cs typeface="Times New Roman" panose="02020603050405020304" pitchFamily="18" charset="0"/>
                <a:hlinkClick r:id="rId2" tooltip="https://www.youtube.com/watch?v=g8p2H7EvoGM"/>
              </a:rPr>
              <a:t>www.youtube.com/watch?v=g8p2H7EvoGM</a:t>
            </a:r>
            <a:endParaRPr lang="en-IN" dirty="0"/>
          </a:p>
        </p:txBody>
      </p:sp>
      <p:sp>
        <p:nvSpPr>
          <p:cNvPr id="6" name="Rectangle 5">
            <a:extLst>
              <a:ext uri="{FF2B5EF4-FFF2-40B4-BE49-F238E27FC236}">
                <a16:creationId xmlns:a16="http://schemas.microsoft.com/office/drawing/2014/main" id="{E3D01BC2-6E8E-76CB-E16F-6C18C608CBE9}"/>
              </a:ext>
            </a:extLst>
          </p:cNvPr>
          <p:cNvSpPr/>
          <p:nvPr/>
        </p:nvSpPr>
        <p:spPr>
          <a:xfrm>
            <a:off x="775150" y="4648200"/>
            <a:ext cx="146304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Inbound</a:t>
            </a:r>
          </a:p>
        </p:txBody>
      </p:sp>
      <p:sp>
        <p:nvSpPr>
          <p:cNvPr id="7" name="Rectangle 6">
            <a:extLst>
              <a:ext uri="{FF2B5EF4-FFF2-40B4-BE49-F238E27FC236}">
                <a16:creationId xmlns:a16="http://schemas.microsoft.com/office/drawing/2014/main" id="{1279BE68-DD04-88E2-8044-8DA0C832EC2A}"/>
              </a:ext>
            </a:extLst>
          </p:cNvPr>
          <p:cNvSpPr/>
          <p:nvPr/>
        </p:nvSpPr>
        <p:spPr>
          <a:xfrm>
            <a:off x="2234503" y="4648200"/>
            <a:ext cx="146304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Operations</a:t>
            </a:r>
          </a:p>
        </p:txBody>
      </p:sp>
      <p:sp>
        <p:nvSpPr>
          <p:cNvPr id="8" name="Rectangle 7">
            <a:extLst>
              <a:ext uri="{FF2B5EF4-FFF2-40B4-BE49-F238E27FC236}">
                <a16:creationId xmlns:a16="http://schemas.microsoft.com/office/drawing/2014/main" id="{1FF3788C-B7A6-37B2-7114-8027360A75C0}"/>
              </a:ext>
            </a:extLst>
          </p:cNvPr>
          <p:cNvSpPr/>
          <p:nvPr/>
        </p:nvSpPr>
        <p:spPr>
          <a:xfrm>
            <a:off x="3695085" y="4648200"/>
            <a:ext cx="146304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Outbound</a:t>
            </a:r>
          </a:p>
        </p:txBody>
      </p:sp>
      <p:sp>
        <p:nvSpPr>
          <p:cNvPr id="9" name="Rectangle 8">
            <a:extLst>
              <a:ext uri="{FF2B5EF4-FFF2-40B4-BE49-F238E27FC236}">
                <a16:creationId xmlns:a16="http://schemas.microsoft.com/office/drawing/2014/main" id="{047A9F7C-D5DE-8ACA-BBAF-8AA84741C2D2}"/>
              </a:ext>
            </a:extLst>
          </p:cNvPr>
          <p:cNvSpPr/>
          <p:nvPr/>
        </p:nvSpPr>
        <p:spPr>
          <a:xfrm>
            <a:off x="5166360" y="4648200"/>
            <a:ext cx="146304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Marketing</a:t>
            </a:r>
          </a:p>
        </p:txBody>
      </p:sp>
      <p:sp>
        <p:nvSpPr>
          <p:cNvPr id="10" name="Rectangle 9">
            <a:extLst>
              <a:ext uri="{FF2B5EF4-FFF2-40B4-BE49-F238E27FC236}">
                <a16:creationId xmlns:a16="http://schemas.microsoft.com/office/drawing/2014/main" id="{F4FC9E63-D841-3751-F24C-8F72816AA079}"/>
              </a:ext>
            </a:extLst>
          </p:cNvPr>
          <p:cNvSpPr/>
          <p:nvPr/>
        </p:nvSpPr>
        <p:spPr>
          <a:xfrm>
            <a:off x="6613054" y="4648200"/>
            <a:ext cx="146304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Service</a:t>
            </a:r>
          </a:p>
        </p:txBody>
      </p:sp>
    </p:spTree>
    <p:extLst>
      <p:ext uri="{BB962C8B-B14F-4D97-AF65-F5344CB8AC3E}">
        <p14:creationId xmlns:p14="http://schemas.microsoft.com/office/powerpoint/2010/main" val="254876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534400" cy="4906963"/>
          </a:xfrm>
        </p:spPr>
        <p:txBody>
          <a:bodyPr>
            <a:normAutofit/>
          </a:bodyPr>
          <a:lstStyle/>
          <a:p>
            <a:pPr algn="just"/>
            <a:endParaRPr lang="en-IN" sz="1800" dirty="0"/>
          </a:p>
          <a:p>
            <a:pPr algn="just">
              <a:buFont typeface="Wingdings" panose="05000000000000000000" pitchFamily="2" charset="2"/>
              <a:buChar char="§"/>
            </a:pPr>
            <a:endParaRPr lang="en-IN" dirty="0"/>
          </a:p>
        </p:txBody>
      </p:sp>
      <p:sp>
        <p:nvSpPr>
          <p:cNvPr id="4" name="Content Placeholder 2"/>
          <p:cNvSpPr>
            <a:spLocks noGrp="1"/>
          </p:cNvSpPr>
          <p:nvPr>
            <p:ph sz="quarter" idx="10"/>
          </p:nvPr>
        </p:nvSpPr>
        <p:spPr>
          <a:xfrm>
            <a:off x="304800" y="152400"/>
            <a:ext cx="6324600" cy="1143000"/>
          </a:xfrm>
        </p:spPr>
        <p:txBody>
          <a:bodyPr>
            <a:normAutofit/>
          </a:bodyPr>
          <a:lstStyle/>
          <a:p>
            <a:r>
              <a:rPr lang="en-US" sz="2000" dirty="0"/>
              <a:t>Cont’d..</a:t>
            </a:r>
          </a:p>
        </p:txBody>
      </p:sp>
      <p:sp>
        <p:nvSpPr>
          <p:cNvPr id="5" name="TextBox 4">
            <a:extLst>
              <a:ext uri="{FF2B5EF4-FFF2-40B4-BE49-F238E27FC236}">
                <a16:creationId xmlns:a16="http://schemas.microsoft.com/office/drawing/2014/main" id="{38769EFF-C79F-1392-7657-02B3A7BCD254}"/>
              </a:ext>
            </a:extLst>
          </p:cNvPr>
          <p:cNvSpPr txBox="1"/>
          <p:nvPr/>
        </p:nvSpPr>
        <p:spPr>
          <a:xfrm>
            <a:off x="381000" y="1447800"/>
            <a:ext cx="7772400" cy="3447098"/>
          </a:xfrm>
          <a:prstGeom prst="rect">
            <a:avLst/>
          </a:prstGeom>
          <a:noFill/>
        </p:spPr>
        <p:txBody>
          <a:bodyPr wrap="square">
            <a:spAutoFit/>
          </a:bodyPr>
          <a:lstStyle/>
          <a:p>
            <a:r>
              <a:rPr lang="en-US" sz="2000" b="1" dirty="0">
                <a:latin typeface="Arial" panose="020B0604020202020204" pitchFamily="34" charset="0"/>
                <a:cs typeface="Arial" panose="020B0604020202020204" pitchFamily="34" charset="0"/>
              </a:rPr>
              <a:t>Key Activities in Value Chain</a:t>
            </a:r>
          </a:p>
          <a:p>
            <a:r>
              <a:rPr lang="en-US" sz="2000" dirty="0">
                <a:latin typeface="Arial" panose="020B0604020202020204" pitchFamily="34" charset="0"/>
                <a:cs typeface="Arial" panose="020B0604020202020204" pitchFamily="34" charset="0"/>
              </a:rPr>
              <a:t>The value chain consists of:</a:t>
            </a:r>
          </a:p>
          <a:p>
            <a:r>
              <a:rPr lang="en-US" sz="2000" b="1" dirty="0">
                <a:latin typeface="Arial" panose="020B0604020202020204" pitchFamily="34" charset="0"/>
                <a:cs typeface="Arial" panose="020B0604020202020204" pitchFamily="34" charset="0"/>
              </a:rPr>
              <a:t>1. PRIMARY ACTIVITIES </a:t>
            </a:r>
          </a:p>
          <a:p>
            <a:r>
              <a:rPr lang="en-US" sz="2000" dirty="0">
                <a:latin typeface="Arial" panose="020B0604020202020204" pitchFamily="34" charset="0"/>
                <a:cs typeface="Arial" panose="020B0604020202020204" pitchFamily="34" charset="0"/>
              </a:rPr>
              <a:t>Inbound Logistics: Receiving and storing raw materials.</a:t>
            </a:r>
          </a:p>
          <a:p>
            <a:r>
              <a:rPr lang="en-US" sz="2000" dirty="0">
                <a:latin typeface="Arial" panose="020B0604020202020204" pitchFamily="34" charset="0"/>
                <a:cs typeface="Arial" panose="020B0604020202020204" pitchFamily="34" charset="0"/>
              </a:rPr>
              <a:t>Operations: Converting inputs into final product.</a:t>
            </a:r>
          </a:p>
          <a:p>
            <a:r>
              <a:rPr lang="en-US" sz="2000" dirty="0">
                <a:latin typeface="Arial" panose="020B0604020202020204" pitchFamily="34" charset="0"/>
                <a:cs typeface="Arial" panose="020B0604020202020204" pitchFamily="34" charset="0"/>
              </a:rPr>
              <a:t>Outbound Logistics: Delivering products to customers.</a:t>
            </a:r>
          </a:p>
          <a:p>
            <a:r>
              <a:rPr lang="en-US" sz="2000" dirty="0">
                <a:latin typeface="Arial" panose="020B0604020202020204" pitchFamily="34" charset="0"/>
                <a:cs typeface="Arial" panose="020B0604020202020204" pitchFamily="34" charset="0"/>
              </a:rPr>
              <a:t>Marketing &amp; Sales: Promoting and selling products.</a:t>
            </a:r>
          </a:p>
          <a:p>
            <a:r>
              <a:rPr lang="en-US" sz="2000" dirty="0">
                <a:latin typeface="Arial" panose="020B0604020202020204" pitchFamily="34" charset="0"/>
                <a:cs typeface="Arial" panose="020B0604020202020204" pitchFamily="34" charset="0"/>
              </a:rPr>
              <a:t>Service: After-sales support.</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2EA97C2-C92B-C3EA-D2B1-8BA6AB7206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3858" y="3635881"/>
            <a:ext cx="4648200" cy="2914908"/>
          </a:xfrm>
          <a:prstGeom prst="rect">
            <a:avLst/>
          </a:prstGeom>
        </p:spPr>
      </p:pic>
    </p:spTree>
    <p:extLst>
      <p:ext uri="{BB962C8B-B14F-4D97-AF65-F5344CB8AC3E}">
        <p14:creationId xmlns:p14="http://schemas.microsoft.com/office/powerpoint/2010/main" val="26117061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687314-95D4-E06A-95B1-E28B268047BD}"/>
              </a:ext>
            </a:extLst>
          </p:cNvPr>
          <p:cNvSpPr>
            <a:spLocks noGrp="1"/>
          </p:cNvSpPr>
          <p:nvPr>
            <p:ph idx="1"/>
          </p:nvPr>
        </p:nvSpPr>
        <p:spPr/>
        <p:txBody>
          <a:bodyPr/>
          <a:lstStyle/>
          <a:p>
            <a:r>
              <a:rPr lang="en-US" sz="2000" b="1" dirty="0"/>
              <a:t>2. SUPPORT ACTIVITIES:</a:t>
            </a:r>
          </a:p>
          <a:p>
            <a:r>
              <a:rPr lang="en-US" sz="2000" dirty="0"/>
              <a:t>Firm Infrastructure: Management and finance systems.</a:t>
            </a:r>
          </a:p>
          <a:p>
            <a:r>
              <a:rPr lang="en-US" sz="2000" dirty="0"/>
              <a:t>HR Management: Hiring and training employees.</a:t>
            </a:r>
          </a:p>
          <a:p>
            <a:r>
              <a:rPr lang="en-US" sz="2000" dirty="0"/>
              <a:t>Technology Development: Innovation and improvement.</a:t>
            </a:r>
          </a:p>
          <a:p>
            <a:r>
              <a:rPr lang="en-US" sz="2000" dirty="0"/>
              <a:t>Procurement: Purchasing inputs.</a:t>
            </a:r>
          </a:p>
          <a:p>
            <a:endParaRPr lang="en-IN" dirty="0"/>
          </a:p>
        </p:txBody>
      </p:sp>
      <p:pic>
        <p:nvPicPr>
          <p:cNvPr id="4" name="Picture 3">
            <a:extLst>
              <a:ext uri="{FF2B5EF4-FFF2-40B4-BE49-F238E27FC236}">
                <a16:creationId xmlns:a16="http://schemas.microsoft.com/office/drawing/2014/main" id="{EC0812FF-A17C-8243-C637-9DE7FA487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3657600"/>
            <a:ext cx="5334000" cy="2756048"/>
          </a:xfrm>
          <a:prstGeom prst="rect">
            <a:avLst/>
          </a:prstGeom>
        </p:spPr>
      </p:pic>
      <p:sp>
        <p:nvSpPr>
          <p:cNvPr id="7" name="Content Placeholder 2">
            <a:extLst>
              <a:ext uri="{FF2B5EF4-FFF2-40B4-BE49-F238E27FC236}">
                <a16:creationId xmlns:a16="http://schemas.microsoft.com/office/drawing/2014/main" id="{38F76E2D-62C3-432D-A281-55CE7584CB17}"/>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1646344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6746F1-D21B-2C90-35BD-8F676A66347B}"/>
              </a:ext>
            </a:extLst>
          </p:cNvPr>
          <p:cNvSpPr>
            <a:spLocks noGrp="1"/>
          </p:cNvSpPr>
          <p:nvPr>
            <p:ph idx="1"/>
          </p:nvPr>
        </p:nvSpPr>
        <p:spPr>
          <a:xfrm>
            <a:off x="245806" y="1600200"/>
            <a:ext cx="8610600" cy="4906963"/>
          </a:xfrm>
        </p:spPr>
        <p:txBody>
          <a:bodyPr>
            <a:normAutofit fontScale="92500" lnSpcReduction="20000"/>
          </a:bodyPr>
          <a:lstStyle/>
          <a:p>
            <a:pPr algn="just"/>
            <a:r>
              <a:rPr lang="en-US" sz="2200" b="1" dirty="0"/>
              <a:t>Example – Zara</a:t>
            </a:r>
          </a:p>
          <a:p>
            <a:pPr algn="just"/>
            <a:r>
              <a:rPr lang="en-US" sz="2200" dirty="0"/>
              <a:t>	Zara is a classic example of strong value chain management. It has a highly responsive supply chain where design, production, and distribution are closely integrated. Unlike traditional brands, Zara produces in small batches and quickly responds to changing fashion trends. Its efficient inbound logistics (fast sourcing), operations (in-house production), and outbound logistics (rapid distribution to stores) allow it to deliver new designs within weeks. This tight control over the value chain gives Zara a strong competitive advantage.</a:t>
            </a:r>
          </a:p>
          <a:p>
            <a:pPr algn="just"/>
            <a:endParaRPr lang="en-US" sz="2200" dirty="0"/>
          </a:p>
          <a:p>
            <a:pPr algn="just"/>
            <a:r>
              <a:rPr lang="en-US" sz="2200" b="1" dirty="0"/>
              <a:t>	Example – Zomato</a:t>
            </a:r>
          </a:p>
          <a:p>
            <a:pPr algn="just"/>
            <a:r>
              <a:rPr lang="en-US" sz="2200" dirty="0"/>
              <a:t>	In the case of Zomato, the value chain is service-oriented. Inbound logistics involves onboarding restaurants, operations include managing the app and order processing, outbound logistics is food delivery, and service includes customer support and refunds. By optimizing each stage (like real-time tracking and delivery efficiency), Zomato enhances customer experience and operational efficiency.</a:t>
            </a:r>
          </a:p>
          <a:p>
            <a:endParaRPr lang="en-US" dirty="0"/>
          </a:p>
        </p:txBody>
      </p:sp>
      <p:sp>
        <p:nvSpPr>
          <p:cNvPr id="6" name="Content Placeholder 2">
            <a:extLst>
              <a:ext uri="{FF2B5EF4-FFF2-40B4-BE49-F238E27FC236}">
                <a16:creationId xmlns:a16="http://schemas.microsoft.com/office/drawing/2014/main" id="{5C59E1A8-A6DC-40A8-977A-0822FB67BCC9}"/>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1491417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20A94C-7447-18A4-1F1F-3ADEF14151D6}"/>
              </a:ext>
            </a:extLst>
          </p:cNvPr>
          <p:cNvSpPr>
            <a:spLocks noGrp="1"/>
          </p:cNvSpPr>
          <p:nvPr>
            <p:ph idx="1"/>
          </p:nvPr>
        </p:nvSpPr>
        <p:spPr>
          <a:xfrm>
            <a:off x="381000" y="1456300"/>
            <a:ext cx="8610600" cy="5401700"/>
          </a:xfrm>
        </p:spPr>
        <p:txBody>
          <a:bodyPr>
            <a:normAutofit lnSpcReduction="10000"/>
          </a:bodyPr>
          <a:lstStyle/>
          <a:p>
            <a:pPr algn="just"/>
            <a:r>
              <a:rPr lang="en-IN" dirty="0"/>
              <a:t>	</a:t>
            </a:r>
            <a:r>
              <a:rPr lang="en-US" dirty="0"/>
              <a:t>Resource allocation refers to the effective distribution of limited resources such as labor, capital, time, and materials. The goal is to maximize output while minimizing waste and cost. Efficient allocation ensures smooth operations and better decision-making.</a:t>
            </a:r>
          </a:p>
          <a:p>
            <a:pPr algn="just"/>
            <a:r>
              <a:rPr lang="en-US" b="1" dirty="0"/>
              <a:t>	1.  Linear Programming</a:t>
            </a:r>
          </a:p>
          <a:p>
            <a:pPr algn="just"/>
            <a:r>
              <a:rPr lang="en-US" dirty="0"/>
              <a:t>	Linear programming is a mathematical technique used to determine the best allocation of resources under given constraints. It helps organizations maximize profit or minimize costs.</a:t>
            </a:r>
          </a:p>
          <a:p>
            <a:pPr algn="just"/>
            <a:r>
              <a:rPr lang="en-US" b="1" dirty="0"/>
              <a:t>	Example – Zara</a:t>
            </a:r>
            <a:br>
              <a:rPr lang="en-US" dirty="0"/>
            </a:br>
            <a:r>
              <a:rPr lang="en-US" dirty="0" err="1"/>
              <a:t>Zara</a:t>
            </a:r>
            <a:r>
              <a:rPr lang="en-US" dirty="0"/>
              <a:t> uses optimization techniques to decide how much of each clothing design to produce, considering constraints like fabric availability, labor, and time. This prevents overproduction and reduces inventory costs.</a:t>
            </a:r>
          </a:p>
          <a:p>
            <a:pPr algn="just"/>
            <a:endParaRPr lang="en-US" dirty="0"/>
          </a:p>
        </p:txBody>
      </p:sp>
      <p:sp>
        <p:nvSpPr>
          <p:cNvPr id="3" name="Content Placeholder 2">
            <a:extLst>
              <a:ext uri="{FF2B5EF4-FFF2-40B4-BE49-F238E27FC236}">
                <a16:creationId xmlns:a16="http://schemas.microsoft.com/office/drawing/2014/main" id="{F50C51B1-3A67-FE93-CC24-C4AAA5C30504}"/>
              </a:ext>
            </a:extLst>
          </p:cNvPr>
          <p:cNvSpPr>
            <a:spLocks noGrp="1"/>
          </p:cNvSpPr>
          <p:nvPr>
            <p:ph sz="quarter" idx="10"/>
          </p:nvPr>
        </p:nvSpPr>
        <p:spPr>
          <a:xfrm>
            <a:off x="152400" y="533400"/>
            <a:ext cx="6477000" cy="762000"/>
          </a:xfrm>
        </p:spPr>
        <p:txBody>
          <a:bodyPr>
            <a:noAutofit/>
          </a:bodyPr>
          <a:lstStyle/>
          <a:p>
            <a:r>
              <a:rPr lang="en-IN" sz="2800" dirty="0">
                <a:latin typeface="Times New Roman" panose="02020603050405020304" pitchFamily="18" charset="0"/>
                <a:cs typeface="Times New Roman" panose="02020603050405020304" pitchFamily="18" charset="0"/>
              </a:rPr>
              <a:t>Techniques for Allocating Resources in Operations Management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2832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BB0321-BBA7-D8BD-333C-EFB1EA39E23C}"/>
              </a:ext>
            </a:extLst>
          </p:cNvPr>
          <p:cNvSpPr>
            <a:spLocks noGrp="1"/>
          </p:cNvSpPr>
          <p:nvPr>
            <p:ph idx="1"/>
          </p:nvPr>
        </p:nvSpPr>
        <p:spPr>
          <a:xfrm>
            <a:off x="304800" y="1493837"/>
            <a:ext cx="8610600" cy="4906963"/>
          </a:xfrm>
        </p:spPr>
        <p:txBody>
          <a:bodyPr>
            <a:normAutofit/>
          </a:bodyPr>
          <a:lstStyle/>
          <a:p>
            <a:r>
              <a:rPr lang="en-US" sz="2000" b="1" dirty="0">
                <a:latin typeface="Times New Roman" panose="02020603050405020304" pitchFamily="18" charset="0"/>
                <a:cs typeface="Times New Roman" panose="02020603050405020304" pitchFamily="18" charset="0"/>
              </a:rPr>
              <a:t>	</a:t>
            </a:r>
            <a:r>
              <a:rPr lang="en-US" sz="2000" b="1" dirty="0"/>
              <a:t>2.Forecasting</a:t>
            </a:r>
          </a:p>
          <a:p>
            <a:r>
              <a:rPr lang="en-US" sz="2000" dirty="0"/>
              <a:t>	Forecasting uses historical data and trends to predict future demand, helping in planning production and resource allocation.</a:t>
            </a:r>
          </a:p>
          <a:p>
            <a:r>
              <a:rPr lang="en-US" sz="2000" b="1" dirty="0"/>
              <a:t>	Example – Zara</a:t>
            </a:r>
            <a:br>
              <a:rPr lang="en-US" sz="2000" dirty="0"/>
            </a:br>
            <a:r>
              <a:rPr lang="en-US" sz="2000" dirty="0" err="1"/>
              <a:t>Zara</a:t>
            </a:r>
            <a:r>
              <a:rPr lang="en-US" sz="2000" dirty="0"/>
              <a:t> forecasts fashion trends and customer preferences using sales data, allowing it to produce designs that are more likely to sell, reducing unsold inventory.</a:t>
            </a:r>
          </a:p>
          <a:p>
            <a:endParaRPr lang="en-US" sz="2000" dirty="0">
              <a:latin typeface="Times New Roman" panose="02020603050405020304" pitchFamily="18" charset="0"/>
              <a:cs typeface="Times New Roman" panose="02020603050405020304" pitchFamily="18" charset="0"/>
            </a:endParaRPr>
          </a:p>
          <a:p>
            <a:endParaRPr lang="en-US" dirty="0"/>
          </a:p>
        </p:txBody>
      </p:sp>
      <p:pic>
        <p:nvPicPr>
          <p:cNvPr id="4" name="Picture 3" descr="chart2.png">
            <a:extLst>
              <a:ext uri="{FF2B5EF4-FFF2-40B4-BE49-F238E27FC236}">
                <a16:creationId xmlns:a16="http://schemas.microsoft.com/office/drawing/2014/main" id="{56F0DA0F-E92D-12CD-4417-FA7F5E190A49}"/>
              </a:ext>
            </a:extLst>
          </p:cNvPr>
          <p:cNvPicPr>
            <a:picLocks noChangeAspect="1"/>
          </p:cNvPicPr>
          <p:nvPr/>
        </p:nvPicPr>
        <p:blipFill>
          <a:blip r:embed="rId2"/>
          <a:stretch>
            <a:fillRect/>
          </a:stretch>
        </p:blipFill>
        <p:spPr>
          <a:xfrm>
            <a:off x="2514600" y="3581400"/>
            <a:ext cx="3962400" cy="2971800"/>
          </a:xfrm>
          <a:prstGeom prst="rect">
            <a:avLst/>
          </a:prstGeom>
        </p:spPr>
      </p:pic>
      <p:sp>
        <p:nvSpPr>
          <p:cNvPr id="7" name="Content Placeholder 2">
            <a:extLst>
              <a:ext uri="{FF2B5EF4-FFF2-40B4-BE49-F238E27FC236}">
                <a16:creationId xmlns:a16="http://schemas.microsoft.com/office/drawing/2014/main" id="{FB865C6D-B019-4095-8382-05D80D536B52}"/>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2179452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8A1730-0DD1-6DEE-9FFA-668270C9794E}"/>
              </a:ext>
            </a:extLst>
          </p:cNvPr>
          <p:cNvSpPr>
            <a:spLocks noGrp="1"/>
          </p:cNvSpPr>
          <p:nvPr>
            <p:ph idx="1"/>
          </p:nvPr>
        </p:nvSpPr>
        <p:spPr>
          <a:xfrm>
            <a:off x="304800" y="1493837"/>
            <a:ext cx="8534400" cy="4830763"/>
          </a:xfrm>
        </p:spPr>
        <p:txBody>
          <a:bodyPr>
            <a:normAutofit/>
          </a:bodyPr>
          <a:lstStyle/>
          <a:p>
            <a:r>
              <a:rPr lang="en-US" b="1" dirty="0">
                <a:latin typeface="Times New Roman" panose="02020603050405020304" pitchFamily="18" charset="0"/>
                <a:cs typeface="Times New Roman" panose="02020603050405020304" pitchFamily="18" charset="0"/>
              </a:rPr>
              <a:t>3. </a:t>
            </a:r>
            <a:r>
              <a:rPr lang="en-US" sz="2000" b="1" dirty="0"/>
              <a:t>Simulation</a:t>
            </a:r>
          </a:p>
          <a:p>
            <a:r>
              <a:rPr lang="en-US" sz="2000" dirty="0"/>
              <a:t>	Simulation involves creating virtual models of real-world systems to test different scenarios without actual risk.</a:t>
            </a:r>
          </a:p>
          <a:p>
            <a:r>
              <a:rPr lang="en-US" sz="2000" b="1" dirty="0"/>
              <a:t>	Example – Zomato</a:t>
            </a:r>
            <a:br>
              <a:rPr lang="en-US" sz="2000" dirty="0"/>
            </a:br>
            <a:r>
              <a:rPr lang="en-US" sz="2000" dirty="0" err="1"/>
              <a:t>Zomato</a:t>
            </a:r>
            <a:r>
              <a:rPr lang="en-US" sz="2000" dirty="0"/>
              <a:t> can simulate delivery routes and rider allocation to determine the fastest and most efficient delivery patterns during peak hours, improving service speed.</a:t>
            </a:r>
          </a:p>
          <a:p>
            <a:endParaRPr lang="en-US" sz="2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5" name="Picture 4">
            <a:extLst>
              <a:ext uri="{FF2B5EF4-FFF2-40B4-BE49-F238E27FC236}">
                <a16:creationId xmlns:a16="http://schemas.microsoft.com/office/drawing/2014/main" id="{A2DBE79C-9E23-2C14-BE60-CB79A9C748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0" y="4005679"/>
            <a:ext cx="5562600" cy="2333669"/>
          </a:xfrm>
          <a:prstGeom prst="rect">
            <a:avLst/>
          </a:prstGeom>
        </p:spPr>
      </p:pic>
      <p:sp>
        <p:nvSpPr>
          <p:cNvPr id="7" name="Content Placeholder 2">
            <a:extLst>
              <a:ext uri="{FF2B5EF4-FFF2-40B4-BE49-F238E27FC236}">
                <a16:creationId xmlns:a16="http://schemas.microsoft.com/office/drawing/2014/main" id="{C4D57BC3-A0D0-4C15-939E-9D71462EE28D}"/>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35867536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E221EC-C25D-58F8-935E-8FE9B208837B}"/>
              </a:ext>
            </a:extLst>
          </p:cNvPr>
          <p:cNvSpPr>
            <a:spLocks noGrp="1"/>
          </p:cNvSpPr>
          <p:nvPr>
            <p:ph idx="1"/>
          </p:nvPr>
        </p:nvSpPr>
        <p:spPr/>
        <p:txBody>
          <a:bodyPr/>
          <a:lstStyle/>
          <a:p>
            <a:r>
              <a:rPr lang="en-IN" b="1" dirty="0"/>
              <a:t>4</a:t>
            </a:r>
            <a:r>
              <a:rPr lang="en-IN" sz="2000" b="1" dirty="0"/>
              <a:t>. Queuing Models</a:t>
            </a:r>
          </a:p>
          <a:p>
            <a:r>
              <a:rPr lang="en-IN" sz="2000" dirty="0"/>
              <a:t>	Queuing models help manage waiting lines and service efficiency.</a:t>
            </a:r>
          </a:p>
          <a:p>
            <a:r>
              <a:rPr lang="en-IN" sz="2000" b="1" dirty="0"/>
              <a:t>	Example – Zomato</a:t>
            </a:r>
            <a:br>
              <a:rPr lang="en-IN" sz="2000" dirty="0"/>
            </a:br>
            <a:r>
              <a:rPr lang="en-IN" sz="2000" dirty="0" err="1"/>
              <a:t>Zomato</a:t>
            </a:r>
            <a:r>
              <a:rPr lang="en-IN" sz="2000" dirty="0"/>
              <a:t> uses algorithms similar to queuing models to assign delivery partners efficiently, reducing customer waiting time and improving satisfaction.</a:t>
            </a:r>
          </a:p>
          <a:p>
            <a:endParaRPr lang="en-US" dirty="0">
              <a:latin typeface="Times New Roman" panose="02020603050405020304" pitchFamily="18" charset="0"/>
              <a:cs typeface="Times New Roman" panose="02020603050405020304" pitchFamily="18" charset="0"/>
            </a:endParaRPr>
          </a:p>
          <a:p>
            <a:endParaRPr lang="en-IN" dirty="0"/>
          </a:p>
        </p:txBody>
      </p:sp>
      <p:pic>
        <p:nvPicPr>
          <p:cNvPr id="7" name="Picture 6">
            <a:extLst>
              <a:ext uri="{FF2B5EF4-FFF2-40B4-BE49-F238E27FC236}">
                <a16:creationId xmlns:a16="http://schemas.microsoft.com/office/drawing/2014/main" id="{E583D3E0-4279-BC37-0029-8451470184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158" y="3657600"/>
            <a:ext cx="5029683" cy="2720976"/>
          </a:xfrm>
          <a:prstGeom prst="rect">
            <a:avLst/>
          </a:prstGeom>
        </p:spPr>
      </p:pic>
      <p:sp>
        <p:nvSpPr>
          <p:cNvPr id="8" name="Content Placeholder 2">
            <a:extLst>
              <a:ext uri="{FF2B5EF4-FFF2-40B4-BE49-F238E27FC236}">
                <a16:creationId xmlns:a16="http://schemas.microsoft.com/office/drawing/2014/main" id="{C43793D8-A36E-4AF7-A644-61EC1CF1CECB}"/>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3120305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4F4D08-2FBE-BACC-FA3E-6D53682B92EA}"/>
              </a:ext>
            </a:extLst>
          </p:cNvPr>
          <p:cNvSpPr>
            <a:spLocks noGrp="1"/>
          </p:cNvSpPr>
          <p:nvPr>
            <p:ph idx="1"/>
          </p:nvPr>
        </p:nvSpPr>
        <p:spPr>
          <a:xfrm>
            <a:off x="304800" y="1493837"/>
            <a:ext cx="8610600" cy="5059363"/>
          </a:xfrm>
        </p:spPr>
        <p:txBody>
          <a:bodyPr>
            <a:normAutofit/>
          </a:bodyPr>
          <a:lstStyle/>
          <a:p>
            <a:r>
              <a:rPr lang="en-US" sz="2000" b="1" dirty="0"/>
              <a:t>5. Resource allocation</a:t>
            </a:r>
            <a:r>
              <a:rPr lang="en-US" sz="2000" dirty="0"/>
              <a:t>	</a:t>
            </a:r>
          </a:p>
          <a:p>
            <a:r>
              <a:rPr lang="en-US" sz="2000" dirty="0"/>
              <a:t>	It refers to assigning available resources effectively. Includes manpower, machinery, money, and materials.</a:t>
            </a:r>
          </a:p>
          <a:p>
            <a:r>
              <a:rPr lang="en-US" sz="2000" dirty="0"/>
              <a:t>	Goal: Maximize efficiency and minimize waste.</a:t>
            </a:r>
          </a:p>
          <a:p>
            <a:endParaRPr lang="en-IN" sz="1900" dirty="0"/>
          </a:p>
          <a:p>
            <a:endParaRPr lang="en-US" dirty="0"/>
          </a:p>
        </p:txBody>
      </p:sp>
      <p:pic>
        <p:nvPicPr>
          <p:cNvPr id="5" name="Picture 4">
            <a:extLst>
              <a:ext uri="{FF2B5EF4-FFF2-40B4-BE49-F238E27FC236}">
                <a16:creationId xmlns:a16="http://schemas.microsoft.com/office/drawing/2014/main" id="{7A09FE55-5912-3296-2B12-86B6302FDF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2986430"/>
            <a:ext cx="4800600" cy="3338170"/>
          </a:xfrm>
          <a:prstGeom prst="rect">
            <a:avLst/>
          </a:prstGeom>
        </p:spPr>
      </p:pic>
      <p:sp>
        <p:nvSpPr>
          <p:cNvPr id="6" name="Content Placeholder 5">
            <a:extLst>
              <a:ext uri="{FF2B5EF4-FFF2-40B4-BE49-F238E27FC236}">
                <a16:creationId xmlns:a16="http://schemas.microsoft.com/office/drawing/2014/main" id="{5E0CF9F5-3F79-4CA6-8190-F6E454FC22EE}"/>
              </a:ext>
            </a:extLst>
          </p:cNvPr>
          <p:cNvSpPr>
            <a:spLocks noGrp="1"/>
          </p:cNvSpPr>
          <p:nvPr>
            <p:ph sz="quarter" idx="10"/>
          </p:nvPr>
        </p:nvSpPr>
        <p:spPr/>
        <p:txBody>
          <a:bodyPr/>
          <a:lstStyle/>
          <a:p>
            <a:endParaRPr lang="en-IN"/>
          </a:p>
        </p:txBody>
      </p:sp>
      <p:sp>
        <p:nvSpPr>
          <p:cNvPr id="7" name="Content Placeholder 2">
            <a:extLst>
              <a:ext uri="{FF2B5EF4-FFF2-40B4-BE49-F238E27FC236}">
                <a16:creationId xmlns:a16="http://schemas.microsoft.com/office/drawing/2014/main" id="{05647C2A-0EEF-4F7A-AA4B-2E577E72300B}"/>
              </a:ext>
            </a:extLst>
          </p:cNvPr>
          <p:cNvSpPr txBox="1">
            <a:spLocks/>
          </p:cNvSpPr>
          <p:nvPr/>
        </p:nvSpPr>
        <p:spPr>
          <a:xfrm>
            <a:off x="457200" y="304800"/>
            <a:ext cx="6324600" cy="1143000"/>
          </a:xfrm>
          <a:prstGeom prst="rect">
            <a:avLst/>
          </a:prstGeom>
        </p:spPr>
        <p:txBody>
          <a:bodyPr vert="horz" lIns="91440" tIns="45720" rIns="91440" bIns="45720" rtlCol="0" anchor="ctr">
            <a:normAutofit/>
          </a:bodyPr>
          <a:lstStyle>
            <a:lvl1pPr marL="0" indent="-342900" algn="l" defTabSz="914400" rtl="0" eaLnBrk="1" latinLnBrk="0" hangingPunct="1">
              <a:lnSpc>
                <a:spcPts val="3600"/>
              </a:lnSpc>
              <a:spcBef>
                <a:spcPts val="0"/>
              </a:spcBef>
              <a:buFont typeface="Arial" pitchFamily="34" charset="0"/>
              <a:buNone/>
              <a:defRPr sz="3600" b="1" kern="1200" spc="-150" baseline="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t>Cont’d..</a:t>
            </a:r>
            <a:endParaRPr lang="en-US" sz="2000" dirty="0"/>
          </a:p>
        </p:txBody>
      </p:sp>
    </p:spTree>
    <p:extLst>
      <p:ext uri="{BB962C8B-B14F-4D97-AF65-F5344CB8AC3E}">
        <p14:creationId xmlns:p14="http://schemas.microsoft.com/office/powerpoint/2010/main" val="932210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833CEC-02B7-232E-7EDC-D2816D89B3EC}"/>
              </a:ext>
            </a:extLst>
          </p:cNvPr>
          <p:cNvSpPr>
            <a:spLocks noGrp="1"/>
          </p:cNvSpPr>
          <p:nvPr>
            <p:ph idx="1"/>
          </p:nvPr>
        </p:nvSpPr>
        <p:spPr>
          <a:xfrm>
            <a:off x="304800" y="1493837"/>
            <a:ext cx="8534400" cy="4906963"/>
          </a:xfrm>
        </p:spPr>
        <p:txBody>
          <a:bodyPr>
            <a:normAutofit fontScale="92500" lnSpcReduction="10000"/>
          </a:bodyPr>
          <a:lstStyle/>
          <a:p>
            <a:pPr algn="just">
              <a:buFont typeface="Arial" panose="020B0604020202020204" pitchFamily="34" charset="0"/>
              <a:buChar char="•"/>
            </a:pPr>
            <a:r>
              <a:rPr lang="en-US" sz="2000" dirty="0"/>
              <a:t>Scenario planning is a strategic tool used in operations management to prepare for uncertainty and future risks. Instead of relying on a single forecast, scenario planning involves developing multiple plausible future scenarios based on different assumptions about key factors such as market demand, economic conditions, or supply chain disruptions. This approach allows organizations to remain flexible and resilient in the face of change.</a:t>
            </a:r>
          </a:p>
          <a:p>
            <a:pPr algn="just">
              <a:buFont typeface="Arial" panose="020B0604020202020204" pitchFamily="34" charset="0"/>
              <a:buChar char="•"/>
            </a:pPr>
            <a:endParaRPr lang="en-US" sz="2000" dirty="0"/>
          </a:p>
          <a:p>
            <a:pPr algn="just">
              <a:buFont typeface="Arial" panose="020B0604020202020204" pitchFamily="34" charset="0"/>
              <a:buChar char="•"/>
            </a:pPr>
            <a:r>
              <a:rPr lang="en-US" sz="2000" dirty="0"/>
              <a:t>The process of scenario planning typically involves identifying critical drivers of change, constructing different scenarios (such as best-case, worst-case, and most likely situations), analyzing their potential impact on operations, and developing appropriate strategies for each scenario. </a:t>
            </a:r>
          </a:p>
          <a:p>
            <a:pPr algn="just">
              <a:buFont typeface="Arial" panose="020B0604020202020204" pitchFamily="34" charset="0"/>
              <a:buChar char="•"/>
            </a:pPr>
            <a:endParaRPr lang="en-US" sz="2000" dirty="0"/>
          </a:p>
          <a:p>
            <a:pPr algn="just">
              <a:buFont typeface="Arial" panose="020B0604020202020204" pitchFamily="34" charset="0"/>
              <a:buChar char="•"/>
            </a:pPr>
            <a:r>
              <a:rPr lang="en-US" sz="2000" dirty="0"/>
              <a:t>For example, during situations like a pandemic or economic crisis, businesses may prepare separate plans for high demand, low demand, or supply shortages.</a:t>
            </a:r>
          </a:p>
          <a:p>
            <a:endParaRPr lang="en-US" dirty="0"/>
          </a:p>
        </p:txBody>
      </p:sp>
      <p:sp>
        <p:nvSpPr>
          <p:cNvPr id="3" name="Content Placeholder 2">
            <a:extLst>
              <a:ext uri="{FF2B5EF4-FFF2-40B4-BE49-F238E27FC236}">
                <a16:creationId xmlns:a16="http://schemas.microsoft.com/office/drawing/2014/main" id="{A0A37A11-0BCF-D889-3F13-6557669B3401}"/>
              </a:ext>
            </a:extLst>
          </p:cNvPr>
          <p:cNvSpPr>
            <a:spLocks noGrp="1"/>
          </p:cNvSpPr>
          <p:nvPr>
            <p:ph sz="quarter" idx="10"/>
          </p:nvPr>
        </p:nvSpPr>
        <p:spPr/>
        <p:txBody>
          <a:bodyPr/>
          <a:lstStyle/>
          <a:p>
            <a:r>
              <a:rPr lang="en-US" dirty="0"/>
              <a:t>Scenario Planning</a:t>
            </a:r>
          </a:p>
        </p:txBody>
      </p:sp>
    </p:spTree>
    <p:extLst>
      <p:ext uri="{BB962C8B-B14F-4D97-AF65-F5344CB8AC3E}">
        <p14:creationId xmlns:p14="http://schemas.microsoft.com/office/powerpoint/2010/main" val="88454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069593-77B8-2595-0739-E034F7C60B33}"/>
              </a:ext>
            </a:extLst>
          </p:cNvPr>
          <p:cNvSpPr>
            <a:spLocks noGrp="1"/>
          </p:cNvSpPr>
          <p:nvPr>
            <p:ph idx="1"/>
          </p:nvPr>
        </p:nvSpPr>
        <p:spPr>
          <a:xfrm>
            <a:off x="304800" y="1493837"/>
            <a:ext cx="8686800" cy="4983163"/>
          </a:xfrm>
        </p:spPr>
        <p:txBody>
          <a:bodyPr>
            <a:normAutofit/>
          </a:bodyPr>
          <a:lstStyle/>
          <a:p>
            <a:pPr>
              <a:buFont typeface="Arial" panose="020B0604020202020204" pitchFamily="34" charset="0"/>
              <a:buChar char="•"/>
            </a:pPr>
            <a:r>
              <a:rPr lang="en-US" dirty="0"/>
              <a:t>Identifying key drivers (market demand, supply chain, economy) </a:t>
            </a:r>
          </a:p>
          <a:p>
            <a:pPr>
              <a:buFont typeface="Arial" panose="020B0604020202020204" pitchFamily="34" charset="0"/>
              <a:buChar char="•"/>
            </a:pPr>
            <a:r>
              <a:rPr lang="en-US" dirty="0"/>
              <a:t>Developing different scenarios (best case, worst case, most likely) </a:t>
            </a:r>
          </a:p>
          <a:p>
            <a:pPr>
              <a:buFont typeface="Arial" panose="020B0604020202020204" pitchFamily="34" charset="0"/>
              <a:buChar char="•"/>
            </a:pPr>
            <a:r>
              <a:rPr lang="en-US" dirty="0"/>
              <a:t>Analyzing impacts on operations </a:t>
            </a:r>
          </a:p>
          <a:p>
            <a:pPr>
              <a:buFont typeface="Arial" panose="020B0604020202020204" pitchFamily="34" charset="0"/>
              <a:buChar char="•"/>
            </a:pPr>
            <a:r>
              <a:rPr lang="en-US" dirty="0"/>
              <a:t>Preparing strategies for each scenario</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endParaRPr lang="en-US" sz="2000" dirty="0">
              <a:latin typeface="Times New Roman" panose="02020603050405020304" pitchFamily="18" charset="0"/>
              <a:cs typeface="Times New Roman" panose="02020603050405020304" pitchFamily="18" charset="0"/>
            </a:endParaRPr>
          </a:p>
          <a:p>
            <a:pPr algn="just"/>
            <a:endParaRPr lang="en-US" dirty="0"/>
          </a:p>
        </p:txBody>
      </p:sp>
      <p:sp>
        <p:nvSpPr>
          <p:cNvPr id="3" name="Content Placeholder 2">
            <a:extLst>
              <a:ext uri="{FF2B5EF4-FFF2-40B4-BE49-F238E27FC236}">
                <a16:creationId xmlns:a16="http://schemas.microsoft.com/office/drawing/2014/main" id="{2576969F-23BC-73D6-9AD1-8D14E88C82A6}"/>
              </a:ext>
            </a:extLst>
          </p:cNvPr>
          <p:cNvSpPr>
            <a:spLocks noGrp="1"/>
          </p:cNvSpPr>
          <p:nvPr>
            <p:ph sz="quarter" idx="10"/>
          </p:nvPr>
        </p:nvSpPr>
        <p:spPr/>
        <p:txBody>
          <a:bodyPr/>
          <a:lstStyle/>
          <a:p>
            <a:r>
              <a:rPr lang="en-US" b="1" dirty="0"/>
              <a:t>Process of Scenario Planning</a:t>
            </a:r>
          </a:p>
        </p:txBody>
      </p:sp>
      <p:pic>
        <p:nvPicPr>
          <p:cNvPr id="5" name="Picture 4">
            <a:extLst>
              <a:ext uri="{FF2B5EF4-FFF2-40B4-BE49-F238E27FC236}">
                <a16:creationId xmlns:a16="http://schemas.microsoft.com/office/drawing/2014/main" id="{8F95FC59-A61A-004D-6FF5-DD558C992A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4405" y="4030721"/>
            <a:ext cx="4127589" cy="2475182"/>
          </a:xfrm>
          <a:prstGeom prst="rect">
            <a:avLst/>
          </a:prstGeom>
        </p:spPr>
      </p:pic>
    </p:spTree>
    <p:extLst>
      <p:ext uri="{BB962C8B-B14F-4D97-AF65-F5344CB8AC3E}">
        <p14:creationId xmlns:p14="http://schemas.microsoft.com/office/powerpoint/2010/main" val="1954945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00BA19-091E-7193-1B9B-8F8CEE4A21D5}"/>
              </a:ext>
            </a:extLst>
          </p:cNvPr>
          <p:cNvSpPr>
            <a:spLocks noGrp="1"/>
          </p:cNvSpPr>
          <p:nvPr>
            <p:ph idx="1"/>
          </p:nvPr>
        </p:nvSpPr>
        <p:spPr>
          <a:xfrm>
            <a:off x="304800" y="1493837"/>
            <a:ext cx="8686800" cy="4906963"/>
          </a:xfrm>
        </p:spPr>
        <p:txBody>
          <a:bodyPr>
            <a:normAutofit/>
          </a:bodyPr>
          <a:lstStyle/>
          <a:p>
            <a:pPr algn="just"/>
            <a:r>
              <a:rPr lang="en-US" sz="2000" b="1" dirty="0"/>
              <a:t>Example – Zara</a:t>
            </a:r>
          </a:p>
          <a:p>
            <a:pPr algn="just"/>
            <a:r>
              <a:rPr lang="en-US" sz="2000" dirty="0"/>
              <a:t>	Zara uses scenario planning to handle demand uncertainty. For example, if a particular fashion trend suddenly declines, Zara quickly reduces production and shifts to new designs. This flexibility minimizes losses.</a:t>
            </a:r>
          </a:p>
          <a:p>
            <a:pPr algn="just"/>
            <a:r>
              <a:rPr lang="en-US" sz="2000" b="1" dirty="0"/>
              <a:t> Example – Zomato</a:t>
            </a:r>
          </a:p>
          <a:p>
            <a:pPr algn="just"/>
            <a:r>
              <a:rPr lang="en-US" sz="2000" dirty="0"/>
              <a:t>	During events like lockdowns, Zomato adapted by focusing more on food delivery and safety measures. It prepared for different demand scenarios (low dine-in, high delivery), ensuring business continuity.</a:t>
            </a:r>
          </a:p>
          <a:p>
            <a:pPr algn="just"/>
            <a:endParaRPr lang="en-US" sz="2000" dirty="0"/>
          </a:p>
          <a:p>
            <a:pPr algn="just">
              <a:buFont typeface="Arial" panose="020B0604020202020204" pitchFamily="34" charset="0"/>
              <a:buChar char="•"/>
            </a:pPr>
            <a:r>
              <a:rPr lang="en-US" sz="2000" dirty="0"/>
              <a:t> Applications of Scenario Planning:</a:t>
            </a:r>
          </a:p>
          <a:p>
            <a:pPr algn="just"/>
            <a:r>
              <a:rPr lang="en-US" sz="2000" dirty="0"/>
              <a:t>Supply chain management</a:t>
            </a:r>
          </a:p>
          <a:p>
            <a:pPr algn="just"/>
            <a:r>
              <a:rPr lang="en-US" sz="2000" dirty="0"/>
              <a:t>Risk mitigation</a:t>
            </a:r>
          </a:p>
          <a:p>
            <a:pPr algn="just"/>
            <a:r>
              <a:rPr lang="en-US" sz="2000" dirty="0"/>
              <a:t>Demand fluctuation handling</a:t>
            </a:r>
          </a:p>
          <a:p>
            <a:pPr marL="0" indent="0"/>
            <a:endParaRPr lang="en-US" sz="2000" dirty="0">
              <a:latin typeface="Times New Roman" panose="02020603050405020304" pitchFamily="18" charset="0"/>
              <a:cs typeface="Times New Roman" panose="02020603050405020304" pitchFamily="18" charset="0"/>
            </a:endParaRPr>
          </a:p>
          <a:p>
            <a:endParaRPr lang="en-US" dirty="0"/>
          </a:p>
        </p:txBody>
      </p:sp>
      <p:sp>
        <p:nvSpPr>
          <p:cNvPr id="3" name="Content Placeholder 2">
            <a:extLst>
              <a:ext uri="{FF2B5EF4-FFF2-40B4-BE49-F238E27FC236}">
                <a16:creationId xmlns:a16="http://schemas.microsoft.com/office/drawing/2014/main" id="{E3A75C20-2C38-AAA5-215B-8CDACF7531A8}"/>
              </a:ext>
            </a:extLst>
          </p:cNvPr>
          <p:cNvSpPr>
            <a:spLocks noGrp="1"/>
          </p:cNvSpPr>
          <p:nvPr>
            <p:ph sz="quarter" idx="10"/>
          </p:nvPr>
        </p:nvSpPr>
        <p:spPr/>
        <p:txBody>
          <a:bodyPr>
            <a:normAutofit/>
          </a:bodyPr>
          <a:lstStyle/>
          <a:p>
            <a:r>
              <a:rPr lang="en-US" sz="2000" dirty="0"/>
              <a:t>Cont’d..</a:t>
            </a:r>
          </a:p>
        </p:txBody>
      </p:sp>
    </p:spTree>
    <p:extLst>
      <p:ext uri="{BB962C8B-B14F-4D97-AF65-F5344CB8AC3E}">
        <p14:creationId xmlns:p14="http://schemas.microsoft.com/office/powerpoint/2010/main" val="1210629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493837"/>
            <a:ext cx="8610600" cy="4525963"/>
          </a:xfrm>
        </p:spPr>
        <p:txBody>
          <a:bodyPr>
            <a:noAutofit/>
          </a:bodyPr>
          <a:lstStyle/>
          <a:p>
            <a:pPr>
              <a:buFont typeface="Arial" panose="020B0604020202020204" pitchFamily="34" charset="0"/>
              <a:buChar char="•"/>
            </a:pPr>
            <a:r>
              <a:rPr lang="en-US" sz="2000" b="1" dirty="0"/>
              <a:t>Challenges:</a:t>
            </a:r>
          </a:p>
          <a:p>
            <a:r>
              <a:rPr lang="en-US" sz="2000" dirty="0"/>
              <a:t>Data accuracy issues</a:t>
            </a:r>
          </a:p>
          <a:p>
            <a:r>
              <a:rPr lang="en-US" sz="2000" dirty="0"/>
              <a:t>Complex implementation</a:t>
            </a:r>
          </a:p>
          <a:p>
            <a:r>
              <a:rPr lang="en-US" sz="2000" dirty="0"/>
              <a:t>Resistance to change</a:t>
            </a:r>
          </a:p>
          <a:p>
            <a:pPr>
              <a:buFont typeface="Arial" panose="020B0604020202020204" pitchFamily="34" charset="0"/>
              <a:buChar char="•"/>
            </a:pPr>
            <a:r>
              <a:rPr lang="en-US" sz="2000" b="1" dirty="0"/>
              <a:t>Scenario Examples:</a:t>
            </a:r>
          </a:p>
          <a:p>
            <a:r>
              <a:rPr lang="en-US" sz="2000" dirty="0"/>
              <a:t>Pandemic situation</a:t>
            </a:r>
          </a:p>
          <a:p>
            <a:r>
              <a:rPr lang="en-US" sz="2000" dirty="0"/>
              <a:t>High vs low demand</a:t>
            </a:r>
          </a:p>
          <a:p>
            <a:r>
              <a:rPr lang="en-US" sz="2000" dirty="0"/>
              <a:t>Prepared strategies reduce risk</a:t>
            </a:r>
          </a:p>
          <a:p>
            <a:pPr marL="0" indent="0"/>
            <a:endParaRPr lang="en-US" sz="2000" dirty="0"/>
          </a:p>
          <a:p>
            <a:pPr marL="0" indent="0"/>
            <a:r>
              <a:rPr lang="en-US" sz="2000" dirty="0"/>
              <a:t>By incorporating scenario planning into operations management, organizations can improve decision-making, reduce uncertainty, and respond more effectively to unexpected events. It enhances organizational agility and ensures continuity of operations even under adverse conditions.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8BDD7C3-EDFF-48E4-8E0A-9D59401FC451}"/>
              </a:ext>
            </a:extLst>
          </p:cNvPr>
          <p:cNvSpPr>
            <a:spLocks noGrp="1"/>
          </p:cNvSpPr>
          <p:nvPr>
            <p:ph sz="quarter" idx="10"/>
          </p:nvPr>
        </p:nvSpPr>
        <p:spPr/>
        <p:txBody>
          <a:bodyPr/>
          <a:lstStyle/>
          <a:p>
            <a:endParaRPr lang="en-IN"/>
          </a:p>
        </p:txBody>
      </p:sp>
      <p:sp>
        <p:nvSpPr>
          <p:cNvPr id="6" name="Content Placeholder 2">
            <a:extLst>
              <a:ext uri="{FF2B5EF4-FFF2-40B4-BE49-F238E27FC236}">
                <a16:creationId xmlns:a16="http://schemas.microsoft.com/office/drawing/2014/main" id="{BF1A71D4-CD18-412C-A568-884215188078}"/>
              </a:ext>
            </a:extLst>
          </p:cNvPr>
          <p:cNvSpPr txBox="1">
            <a:spLocks/>
          </p:cNvSpPr>
          <p:nvPr/>
        </p:nvSpPr>
        <p:spPr>
          <a:xfrm>
            <a:off x="457200" y="304800"/>
            <a:ext cx="6324600" cy="1143000"/>
          </a:xfrm>
          <a:prstGeom prst="rect">
            <a:avLst/>
          </a:prstGeom>
        </p:spPr>
        <p:txBody>
          <a:bodyPr vert="horz" lIns="91440" tIns="45720" rIns="91440" bIns="45720" rtlCol="0" anchor="ctr">
            <a:normAutofit/>
          </a:bodyPr>
          <a:lstStyle>
            <a:lvl1pPr marL="0" indent="-342900" algn="l" defTabSz="914400" rtl="0" eaLnBrk="1" latinLnBrk="0" hangingPunct="1">
              <a:lnSpc>
                <a:spcPts val="3600"/>
              </a:lnSpc>
              <a:spcBef>
                <a:spcPts val="0"/>
              </a:spcBef>
              <a:buFont typeface="Arial" pitchFamily="34" charset="0"/>
              <a:buNone/>
              <a:defRPr sz="3600" b="1" kern="1200" spc="-150" baseline="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t>Cont’d..</a:t>
            </a:r>
            <a:endParaRPr lang="en-US" sz="2000" dirty="0"/>
          </a:p>
        </p:txBody>
      </p:sp>
    </p:spTree>
    <p:extLst>
      <p:ext uri="{BB962C8B-B14F-4D97-AF65-F5344CB8AC3E}">
        <p14:creationId xmlns:p14="http://schemas.microsoft.com/office/powerpoint/2010/main" val="3576449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2481A8-EF7C-CA3B-B733-1E2D66F1272F}"/>
              </a:ext>
            </a:extLst>
          </p:cNvPr>
          <p:cNvSpPr>
            <a:spLocks noGrp="1"/>
          </p:cNvSpPr>
          <p:nvPr>
            <p:ph idx="1"/>
          </p:nvPr>
        </p:nvSpPr>
        <p:spPr/>
        <p:txBody>
          <a:bodyPr>
            <a:normAutofit lnSpcReduction="10000"/>
          </a:bodyPr>
          <a:lstStyle/>
          <a:p>
            <a:pPr algn="just">
              <a:buFont typeface="Arial" panose="020B0604020202020204" pitchFamily="34" charset="0"/>
              <a:buChar char="•"/>
            </a:pPr>
            <a:r>
              <a:rPr lang="en-US" dirty="0"/>
              <a:t>Operations management becomes highly effective when value chain management, resource allocation, and scenario planning are used together. Value chain analysis identifies where value is created, resource allocation ensures optimal use of inputs, and scenario planning prepares the organization for uncertainties. </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For example, Zara integrates all three by managing its supply chain efficiently, allocating resources based on demand forecasts, and staying flexible to changing fashion trends. Similarly, Zomato combines efficient service operations, smart resource allocation, and adaptive strategies to handle dynamic market conditions.</a:t>
            </a:r>
          </a:p>
          <a:p>
            <a:endParaRPr lang="en-IN" dirty="0"/>
          </a:p>
        </p:txBody>
      </p:sp>
      <p:sp>
        <p:nvSpPr>
          <p:cNvPr id="3" name="Content Placeholder 2">
            <a:extLst>
              <a:ext uri="{FF2B5EF4-FFF2-40B4-BE49-F238E27FC236}">
                <a16:creationId xmlns:a16="http://schemas.microsoft.com/office/drawing/2014/main" id="{86A74B32-2384-A107-CFE5-B0952C0F8FA7}"/>
              </a:ext>
            </a:extLst>
          </p:cNvPr>
          <p:cNvSpPr>
            <a:spLocks noGrp="1"/>
          </p:cNvSpPr>
          <p:nvPr>
            <p:ph sz="quarter" idx="10"/>
          </p:nvPr>
        </p:nvSpPr>
        <p:spPr/>
        <p:txBody>
          <a:bodyPr/>
          <a:lstStyle/>
          <a:p>
            <a:r>
              <a:rPr lang="en-US" sz="2800" dirty="0">
                <a:latin typeface="Times New Roman" panose="02020603050405020304" pitchFamily="18" charset="0"/>
                <a:cs typeface="Times New Roman" panose="02020603050405020304" pitchFamily="18" charset="0"/>
              </a:rPr>
              <a:t>Integrated Understanding of Operations Management</a:t>
            </a:r>
          </a:p>
          <a:p>
            <a:endParaRPr lang="en-IN" dirty="0"/>
          </a:p>
        </p:txBody>
      </p:sp>
    </p:spTree>
    <p:extLst>
      <p:ext uri="{BB962C8B-B14F-4D97-AF65-F5344CB8AC3E}">
        <p14:creationId xmlns:p14="http://schemas.microsoft.com/office/powerpoint/2010/main" val="2314885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31077D-A699-4669-BB76-4C64DD0EBDB9}"/>
              </a:ext>
            </a:extLst>
          </p:cNvPr>
          <p:cNvSpPr>
            <a:spLocks noGrp="1"/>
          </p:cNvSpPr>
          <p:nvPr>
            <p:ph idx="1"/>
          </p:nvPr>
        </p:nvSpPr>
        <p:spPr/>
        <p:txBody>
          <a:bodyPr/>
          <a:lstStyle/>
          <a:p>
            <a:pPr algn="just"/>
            <a:r>
              <a:rPr lang="en-US" b="0" i="0" dirty="0">
                <a:effectLst/>
              </a:rPr>
              <a:t>Effective operations management requires a holistic view of the business, including resource allocation, documentation review, quality control, coordination of efforts, sharing information across departments, and initiating appropriate actions when needed. Typically, operations managers have a cross-departmental view, carry out duties assigned by leaders, ensure the efficient use of resources, and help plan and prepare to achieve future goals. Day-to-day operational management tasks include record-keeping and </a:t>
            </a:r>
            <a:r>
              <a:rPr lang="en-US" b="0" i="0" u="none" strike="noStrike" dirty="0">
                <a:effectLst/>
                <a:hlinkClick r:id="rId2">
                  <a:extLst>
                    <a:ext uri="{A12FA001-AC4F-418D-AE19-62706E023703}">
                      <ahyp:hlinkClr xmlns:ahyp="http://schemas.microsoft.com/office/drawing/2018/hyperlinkcolor" val="tx"/>
                    </a:ext>
                  </a:extLst>
                </a:hlinkClick>
              </a:rPr>
              <a:t>operational reporting</a:t>
            </a:r>
            <a:r>
              <a:rPr lang="en-US" b="0" i="0" dirty="0">
                <a:effectLst/>
              </a:rPr>
              <a:t>.</a:t>
            </a:r>
            <a:endParaRPr lang="en-IN" dirty="0"/>
          </a:p>
        </p:txBody>
      </p:sp>
      <p:sp>
        <p:nvSpPr>
          <p:cNvPr id="4" name="Content Placeholder 2">
            <a:extLst>
              <a:ext uri="{FF2B5EF4-FFF2-40B4-BE49-F238E27FC236}">
                <a16:creationId xmlns:a16="http://schemas.microsoft.com/office/drawing/2014/main" id="{828FE524-16B1-49C7-92D6-7FBCE6AC040E}"/>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8055549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91AB97-FE9C-4DC0-9C73-9E99CAFCDF49}"/>
              </a:ext>
            </a:extLst>
          </p:cNvPr>
          <p:cNvSpPr>
            <a:spLocks noGrp="1"/>
          </p:cNvSpPr>
          <p:nvPr>
            <p:ph idx="1"/>
          </p:nvPr>
        </p:nvSpPr>
        <p:spPr>
          <a:xfrm>
            <a:off x="304800" y="1493837"/>
            <a:ext cx="8229600" cy="5135563"/>
          </a:xfrm>
        </p:spPr>
        <p:txBody>
          <a:bodyPr>
            <a:normAutofit fontScale="55000" lnSpcReduction="20000"/>
          </a:bodyPr>
          <a:lstStyle/>
          <a:p>
            <a:pPr algn="just"/>
            <a:r>
              <a:rPr lang="en-US" sz="3300" dirty="0" err="1"/>
              <a:t>NovaTech</a:t>
            </a:r>
            <a:r>
              <a:rPr lang="en-US" sz="3300" dirty="0"/>
              <a:t> Appliances Pvt. Ltd. is a mid-sized company that manufactures smart home devices such as air purifiers, smart fans, and energy-efficient heaters. Over the past three years, the company has experienced steady growth due to increasing demand for smart and sustainable products.</a:t>
            </a:r>
          </a:p>
          <a:p>
            <a:pPr algn="just"/>
            <a:r>
              <a:rPr lang="en-US" sz="3300" dirty="0"/>
              <a:t>However, in the current year, </a:t>
            </a:r>
            <a:r>
              <a:rPr lang="en-US" sz="3300" dirty="0" err="1"/>
              <a:t>NovaTech</a:t>
            </a:r>
            <a:r>
              <a:rPr lang="en-US" sz="3300" dirty="0"/>
              <a:t> is facing multiple challenges. Rising raw material costs, supply chain disruptions, and fluctuating customer demand have created uncertainty in its operations. The operations manager has observed frequent delays in production schedules and increasing inventory holding costs.</a:t>
            </a:r>
          </a:p>
          <a:p>
            <a:pPr algn="just"/>
            <a:r>
              <a:rPr lang="en-US" sz="3300" dirty="0"/>
              <a:t>To address these issues, the management team decided to adopt a structured approach. First, they reviewed their operations management practices and found inefficiencies in production planning and inventory control. Machines were underutilized during some periods, while at other times, there was excessive workload leading to overtime costs.</a:t>
            </a:r>
          </a:p>
          <a:p>
            <a:pPr algn="just"/>
            <a:r>
              <a:rPr lang="en-US" sz="3300" dirty="0"/>
              <a:t>To deal with uncertainty, the company introduced scenario planning. Three scenarios were developed:</a:t>
            </a:r>
            <a:endParaRPr lang="en-US" sz="3300" b="1" dirty="0"/>
          </a:p>
          <a:p>
            <a:pPr algn="just">
              <a:buFont typeface="Arial" panose="020B0604020202020204" pitchFamily="34" charset="0"/>
              <a:buChar char="•"/>
            </a:pPr>
            <a:r>
              <a:rPr lang="en-US" sz="3300" dirty="0"/>
              <a:t>Optimistic scenario: Demand increases due to festive season and new product launch. </a:t>
            </a:r>
          </a:p>
          <a:p>
            <a:pPr algn="just">
              <a:buFont typeface="Arial" panose="020B0604020202020204" pitchFamily="34" charset="0"/>
              <a:buChar char="•"/>
            </a:pPr>
            <a:r>
              <a:rPr lang="en-US" sz="3300" dirty="0"/>
              <a:t>Moderate scenario</a:t>
            </a:r>
            <a:r>
              <a:rPr lang="en-US" sz="3300" b="1" dirty="0"/>
              <a:t>: </a:t>
            </a:r>
            <a:r>
              <a:rPr lang="en-US" sz="3300" dirty="0"/>
              <a:t>Demand remains stable with minor fluctuations. </a:t>
            </a:r>
          </a:p>
          <a:p>
            <a:pPr algn="just">
              <a:buFont typeface="Arial" panose="020B0604020202020204" pitchFamily="34" charset="0"/>
              <a:buChar char="•"/>
            </a:pPr>
            <a:r>
              <a:rPr lang="en-US" sz="3300" b="1" dirty="0"/>
              <a:t>Pessimistic scenario</a:t>
            </a:r>
            <a:r>
              <a:rPr lang="en-US" sz="2900" dirty="0"/>
              <a:t>: Demand declines due to economic slowdown and increased competition. </a:t>
            </a:r>
          </a:p>
          <a:p>
            <a:endParaRPr lang="en-IN" dirty="0"/>
          </a:p>
        </p:txBody>
      </p:sp>
      <p:sp>
        <p:nvSpPr>
          <p:cNvPr id="3" name="Content Placeholder 2">
            <a:extLst>
              <a:ext uri="{FF2B5EF4-FFF2-40B4-BE49-F238E27FC236}">
                <a16:creationId xmlns:a16="http://schemas.microsoft.com/office/drawing/2014/main" id="{0728F4F9-6FB8-4CE1-9461-A7F40AF3835D}"/>
              </a:ext>
            </a:extLst>
          </p:cNvPr>
          <p:cNvSpPr>
            <a:spLocks noGrp="1"/>
          </p:cNvSpPr>
          <p:nvPr>
            <p:ph sz="quarter" idx="10"/>
          </p:nvPr>
        </p:nvSpPr>
        <p:spPr/>
        <p:txBody>
          <a:bodyPr/>
          <a:lstStyle/>
          <a:p>
            <a:r>
              <a:rPr lang="en-US" dirty="0"/>
              <a:t>Case study</a:t>
            </a:r>
            <a:endParaRPr lang="en-IN" dirty="0"/>
          </a:p>
        </p:txBody>
      </p:sp>
    </p:spTree>
    <p:extLst>
      <p:ext uri="{BB962C8B-B14F-4D97-AF65-F5344CB8AC3E}">
        <p14:creationId xmlns:p14="http://schemas.microsoft.com/office/powerpoint/2010/main" val="1011218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646287-0F09-47B5-B96C-08857A530C6E}"/>
              </a:ext>
            </a:extLst>
          </p:cNvPr>
          <p:cNvSpPr>
            <a:spLocks noGrp="1"/>
          </p:cNvSpPr>
          <p:nvPr>
            <p:ph idx="1"/>
          </p:nvPr>
        </p:nvSpPr>
        <p:spPr/>
        <p:txBody>
          <a:bodyPr>
            <a:normAutofit fontScale="92500" lnSpcReduction="10000"/>
          </a:bodyPr>
          <a:lstStyle/>
          <a:p>
            <a:pPr algn="just"/>
            <a:r>
              <a:rPr lang="en-US" sz="2100" dirty="0"/>
              <a:t>Each scenario required different operational strategies. For example, in the optimistic case, the company would need higher production capacity and workforce allocation, while in the pessimistic case, cost control and inventory reduction would be critical.</a:t>
            </a:r>
          </a:p>
          <a:p>
            <a:pPr algn="just"/>
            <a:r>
              <a:rPr lang="en-US" sz="2100" dirty="0"/>
              <a:t>The biggest challenge for </a:t>
            </a:r>
            <a:r>
              <a:rPr lang="en-US" sz="2100" dirty="0" err="1"/>
              <a:t>NovaTech</a:t>
            </a:r>
            <a:r>
              <a:rPr lang="en-US" sz="2100" dirty="0"/>
              <a:t> was </a:t>
            </a:r>
            <a:r>
              <a:rPr lang="en-US" sz="2100" b="1" dirty="0"/>
              <a:t>resource allocation</a:t>
            </a:r>
            <a:r>
              <a:rPr lang="en-US" sz="2100" dirty="0"/>
              <a:t>. The company had limited financial resources and had to decide how to allocate them among production, marketing, and technology upgrades. The management had to balance between investing in automation to improve efficiency and maintaining sufficient working capital to manage day-to-day operations.</a:t>
            </a:r>
          </a:p>
          <a:p>
            <a:pPr algn="just"/>
            <a:r>
              <a:rPr lang="en-US" sz="2100" dirty="0"/>
              <a:t>After careful analysis, </a:t>
            </a:r>
            <a:r>
              <a:rPr lang="en-US" sz="2100" dirty="0" err="1"/>
              <a:t>NovaTech</a:t>
            </a:r>
            <a:r>
              <a:rPr lang="en-US" sz="2100" dirty="0"/>
              <a:t> decided to adopt flexible production scheduling, improve demand forecasting, and allocate resources dynamically based on scenario outcomes. This helped the company reduce costs, improve responsiveness, and better prepare for future uncertainties.</a:t>
            </a:r>
          </a:p>
          <a:p>
            <a:endParaRPr lang="en-IN" dirty="0"/>
          </a:p>
        </p:txBody>
      </p:sp>
      <p:sp>
        <p:nvSpPr>
          <p:cNvPr id="4" name="Content Placeholder 2">
            <a:extLst>
              <a:ext uri="{FF2B5EF4-FFF2-40B4-BE49-F238E27FC236}">
                <a16:creationId xmlns:a16="http://schemas.microsoft.com/office/drawing/2014/main" id="{9829F986-F992-4124-AFA7-E52223FFA00F}"/>
              </a:ext>
            </a:extLst>
          </p:cNvPr>
          <p:cNvSpPr>
            <a:spLocks noGrp="1"/>
          </p:cNvSpPr>
          <p:nvPr>
            <p:ph sz="quarter" idx="10"/>
          </p:nvPr>
        </p:nvSpPr>
        <p:spPr>
          <a:xfrm>
            <a:off x="304800" y="152400"/>
            <a:ext cx="6324600" cy="1143000"/>
          </a:xfrm>
        </p:spPr>
        <p:txBody>
          <a:bodyPr>
            <a:normAutofit/>
          </a:bodyPr>
          <a:lstStyle/>
          <a:p>
            <a:r>
              <a:rPr lang="en-US" sz="2000" dirty="0"/>
              <a:t>Cont’d..</a:t>
            </a:r>
          </a:p>
        </p:txBody>
      </p:sp>
    </p:spTree>
    <p:extLst>
      <p:ext uri="{BB962C8B-B14F-4D97-AF65-F5344CB8AC3E}">
        <p14:creationId xmlns:p14="http://schemas.microsoft.com/office/powerpoint/2010/main" val="2795609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2940676-01A0-4E51-B712-D886A6B565E7}"/>
              </a:ext>
            </a:extLst>
          </p:cNvPr>
          <p:cNvSpPr>
            <a:spLocks noGrp="1"/>
          </p:cNvSpPr>
          <p:nvPr>
            <p:ph idx="1"/>
          </p:nvPr>
        </p:nvSpPr>
        <p:spPr/>
        <p:txBody>
          <a:bodyPr/>
          <a:lstStyle/>
          <a:p>
            <a:endParaRPr lang="en-IN" dirty="0"/>
          </a:p>
        </p:txBody>
      </p:sp>
      <p:sp>
        <p:nvSpPr>
          <p:cNvPr id="8" name="Content Placeholder 7">
            <a:extLst>
              <a:ext uri="{FF2B5EF4-FFF2-40B4-BE49-F238E27FC236}">
                <a16:creationId xmlns:a16="http://schemas.microsoft.com/office/drawing/2014/main" id="{6E2F9E36-F63A-4C87-BEB8-9AD26FAEF1BB}"/>
              </a:ext>
            </a:extLst>
          </p:cNvPr>
          <p:cNvSpPr>
            <a:spLocks noGrp="1"/>
          </p:cNvSpPr>
          <p:nvPr>
            <p:ph sz="quarter" idx="10"/>
          </p:nvPr>
        </p:nvSpPr>
        <p:spPr>
          <a:xfrm>
            <a:off x="522890" y="2133600"/>
            <a:ext cx="8305800" cy="2478444"/>
          </a:xfrm>
        </p:spPr>
        <p:txBody>
          <a:bodyPr>
            <a:normAutofit/>
          </a:bodyPr>
          <a:lstStyle/>
          <a:p>
            <a:pPr marL="171450" indent="-514350" algn="just">
              <a:buFont typeface="+mj-lt"/>
              <a:buAutoNum type="romanUcPeriod"/>
            </a:pPr>
            <a:r>
              <a:rPr lang="en-US" sz="2400" b="0" dirty="0"/>
              <a:t>Identify the key operations management issues faced by </a:t>
            </a:r>
            <a:r>
              <a:rPr lang="en-US" sz="2400" b="0" dirty="0" err="1"/>
              <a:t>NovaTech</a:t>
            </a:r>
            <a:r>
              <a:rPr lang="en-US" sz="2400" b="0" dirty="0"/>
              <a:t>.</a:t>
            </a:r>
          </a:p>
          <a:p>
            <a:pPr marL="171450" indent="-514350" algn="just">
              <a:buFont typeface="+mj-lt"/>
              <a:buAutoNum type="romanUcPeriod"/>
            </a:pPr>
            <a:r>
              <a:rPr lang="en-US" sz="2400" b="0" dirty="0"/>
              <a:t>Suggest strategies to improve operational efficiency.</a:t>
            </a:r>
          </a:p>
          <a:p>
            <a:pPr marL="171450" indent="-514350" algn="just">
              <a:buFont typeface="+mj-lt"/>
              <a:buAutoNum type="romanUcPeriod"/>
            </a:pPr>
            <a:r>
              <a:rPr lang="en-US" sz="2400" b="0" dirty="0"/>
              <a:t>ow can </a:t>
            </a:r>
            <a:r>
              <a:rPr lang="en-US" sz="2400" b="0" dirty="0" err="1"/>
              <a:t>NovaTech</a:t>
            </a:r>
            <a:r>
              <a:rPr lang="en-US" sz="2400" b="0" dirty="0"/>
              <a:t> balance cost, quality, and flexibility</a:t>
            </a:r>
            <a:endParaRPr lang="en-IN" sz="2400" b="0" dirty="0"/>
          </a:p>
        </p:txBody>
      </p:sp>
      <p:sp>
        <p:nvSpPr>
          <p:cNvPr id="10" name="Content Placeholder 2">
            <a:extLst>
              <a:ext uri="{FF2B5EF4-FFF2-40B4-BE49-F238E27FC236}">
                <a16:creationId xmlns:a16="http://schemas.microsoft.com/office/drawing/2014/main" id="{FAF0F3D6-E80B-4E71-9110-0C3523F1AB19}"/>
              </a:ext>
            </a:extLst>
          </p:cNvPr>
          <p:cNvSpPr txBox="1">
            <a:spLocks/>
          </p:cNvSpPr>
          <p:nvPr/>
        </p:nvSpPr>
        <p:spPr>
          <a:xfrm>
            <a:off x="304800" y="152400"/>
            <a:ext cx="6324600" cy="1143000"/>
          </a:xfrm>
          <a:prstGeom prst="rect">
            <a:avLst/>
          </a:prstGeom>
        </p:spPr>
        <p:txBody>
          <a:bodyPr vert="horz" lIns="91440" tIns="45720" rIns="91440" bIns="45720" rtlCol="0" anchor="ctr">
            <a:normAutofit/>
          </a:bodyPr>
          <a:lstStyle>
            <a:lvl1pPr marL="0" indent="-342900" algn="l" defTabSz="914400" rtl="0" eaLnBrk="1" latinLnBrk="0" hangingPunct="1">
              <a:lnSpc>
                <a:spcPts val="3600"/>
              </a:lnSpc>
              <a:spcBef>
                <a:spcPts val="0"/>
              </a:spcBef>
              <a:buFont typeface="Arial" pitchFamily="34" charset="0"/>
              <a:buNone/>
              <a:defRPr sz="3600" b="1" kern="1200" spc="-150" baseline="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t>Cont’d..</a:t>
            </a:r>
            <a:endParaRPr lang="en-US" sz="2000" dirty="0"/>
          </a:p>
        </p:txBody>
      </p:sp>
    </p:spTree>
    <p:extLst>
      <p:ext uri="{BB962C8B-B14F-4D97-AF65-F5344CB8AC3E}">
        <p14:creationId xmlns:p14="http://schemas.microsoft.com/office/powerpoint/2010/main" val="916812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p:cNvGraphicFramePr>
            <a:graphicFrameLocks noChangeAspect="1"/>
          </p:cNvGraphicFramePr>
          <p:nvPr>
            <p:custDataLst>
              <p:tags r:id="rId2"/>
            </p:custDataLst>
          </p:nvPr>
        </p:nvGraphicFramePr>
        <p:xfrm>
          <a:off x="858442" y="858442"/>
          <a:ext cx="1190" cy="1190"/>
        </p:xfrm>
        <a:graphic>
          <a:graphicData uri="http://schemas.openxmlformats.org/presentationml/2006/ole">
            <mc:AlternateContent xmlns:mc="http://schemas.openxmlformats.org/markup-compatibility/2006">
              <mc:Choice xmlns:v="urn:schemas-microsoft-com:vml" Requires="v">
                <p:oleObj spid="_x0000_s1029" name="think-cell Slide" r:id="rId4" imgW="360" imgH="360" progId="">
                  <p:embed/>
                </p:oleObj>
              </mc:Choice>
              <mc:Fallback>
                <p:oleObj name="think-cell Slide" r:id="rId4" imgW="360" imgH="360" progId="">
                  <p:embed/>
                  <p:pic>
                    <p:nvPicPr>
                      <p:cNvPr id="17" name="Object 1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8442" y="858442"/>
                        <a:ext cx="1190"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6" name="Straight Connector 15"/>
          <p:cNvCxnSpPr>
            <a:cxnSpLocks/>
            <a:stCxn id="9" idx="2"/>
          </p:cNvCxnSpPr>
          <p:nvPr/>
        </p:nvCxnSpPr>
        <p:spPr bwMode="auto">
          <a:xfrm flipH="1" flipV="1">
            <a:off x="4942948" y="3307042"/>
            <a:ext cx="1139843" cy="3534"/>
          </a:xfrm>
          <a:prstGeom prst="line">
            <a:avLst/>
          </a:prstGeom>
          <a:solidFill>
            <a:schemeClr val="accent1"/>
          </a:solidFill>
          <a:ln w="28575" cap="flat" cmpd="sng" algn="ctr">
            <a:solidFill>
              <a:schemeClr val="bg1">
                <a:lumMod val="95000"/>
              </a:schemeClr>
            </a:solidFill>
            <a:prstDash val="solid"/>
            <a:round/>
            <a:headEnd type="none" w="med" len="med"/>
            <a:tailEnd type="none" w="med" len="med"/>
          </a:ln>
          <a:effectLst/>
        </p:spPr>
      </p:cxnSp>
      <p:grpSp>
        <p:nvGrpSpPr>
          <p:cNvPr id="6" name="Group 5">
            <a:extLst>
              <a:ext uri="{FF2B5EF4-FFF2-40B4-BE49-F238E27FC236}">
                <a16:creationId xmlns:a16="http://schemas.microsoft.com/office/drawing/2014/main" id="{107FB63C-BE59-43E9-A930-9CECE3EF68A0}"/>
              </a:ext>
            </a:extLst>
          </p:cNvPr>
          <p:cNvGrpSpPr/>
          <p:nvPr/>
        </p:nvGrpSpPr>
        <p:grpSpPr>
          <a:xfrm>
            <a:off x="6082791" y="3209668"/>
            <a:ext cx="237510" cy="198291"/>
            <a:chOff x="5415707" y="3136551"/>
            <a:chExt cx="316680" cy="264387"/>
          </a:xfrm>
        </p:grpSpPr>
        <p:sp>
          <p:nvSpPr>
            <p:cNvPr id="9" name="Oval 8"/>
            <p:cNvSpPr/>
            <p:nvPr/>
          </p:nvSpPr>
          <p:spPr bwMode="auto">
            <a:xfrm>
              <a:off x="5415707" y="3141264"/>
              <a:ext cx="120" cy="259674"/>
            </a:xfrm>
            <a:prstGeom prst="ellipse">
              <a:avLst/>
            </a:prstGeom>
            <a:solidFill>
              <a:schemeClr val="bg1"/>
            </a:solidFill>
            <a:ln w="12700">
              <a:noFill/>
              <a:round/>
              <a:headEnd/>
              <a:tailEnd/>
            </a:ln>
          </p:spPr>
          <p:txBody>
            <a:bodyPr wrap="none" lIns="0" tIns="0" rIns="0" bIns="0" rtlCol="0" anchor="ctr">
              <a:spAutoFit/>
            </a:bodyPr>
            <a:lstStyle/>
            <a:p>
              <a:pPr eaLnBrk="0" fontAlgn="base" hangingPunct="0">
                <a:spcBef>
                  <a:spcPct val="50000"/>
                </a:spcBef>
                <a:spcAft>
                  <a:spcPct val="0"/>
                </a:spcAft>
              </a:pPr>
              <a:endParaRPr lang="en-US" sz="900" dirty="0">
                <a:solidFill>
                  <a:srgbClr val="2B256F"/>
                </a:solidFill>
                <a:latin typeface="Arial" charset="0"/>
              </a:endParaRPr>
            </a:p>
          </p:txBody>
        </p:sp>
        <p:sp>
          <p:nvSpPr>
            <p:cNvPr id="11" name="Oval 10"/>
            <p:cNvSpPr/>
            <p:nvPr/>
          </p:nvSpPr>
          <p:spPr bwMode="auto">
            <a:xfrm>
              <a:off x="5552387" y="3136551"/>
              <a:ext cx="180000" cy="259674"/>
            </a:xfrm>
            <a:prstGeom prst="ellipse">
              <a:avLst/>
            </a:prstGeom>
            <a:solidFill>
              <a:schemeClr val="tx1"/>
            </a:solidFill>
            <a:ln w="38100">
              <a:solidFill>
                <a:schemeClr val="bg1"/>
              </a:solidFill>
              <a:round/>
              <a:headEnd/>
              <a:tailEnd/>
            </a:ln>
          </p:spPr>
          <p:txBody>
            <a:bodyPr wrap="square" lIns="0" tIns="0" rIns="0" bIns="0" rtlCol="0" anchor="ctr">
              <a:spAutoFit/>
            </a:bodyPr>
            <a:lstStyle/>
            <a:p>
              <a:pPr eaLnBrk="0" fontAlgn="base" hangingPunct="0">
                <a:spcBef>
                  <a:spcPct val="50000"/>
                </a:spcBef>
                <a:spcAft>
                  <a:spcPct val="0"/>
                </a:spcAft>
              </a:pPr>
              <a:endParaRPr lang="en-US" sz="900" dirty="0">
                <a:solidFill>
                  <a:srgbClr val="2B256F"/>
                </a:solidFill>
                <a:latin typeface="Arial" charset="0"/>
              </a:endParaRPr>
            </a:p>
          </p:txBody>
        </p:sp>
      </p:grpSp>
      <p:sp>
        <p:nvSpPr>
          <p:cNvPr id="7" name="TextBox 6">
            <a:extLst>
              <a:ext uri="{FF2B5EF4-FFF2-40B4-BE49-F238E27FC236}">
                <a16:creationId xmlns:a16="http://schemas.microsoft.com/office/drawing/2014/main" id="{28721978-0A6A-4F22-80E2-014B42C4DBFF}"/>
              </a:ext>
            </a:extLst>
          </p:cNvPr>
          <p:cNvSpPr txBox="1"/>
          <p:nvPr/>
        </p:nvSpPr>
        <p:spPr>
          <a:xfrm>
            <a:off x="828058" y="2758093"/>
            <a:ext cx="4114800" cy="2585323"/>
          </a:xfrm>
          <a:prstGeom prst="rect">
            <a:avLst/>
          </a:prstGeom>
          <a:noFill/>
        </p:spPr>
        <p:txBody>
          <a:bodyPr wrap="square" rtlCol="0">
            <a:spAutoFit/>
          </a:bodyPr>
          <a:lstStyle/>
          <a:p>
            <a:pPr algn="ctr"/>
            <a:r>
              <a:rPr lang="en-US" sz="6000" b="1" kern="0" dirty="0">
                <a:solidFill>
                  <a:srgbClr val="2D98AE"/>
                </a:solidFill>
              </a:rPr>
              <a:t>Thank you</a:t>
            </a:r>
          </a:p>
          <a:p>
            <a:pPr algn="ctr"/>
            <a:r>
              <a:rPr lang="en-US" sz="2800" b="1" kern="0" dirty="0">
                <a:solidFill>
                  <a:srgbClr val="2D98AE"/>
                </a:solidFill>
              </a:rPr>
              <a:t>Contact: mfaraznaim@pilani.bits-pilani.ac.in</a:t>
            </a:r>
          </a:p>
          <a:p>
            <a:endParaRPr lang="en-US" dirty="0">
              <a:solidFill>
                <a:srgbClr val="0070C0"/>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96BF32E5-BE78-4252-9459-87ACE541934F}"/>
              </a:ext>
            </a:extLst>
          </p:cNvPr>
          <p:cNvPicPr>
            <a:picLocks noChangeAspect="1"/>
          </p:cNvPicPr>
          <p:nvPr/>
        </p:nvPicPr>
        <p:blipFill rotWithShape="1">
          <a:blip r:embed="rId6"/>
          <a:srcRect l="21143" r="39198"/>
          <a:stretch/>
        </p:blipFill>
        <p:spPr>
          <a:xfrm>
            <a:off x="5486400" y="76200"/>
            <a:ext cx="3483490" cy="6705600"/>
          </a:xfrm>
          <a:prstGeom prst="rect">
            <a:avLst/>
          </a:prstGeom>
        </p:spPr>
      </p:pic>
      <p:grpSp>
        <p:nvGrpSpPr>
          <p:cNvPr id="15" name="Group 14">
            <a:extLst>
              <a:ext uri="{FF2B5EF4-FFF2-40B4-BE49-F238E27FC236}">
                <a16:creationId xmlns:a16="http://schemas.microsoft.com/office/drawing/2014/main" id="{34238488-5BCC-4B45-A8F7-E2B198CA657A}"/>
              </a:ext>
            </a:extLst>
          </p:cNvPr>
          <p:cNvGrpSpPr/>
          <p:nvPr/>
        </p:nvGrpSpPr>
        <p:grpSpPr>
          <a:xfrm>
            <a:off x="5867460" y="3209668"/>
            <a:ext cx="237510" cy="198291"/>
            <a:chOff x="5415707" y="3136551"/>
            <a:chExt cx="316680" cy="264387"/>
          </a:xfrm>
        </p:grpSpPr>
        <p:sp>
          <p:nvSpPr>
            <p:cNvPr id="20" name="Oval 19">
              <a:extLst>
                <a:ext uri="{FF2B5EF4-FFF2-40B4-BE49-F238E27FC236}">
                  <a16:creationId xmlns:a16="http://schemas.microsoft.com/office/drawing/2014/main" id="{3E769BDD-AEC2-4238-8EBE-68090FC9D4B0}"/>
                </a:ext>
              </a:extLst>
            </p:cNvPr>
            <p:cNvSpPr/>
            <p:nvPr/>
          </p:nvSpPr>
          <p:spPr bwMode="auto">
            <a:xfrm>
              <a:off x="5415707" y="3141264"/>
              <a:ext cx="120" cy="259674"/>
            </a:xfrm>
            <a:prstGeom prst="ellipse">
              <a:avLst/>
            </a:prstGeom>
            <a:solidFill>
              <a:schemeClr val="bg1"/>
            </a:solidFill>
            <a:ln w="12700">
              <a:noFill/>
              <a:round/>
              <a:headEnd/>
              <a:tailEnd/>
            </a:ln>
          </p:spPr>
          <p:txBody>
            <a:bodyPr wrap="none" lIns="0" tIns="0" rIns="0" bIns="0" rtlCol="0" anchor="ctr">
              <a:spAutoFit/>
            </a:bodyPr>
            <a:lstStyle/>
            <a:p>
              <a:pPr eaLnBrk="0" fontAlgn="base" hangingPunct="0">
                <a:spcBef>
                  <a:spcPct val="50000"/>
                </a:spcBef>
                <a:spcAft>
                  <a:spcPct val="0"/>
                </a:spcAft>
              </a:pPr>
              <a:endParaRPr lang="en-US" sz="900" dirty="0">
                <a:solidFill>
                  <a:srgbClr val="2B256F"/>
                </a:solidFill>
                <a:latin typeface="Arial" charset="0"/>
              </a:endParaRPr>
            </a:p>
          </p:txBody>
        </p:sp>
        <p:sp>
          <p:nvSpPr>
            <p:cNvPr id="22" name="Oval 21">
              <a:extLst>
                <a:ext uri="{FF2B5EF4-FFF2-40B4-BE49-F238E27FC236}">
                  <a16:creationId xmlns:a16="http://schemas.microsoft.com/office/drawing/2014/main" id="{D30C2ED6-BEEB-4D07-9FA3-2077F85031F2}"/>
                </a:ext>
              </a:extLst>
            </p:cNvPr>
            <p:cNvSpPr/>
            <p:nvPr/>
          </p:nvSpPr>
          <p:spPr bwMode="auto">
            <a:xfrm>
              <a:off x="5552387" y="3136551"/>
              <a:ext cx="180000" cy="259674"/>
            </a:xfrm>
            <a:prstGeom prst="ellipse">
              <a:avLst/>
            </a:prstGeom>
            <a:solidFill>
              <a:schemeClr val="tx1"/>
            </a:solidFill>
            <a:ln w="38100">
              <a:solidFill>
                <a:schemeClr val="bg1"/>
              </a:solidFill>
              <a:round/>
              <a:headEnd/>
              <a:tailEnd/>
            </a:ln>
          </p:spPr>
          <p:txBody>
            <a:bodyPr wrap="square" lIns="0" tIns="0" rIns="0" bIns="0" rtlCol="0" anchor="ctr">
              <a:spAutoFit/>
            </a:bodyPr>
            <a:lstStyle/>
            <a:p>
              <a:pPr eaLnBrk="0" fontAlgn="base" hangingPunct="0">
                <a:spcBef>
                  <a:spcPct val="50000"/>
                </a:spcBef>
                <a:spcAft>
                  <a:spcPct val="0"/>
                </a:spcAft>
              </a:pPr>
              <a:endParaRPr lang="en-US" sz="900" dirty="0">
                <a:solidFill>
                  <a:srgbClr val="2B256F"/>
                </a:solidFill>
                <a:latin typeface="Arial" charset="0"/>
              </a:endParaRPr>
            </a:p>
          </p:txBody>
        </p:sp>
      </p:grpSp>
    </p:spTree>
    <p:extLst>
      <p:ext uri="{BB962C8B-B14F-4D97-AF65-F5344CB8AC3E}">
        <p14:creationId xmlns:p14="http://schemas.microsoft.com/office/powerpoint/2010/main" val="7997111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4452</TotalTime>
  <Words>1956</Words>
  <Application>Microsoft Office PowerPoint</Application>
  <PresentationFormat>On-screen Show (4:3)</PresentationFormat>
  <Paragraphs>164</Paragraphs>
  <Slides>25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1" baseType="lpstr">
      <vt:lpstr>Arial</vt:lpstr>
      <vt:lpstr>Calibri</vt:lpstr>
      <vt:lpstr>Times New Roman</vt:lpstr>
      <vt:lpstr>Wingdings</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Leadership and Managing Change</dc:title>
  <dc:creator>Admin</dc:creator>
  <cp:lastModifiedBy>Mohammad Faraz Naim</cp:lastModifiedBy>
  <cp:revision>186</cp:revision>
  <dcterms:created xsi:type="dcterms:W3CDTF">2006-08-16T00:00:00Z</dcterms:created>
  <dcterms:modified xsi:type="dcterms:W3CDTF">2026-04-05T10:31:33Z</dcterms:modified>
</cp:coreProperties>
</file>